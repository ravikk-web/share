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5" r:id="rId4"/>
    <p:sldId id="259" r:id="rId5"/>
    <p:sldId id="258" r:id="rId6"/>
    <p:sldId id="261" r:id="rId7"/>
    <p:sldId id="266" r:id="rId8"/>
    <p:sldId id="260" r:id="rId9"/>
    <p:sldId id="268" r:id="rId10"/>
    <p:sldId id="262" r:id="rId11"/>
    <p:sldId id="267" r:id="rId12"/>
    <p:sldId id="264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8592" autoAdjust="0"/>
  </p:normalViewPr>
  <p:slideViewPr>
    <p:cSldViewPr snapToGrid="0" snapToObjects="1">
      <p:cViewPr varScale="1">
        <p:scale>
          <a:sx n="79" d="100"/>
          <a:sy n="79" d="100"/>
        </p:scale>
        <p:origin x="82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9/15/2026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project is a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**rule-based, deterministic, one-touch Ansible automation suite**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that performs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**Y-stream (minor) upgrades**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Azure Red Hat OpenShift (ARO / OpenShift) clusters across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**ordered, sequential version hops**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(e.g. `4.18.09 → 4.19.15 → 4.20.08`), followed by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**automated OLM operator compatibility scanning, upgrading, and validation**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Built for cloud and platform engineers managing mission-critical enterprise ARO clusters, the suite is engineered for zero-touch execution: a single CLI command performs pre-flight environment checks, captures cluster baselines, runs a 15-check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prevalidation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an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**auto-remediation engine**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known upgrade blockers (such 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cgroup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v1→v2 migration, dynamic admin-acks, paused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MachineConfigPools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OLM operator version compatibility), executes sequential cluster hops with live 2-minute monitoring and timeout protection, verifies post-upgrade health with baseline diffing, seamlessly upgrades installed cluster operators, and delivers comprehensive HTML audit reports and email notifications.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Documentation.md, sections 1, 3, 4.14 and 5.1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ADDC6-C55B-C44E-557B-276E8F09A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7611D9-C6EA-E03B-2FD9-DD3DA8058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36A294-DCAD-E8D1-7C64-31A1F56B06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Documentation.md, sections 1, 3, 4.14 and 5.1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0B0FB-9D62-F551-67A0-CF00842E27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5981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workflow image: cluster_upgrade_phases_minimal.jpg
User-provided Documentation.md, phase descriptions 01 through 06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Documentation.md, sections 1, 2 and 4.14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shell wrapper name, inventory path, and variable names with exact values from the repository.,The commands on this slide are a base template, not a claim about the current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D63AF-98A8-8E81-C2D5-E2024748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9FA683-6D58-D722-353E-75012B7E4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55E600-4E1F-901E-A1F9-5B49E5D9EE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workflow image: cluster_upgrade_phases_minimal.jpg
User-provided Documentation.md, phase descriptions 01 through 06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659F0-96CE-4D3B-3EF7-5480C51E8C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784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Documentation.md, Units 06, 07, 08a, 09 and section 5.1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which checks stop execution and which checks generate warnings.,[Sources],- https://docs.redhat.com/en/documentation/openshift_container_platform/4.14/html/updating_clusters/preparing-to-update-a-cluster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 are the guardrails for upgrade initiation in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key points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Production &amp; Operational Safety (00_Run.sh):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Enforces concurrency locks (/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tmp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/aro-upgrade-*.lock), mandates typing UPGRADE for production clusters, and intercepts dry-run/pre-check modes before mutation phases can run.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Prevalidation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Contract &amp; Capacity Headroom (02_Pre_upgrade_check.yaml)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Requires all 9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prevalidation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HARD gates to be PASS or AUTO-FIXED, checks OLM operator compatibility, and asserts &lt; 90% CPU/memory allocations to prevent node drain deadlock.</a:t>
            </a:r>
          </a:p>
          <a:p>
            <a:pPr lvl="0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Pre-Hop Settle Assertion (tasks/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hop.yml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Before initiating each minor hop, halts immediately if the cluster is unstable: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ClusterVersion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must not be actively progressing, and zero MCPs or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ClusterOperators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be degraded or updating.</a:t>
            </a:r>
          </a:p>
          <a:p>
            <a:pPr lvl="0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Channel Sync &amp; Cincinnati Edge Re-Verification (roles/upgrade)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Automatically updates the target upgrade channel and executes up to 6 live query retries against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availableUpdates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conditionalUpdates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 confirm the target hop exists in the update graph.</a:t>
            </a:r>
          </a:p>
          <a:p>
            <a:pPr lvl="0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Mutation Containment &amp; Force Safety Guard (roles/upgrade)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Restricts cluster writes strictly to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upgrade --to, automatically injects required Admin-Acks, and unconditionally rejects emergency --force upgrades unless authorized with the explicit CONFIRM_FORCE_UPGRADE token.</a:t>
            </a:r>
          </a:p>
          <a:p>
            <a:pPr lvl="0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8BDB7-45EA-03DA-F12F-4CB39ACDF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55EEEA-4C90-7C94-C124-4DDDD0F4DB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E9DF2-D24F-5EDA-4BFE-3CE73EFDA2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workflow image: cluster_upgrade_phases_minimal.jpg
User-provided Documentation.md, phase descriptions 01 through 06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79A0A2-A85F-8221-29F3-90E92F2840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7191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92316-773B-1C72-4E0A-C5ADDB796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D85D0-8476-9AA9-8500-89608EF8F0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9AF388-2C98-6169-BC2B-73678AC7A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Documentation.md, Verification &amp; Testing, Unit 17 and section 5 Next Steps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A92D07-4F44-3D8D-2007-BB05F9C5C0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029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528816"/>
            <a:ext cx="594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274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ARO Cluster Upgrade Automation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875520" y="65288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274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OVERVIEW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109728"/>
            <a:ext cx="4069080" cy="6382512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</a:rPr>
              <a:t>ARO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</a:rPr>
              <a:t>CLUSTER UPGRADE</a:t>
            </a:r>
            <a:endParaRPr lang="en-US" sz="2700" dirty="0"/>
          </a:p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</a:rPr>
              <a:t>AUTOMATION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3016744"/>
            <a:ext cx="2971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D8E6"/>
                </a:solidFill>
              </a:rPr>
              <a:t>Deterministic, guarded and auditable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9D8E6"/>
                </a:solidFill>
              </a:rPr>
              <a:t>OpenShift upgrade orchestration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1792" y="4069080"/>
            <a:ext cx="1572768" cy="320040"/>
          </a:xfrm>
          <a:prstGeom prst="roundRect">
            <a:avLst>
              <a:gd name="adj" fmla="val 2285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94944" y="4133088"/>
            <a:ext cx="14264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 err="1">
                <a:solidFill>
                  <a:srgbClr val="FFFFFF"/>
                </a:solidFill>
              </a:rPr>
              <a:t>MPS_OpenShift_OPS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21792" y="4507992"/>
            <a:ext cx="1572768" cy="320040"/>
          </a:xfrm>
          <a:prstGeom prst="roundRect">
            <a:avLst>
              <a:gd name="adj" fmla="val 22857"/>
            </a:avLst>
          </a:prstGeom>
          <a:solidFill>
            <a:srgbClr val="1379B8"/>
          </a:solidFill>
          <a:ln w="12700">
            <a:solidFill>
              <a:srgbClr val="137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4572000"/>
            <a:ext cx="14264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ONE-TOUCH FLOW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17720" y="10972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033"/>
                </a:solidFill>
              </a:rPr>
              <a:t>Project Overview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645152" y="1755648"/>
            <a:ext cx="6355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2748A"/>
                </a:solidFill>
              </a:rPr>
              <a:t>Sequential Y-stream/ Z-stream upgrades with policy gates, live monitoring, validation, reporting and guaranteed session teardown.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645152" y="3017520"/>
            <a:ext cx="6217920" cy="1"/>
          </a:xfrm>
          <a:prstGeom prst="line">
            <a:avLst/>
          </a:prstGeom>
          <a:noFill/>
          <a:ln w="25400">
            <a:solidFill>
              <a:srgbClr val="137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95D200FB-A2D0-70A6-449A-8BBD90B43B65}"/>
              </a:ext>
            </a:extLst>
          </p:cNvPr>
          <p:cNvSpPr/>
          <p:nvPr/>
        </p:nvSpPr>
        <p:spPr>
          <a:xfrm>
            <a:off x="548640" y="6115438"/>
            <a:ext cx="3642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CEE0"/>
                </a:solidFill>
              </a:rPr>
              <a:t>Prepared by: Ravikant Kispotta  |  September 2026</a:t>
            </a:r>
            <a:endParaRPr lang="en-US" sz="1100" dirty="0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153ECCFC-9353-6EE3-B73B-93C8DBEDC1BE}"/>
              </a:ext>
            </a:extLst>
          </p:cNvPr>
          <p:cNvSpPr/>
          <p:nvPr/>
        </p:nvSpPr>
        <p:spPr>
          <a:xfrm>
            <a:off x="4617720" y="32133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9BCEB"/>
                </a:solidFill>
              </a:rPr>
              <a:t>OpenShift  •  Ansible  •  Azure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30" name="Text 0">
            <a:extLst>
              <a:ext uri="{FF2B5EF4-FFF2-40B4-BE49-F238E27FC236}">
                <a16:creationId xmlns:a16="http://schemas.microsoft.com/office/drawing/2014/main" id="{D8FD7166-7E9D-9402-7669-FF3D9F4377A9}"/>
              </a:ext>
            </a:extLst>
          </p:cNvPr>
          <p:cNvSpPr/>
          <p:nvPr/>
        </p:nvSpPr>
        <p:spPr>
          <a:xfrm>
            <a:off x="566928" y="43891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82B5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Upgrade Automation Is Required</a:t>
            </a:r>
            <a:endParaRPr lang="en-US" sz="2700" dirty="0"/>
          </a:p>
        </p:txBody>
      </p:sp>
      <p:sp>
        <p:nvSpPr>
          <p:cNvPr id="32" name="Text 1">
            <a:extLst>
              <a:ext uri="{FF2B5EF4-FFF2-40B4-BE49-F238E27FC236}">
                <a16:creationId xmlns:a16="http://schemas.microsoft.com/office/drawing/2014/main" id="{EFCEBDC6-B210-AEA3-F6D0-E947EA2DED9E}"/>
              </a:ext>
            </a:extLst>
          </p:cNvPr>
          <p:cNvSpPr/>
          <p:nvPr/>
        </p:nvSpPr>
        <p:spPr>
          <a:xfrm>
            <a:off x="585216" y="9418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80"/>
                </a:solidFill>
              </a:rPr>
              <a:t>The operational problem before automation</a:t>
            </a:r>
            <a:endParaRPr lang="en-US" sz="1250" dirty="0"/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B73ED5A3-6808-EDF8-1988-4B343EA5AD26}"/>
              </a:ext>
            </a:extLst>
          </p:cNvPr>
          <p:cNvSpPr/>
          <p:nvPr/>
        </p:nvSpPr>
        <p:spPr>
          <a:xfrm>
            <a:off x="621792" y="1508760"/>
            <a:ext cx="5257800" cy="1746504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DB5A6B7E-24E8-4E44-A7B8-53045E8F3FD3}"/>
              </a:ext>
            </a:extLst>
          </p:cNvPr>
          <p:cNvSpPr/>
          <p:nvPr/>
        </p:nvSpPr>
        <p:spPr>
          <a:xfrm>
            <a:off x="621792" y="1508760"/>
            <a:ext cx="64008" cy="16002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ADC33EC1-30BF-2F03-9034-FF72577A8A0F}"/>
              </a:ext>
            </a:extLst>
          </p:cNvPr>
          <p:cNvSpPr/>
          <p:nvPr/>
        </p:nvSpPr>
        <p:spPr>
          <a:xfrm>
            <a:off x="841248" y="1673352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Sequencing risk</a:t>
            </a:r>
            <a:endParaRPr lang="en-US" sz="1700" dirty="0"/>
          </a:p>
        </p:txBody>
      </p:sp>
      <p:sp>
        <p:nvSpPr>
          <p:cNvPr id="40" name="Text 5">
            <a:extLst>
              <a:ext uri="{FF2B5EF4-FFF2-40B4-BE49-F238E27FC236}">
                <a16:creationId xmlns:a16="http://schemas.microsoft.com/office/drawing/2014/main" id="{63BDAF0C-81DD-91B4-F361-1AEB8D7981CE}"/>
              </a:ext>
            </a:extLst>
          </p:cNvPr>
          <p:cNvSpPr/>
          <p:nvPr/>
        </p:nvSpPr>
        <p:spPr>
          <a:xfrm>
            <a:off x="841248" y="2002535"/>
            <a:ext cx="4873752" cy="118889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b="1" dirty="0">
                <a:solidFill>
                  <a:srgbClr val="5C6B80"/>
                </a:solidFill>
              </a:rPr>
              <a:t>Manua</a:t>
            </a:r>
            <a:r>
              <a:rPr lang="en-US" sz="1250" dirty="0">
                <a:solidFill>
                  <a:srgbClr val="5C6B80"/>
                </a:solidFill>
              </a:rPr>
              <a:t>l minor-version hops can be initiated in the wrong order or against the </a:t>
            </a:r>
            <a:r>
              <a:rPr lang="en-US" sz="1250" b="1" dirty="0">
                <a:solidFill>
                  <a:srgbClr val="5C6B80"/>
                </a:solidFill>
              </a:rPr>
              <a:t>wrong channel.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b="1" dirty="0">
                <a:solidFill>
                  <a:srgbClr val="5C6B80"/>
                </a:solidFill>
              </a:rPr>
              <a:t>Validate</a:t>
            </a:r>
            <a:r>
              <a:rPr lang="en-US" sz="1250" dirty="0">
                <a:solidFill>
                  <a:srgbClr val="5C6B80"/>
                </a:solidFill>
              </a:rPr>
              <a:t> the cluster to be upgraded</a:t>
            </a:r>
            <a:endParaRPr lang="en-US" sz="1250" dirty="0"/>
          </a:p>
        </p:txBody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5C56CA47-9CBD-08FD-3838-FDF39A79D87B}"/>
              </a:ext>
            </a:extLst>
          </p:cNvPr>
          <p:cNvSpPr/>
          <p:nvPr/>
        </p:nvSpPr>
        <p:spPr>
          <a:xfrm>
            <a:off x="6245352" y="1508760"/>
            <a:ext cx="5324856" cy="1746504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9A7D7B18-EC47-39E0-2DD2-7C587F0B8211}"/>
              </a:ext>
            </a:extLst>
          </p:cNvPr>
          <p:cNvSpPr/>
          <p:nvPr/>
        </p:nvSpPr>
        <p:spPr>
          <a:xfrm>
            <a:off x="6245352" y="1508760"/>
            <a:ext cx="64008" cy="1600200"/>
          </a:xfrm>
          <a:prstGeom prst="rect">
            <a:avLst/>
          </a:prstGeom>
          <a:solidFill>
            <a:srgbClr val="146DB3"/>
          </a:solidFill>
          <a:ln w="12700">
            <a:solidFill>
              <a:srgbClr val="146DB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76AA5D92-B539-B691-9BDE-177FF3BD6196}"/>
              </a:ext>
            </a:extLst>
          </p:cNvPr>
          <p:cNvSpPr/>
          <p:nvPr/>
        </p:nvSpPr>
        <p:spPr>
          <a:xfrm>
            <a:off x="6464808" y="1673352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Repeated validation</a:t>
            </a:r>
            <a:endParaRPr lang="en-US" sz="1700" dirty="0"/>
          </a:p>
        </p:txBody>
      </p:sp>
      <p:sp>
        <p:nvSpPr>
          <p:cNvPr id="48" name="Text 9">
            <a:extLst>
              <a:ext uri="{FF2B5EF4-FFF2-40B4-BE49-F238E27FC236}">
                <a16:creationId xmlns:a16="http://schemas.microsoft.com/office/drawing/2014/main" id="{BF1127D2-6693-0A08-8E21-4D78F7445D09}"/>
              </a:ext>
            </a:extLst>
          </p:cNvPr>
          <p:cNvSpPr/>
          <p:nvPr/>
        </p:nvSpPr>
        <p:spPr>
          <a:xfrm>
            <a:off x="6464808" y="2025396"/>
            <a:ext cx="4885944" cy="116603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Cluster health, operators, MCPs, and nodes must be </a:t>
            </a:r>
            <a:r>
              <a:rPr lang="en-US" sz="1250" b="1" dirty="0">
                <a:solidFill>
                  <a:srgbClr val="5C6B80"/>
                </a:solidFill>
              </a:rPr>
              <a:t>checked throughout the lifecycle.</a:t>
            </a:r>
            <a:endParaRPr lang="en-US" sz="1250" b="1" dirty="0"/>
          </a:p>
        </p:txBody>
      </p:sp>
      <p:sp>
        <p:nvSpPr>
          <p:cNvPr id="50" name="Shape 10">
            <a:extLst>
              <a:ext uri="{FF2B5EF4-FFF2-40B4-BE49-F238E27FC236}">
                <a16:creationId xmlns:a16="http://schemas.microsoft.com/office/drawing/2014/main" id="{51F1F7C2-5DEF-D24B-9B6D-D16F75FD0FFB}"/>
              </a:ext>
            </a:extLst>
          </p:cNvPr>
          <p:cNvSpPr/>
          <p:nvPr/>
        </p:nvSpPr>
        <p:spPr>
          <a:xfrm>
            <a:off x="621792" y="356616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2" name="Shape 11">
            <a:extLst>
              <a:ext uri="{FF2B5EF4-FFF2-40B4-BE49-F238E27FC236}">
                <a16:creationId xmlns:a16="http://schemas.microsoft.com/office/drawing/2014/main" id="{33BC4F88-EE53-40A1-5D7B-338AD56030C3}"/>
              </a:ext>
            </a:extLst>
          </p:cNvPr>
          <p:cNvSpPr/>
          <p:nvPr/>
        </p:nvSpPr>
        <p:spPr>
          <a:xfrm>
            <a:off x="621792" y="3566160"/>
            <a:ext cx="64008" cy="1600200"/>
          </a:xfrm>
          <a:prstGeom prst="rect">
            <a:avLst/>
          </a:prstGeom>
          <a:solidFill>
            <a:srgbClr val="E19A00"/>
          </a:solidFill>
          <a:ln w="12700">
            <a:solidFill>
              <a:srgbClr val="E19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12">
            <a:extLst>
              <a:ext uri="{FF2B5EF4-FFF2-40B4-BE49-F238E27FC236}">
                <a16:creationId xmlns:a16="http://schemas.microsoft.com/office/drawing/2014/main" id="{8FCC17CD-09CB-BB94-DC0F-288A339C0672}"/>
              </a:ext>
            </a:extLst>
          </p:cNvPr>
          <p:cNvSpPr/>
          <p:nvPr/>
        </p:nvSpPr>
        <p:spPr>
          <a:xfrm>
            <a:off x="841248" y="3730752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Monitoring effort</a:t>
            </a:r>
            <a:endParaRPr lang="en-US" sz="1700" dirty="0"/>
          </a:p>
        </p:txBody>
      </p:sp>
      <p:sp>
        <p:nvSpPr>
          <p:cNvPr id="56" name="Text 13">
            <a:extLst>
              <a:ext uri="{FF2B5EF4-FFF2-40B4-BE49-F238E27FC236}">
                <a16:creationId xmlns:a16="http://schemas.microsoft.com/office/drawing/2014/main" id="{5E0C93F3-1744-F48B-4319-BB525F042110}"/>
              </a:ext>
            </a:extLst>
          </p:cNvPr>
          <p:cNvSpPr/>
          <p:nvPr/>
        </p:nvSpPr>
        <p:spPr>
          <a:xfrm>
            <a:off x="841248" y="4061370"/>
            <a:ext cx="4873752" cy="110499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165100" indent="-1651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Long-running upgrade hops require </a:t>
            </a:r>
            <a:r>
              <a:rPr lang="en-US" sz="1250" b="1" dirty="0">
                <a:solidFill>
                  <a:srgbClr val="5C6B80"/>
                </a:solidFill>
              </a:rPr>
              <a:t>continuous status checks</a:t>
            </a:r>
            <a:r>
              <a:rPr lang="en-US" sz="1250" dirty="0">
                <a:solidFill>
                  <a:srgbClr val="5C6B80"/>
                </a:solidFill>
              </a:rPr>
              <a:t> and escalation.</a:t>
            </a:r>
          </a:p>
          <a:p>
            <a:pPr marL="165100" indent="-165100">
              <a:lnSpc>
                <a:spcPct val="150000"/>
              </a:lnSpc>
              <a:buSzPct val="100000"/>
              <a:buChar char="•"/>
            </a:pPr>
            <a:r>
              <a:rPr lang="en-US" sz="1250" b="1" dirty="0">
                <a:solidFill>
                  <a:srgbClr val="5C6B80"/>
                </a:solidFill>
              </a:rPr>
              <a:t>Immediate Notification </a:t>
            </a:r>
            <a:r>
              <a:rPr lang="en-US" sz="1250" dirty="0">
                <a:solidFill>
                  <a:srgbClr val="5C6B80"/>
                </a:solidFill>
              </a:rPr>
              <a:t>if any Issue occurred while upgrade for </a:t>
            </a:r>
            <a:r>
              <a:rPr lang="en-US" sz="1250" b="1" dirty="0">
                <a:solidFill>
                  <a:srgbClr val="5C6B80"/>
                </a:solidFill>
              </a:rPr>
              <a:t>faster remediation</a:t>
            </a:r>
            <a:r>
              <a:rPr lang="en-US" sz="1250" dirty="0">
                <a:solidFill>
                  <a:srgbClr val="5C6B80"/>
                </a:solidFill>
              </a:rPr>
              <a:t>.</a:t>
            </a:r>
            <a:endParaRPr lang="en-US" sz="1250" dirty="0"/>
          </a:p>
        </p:txBody>
      </p:sp>
      <p:sp>
        <p:nvSpPr>
          <p:cNvPr id="58" name="Shape 14">
            <a:extLst>
              <a:ext uri="{FF2B5EF4-FFF2-40B4-BE49-F238E27FC236}">
                <a16:creationId xmlns:a16="http://schemas.microsoft.com/office/drawing/2014/main" id="{973DCF79-B76D-95F1-A619-158D830F7503}"/>
              </a:ext>
            </a:extLst>
          </p:cNvPr>
          <p:cNvSpPr/>
          <p:nvPr/>
        </p:nvSpPr>
        <p:spPr>
          <a:xfrm>
            <a:off x="6245352" y="356616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0" name="Shape 15">
            <a:extLst>
              <a:ext uri="{FF2B5EF4-FFF2-40B4-BE49-F238E27FC236}">
                <a16:creationId xmlns:a16="http://schemas.microsoft.com/office/drawing/2014/main" id="{4F61EE19-87EF-197F-77EA-1162A54049E5}"/>
              </a:ext>
            </a:extLst>
          </p:cNvPr>
          <p:cNvSpPr/>
          <p:nvPr/>
        </p:nvSpPr>
        <p:spPr>
          <a:xfrm>
            <a:off x="6245352" y="3566160"/>
            <a:ext cx="64008" cy="1600200"/>
          </a:xfrm>
          <a:prstGeom prst="rect">
            <a:avLst/>
          </a:prstGeom>
          <a:solidFill>
            <a:srgbClr val="082B55"/>
          </a:solidFill>
          <a:ln w="1270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16">
            <a:extLst>
              <a:ext uri="{FF2B5EF4-FFF2-40B4-BE49-F238E27FC236}">
                <a16:creationId xmlns:a16="http://schemas.microsoft.com/office/drawing/2014/main" id="{5F604F09-BADB-5DCC-C4A7-40DD8DA1D629}"/>
              </a:ext>
            </a:extLst>
          </p:cNvPr>
          <p:cNvSpPr/>
          <p:nvPr/>
        </p:nvSpPr>
        <p:spPr>
          <a:xfrm>
            <a:off x="6464808" y="3730752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Fragmented evidence</a:t>
            </a:r>
            <a:endParaRPr lang="en-US" sz="1700" dirty="0"/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E7671ED4-C34E-3047-FD8C-E584DCE52A32}"/>
              </a:ext>
            </a:extLst>
          </p:cNvPr>
          <p:cNvSpPr/>
          <p:nvPr/>
        </p:nvSpPr>
        <p:spPr>
          <a:xfrm>
            <a:off x="6464808" y="4098662"/>
            <a:ext cx="4873752" cy="98432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Terminal output, snapshots, and reports can be inconsistent or difficult to audit.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Log the entire workflow of the upgrade.</a:t>
            </a:r>
            <a:endParaRPr lang="en-US" sz="1250" dirty="0"/>
          </a:p>
        </p:txBody>
      </p:sp>
      <p:sp>
        <p:nvSpPr>
          <p:cNvPr id="66" name="Shape 18">
            <a:extLst>
              <a:ext uri="{FF2B5EF4-FFF2-40B4-BE49-F238E27FC236}">
                <a16:creationId xmlns:a16="http://schemas.microsoft.com/office/drawing/2014/main" id="{F5CEDDD5-4ACB-7713-8C90-85371744372F}"/>
              </a:ext>
            </a:extLst>
          </p:cNvPr>
          <p:cNvSpPr/>
          <p:nvPr/>
        </p:nvSpPr>
        <p:spPr>
          <a:xfrm>
            <a:off x="1234440" y="5715000"/>
            <a:ext cx="9738360" cy="438912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19">
            <a:extLst>
              <a:ext uri="{FF2B5EF4-FFF2-40B4-BE49-F238E27FC236}">
                <a16:creationId xmlns:a16="http://schemas.microsoft.com/office/drawing/2014/main" id="{AF8A9DA0-3519-A0B3-EE0B-DF5C475179C4}"/>
              </a:ext>
            </a:extLst>
          </p:cNvPr>
          <p:cNvSpPr/>
          <p:nvPr/>
        </p:nvSpPr>
        <p:spPr>
          <a:xfrm>
            <a:off x="1417320" y="5815584"/>
            <a:ext cx="9372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102E"/>
                </a:solidFill>
              </a:rPr>
              <a:t>Manual execution increases inconsistency, sequencing risk, and audit effort.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B84C5-E12E-D62A-F2E9-CE644A359337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8" name="Slide Number Placeholder 0">
            <a:extLst>
              <a:ext uri="{FF2B5EF4-FFF2-40B4-BE49-F238E27FC236}">
                <a16:creationId xmlns:a16="http://schemas.microsoft.com/office/drawing/2014/main" id="{14705B65-1874-1230-9746-02EF945F8C0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E9DD4B20-C793-9600-A45C-D6175D1BEDFD}"/>
              </a:ext>
            </a:extLst>
          </p:cNvPr>
          <p:cNvSpPr/>
          <p:nvPr/>
        </p:nvSpPr>
        <p:spPr>
          <a:xfrm>
            <a:off x="566928" y="43891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82B5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Objective and Scope</a:t>
            </a:r>
            <a:endParaRPr lang="en-US" sz="27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A961E7C-E930-E453-534D-69CC72AFC799}"/>
              </a:ext>
            </a:extLst>
          </p:cNvPr>
          <p:cNvSpPr/>
          <p:nvPr/>
        </p:nvSpPr>
        <p:spPr>
          <a:xfrm>
            <a:off x="585216" y="9418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80"/>
                </a:solidFill>
              </a:rPr>
              <a:t>A deterministic framework for supported ARO upgrade paths</a:t>
            </a:r>
            <a:endParaRPr lang="en-US" sz="1250" dirty="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5D172ABD-C74A-4C50-F9DF-5276372B4CF3}"/>
              </a:ext>
            </a:extLst>
          </p:cNvPr>
          <p:cNvSpPr/>
          <p:nvPr/>
        </p:nvSpPr>
        <p:spPr>
          <a:xfrm>
            <a:off x="658368" y="1444752"/>
            <a:ext cx="3703320" cy="43891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B50C2DE4-5C59-D814-E650-910300A36C11}"/>
              </a:ext>
            </a:extLst>
          </p:cNvPr>
          <p:cNvSpPr/>
          <p:nvPr/>
        </p:nvSpPr>
        <p:spPr>
          <a:xfrm>
            <a:off x="658368" y="1444752"/>
            <a:ext cx="64008" cy="43891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030D1E49-271A-D503-B19E-6328AA283953}"/>
              </a:ext>
            </a:extLst>
          </p:cNvPr>
          <p:cNvSpPr/>
          <p:nvPr/>
        </p:nvSpPr>
        <p:spPr>
          <a:xfrm>
            <a:off x="877824" y="1609344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Objective</a:t>
            </a:r>
            <a:endParaRPr lang="en-US" sz="17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5119F1A0-F1AB-27C8-58A8-35C16277DE1F}"/>
              </a:ext>
            </a:extLst>
          </p:cNvPr>
          <p:cNvSpPr/>
          <p:nvPr/>
        </p:nvSpPr>
        <p:spPr>
          <a:xfrm>
            <a:off x="886968" y="1929384"/>
            <a:ext cx="3246120" cy="3776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Build a rule-based framework that executes safe, repeatable ARO cluster upgrades through supported OpenShift version hops.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Reduce manual effort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Prevent incorrect upgrade sequencing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Provide continuous monitoring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Reduce human error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Improve failure handling</a:t>
            </a:r>
          </a:p>
          <a:p>
            <a:pPr marL="165100" indent="-165100">
              <a:lnSpc>
                <a:spcPct val="200000"/>
              </a:lnSpc>
              <a:buSzPct val="100000"/>
              <a:buFontTx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Detect issues before upgrade initiation</a:t>
            </a:r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CADF144C-7CC1-0EAB-FEF1-43D5D723EC41}"/>
              </a:ext>
            </a:extLst>
          </p:cNvPr>
          <p:cNvSpPr/>
          <p:nvPr/>
        </p:nvSpPr>
        <p:spPr>
          <a:xfrm>
            <a:off x="4553712" y="1444752"/>
            <a:ext cx="3310128" cy="4389120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3A447C88-4B40-0F1F-2034-9F44DAF33C99}"/>
              </a:ext>
            </a:extLst>
          </p:cNvPr>
          <p:cNvSpPr/>
          <p:nvPr/>
        </p:nvSpPr>
        <p:spPr>
          <a:xfrm>
            <a:off x="4553712" y="1444752"/>
            <a:ext cx="64008" cy="4389120"/>
          </a:xfrm>
          <a:prstGeom prst="rect">
            <a:avLst/>
          </a:prstGeom>
          <a:solidFill>
            <a:srgbClr val="146DB3"/>
          </a:solidFill>
          <a:ln w="12700">
            <a:solidFill>
              <a:srgbClr val="146DB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779772F4-49B3-349F-5D3E-2ECE8FD5C992}"/>
              </a:ext>
            </a:extLst>
          </p:cNvPr>
          <p:cNvSpPr/>
          <p:nvPr/>
        </p:nvSpPr>
        <p:spPr>
          <a:xfrm>
            <a:off x="4773168" y="160934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In Scope</a:t>
            </a:r>
            <a:endParaRPr lang="en-US" sz="17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F8CC65B5-99C3-497E-A251-934CB651F868}"/>
              </a:ext>
            </a:extLst>
          </p:cNvPr>
          <p:cNvSpPr/>
          <p:nvPr/>
        </p:nvSpPr>
        <p:spPr>
          <a:xfrm>
            <a:off x="4782312" y="2066544"/>
            <a:ext cx="2852928" cy="3639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Phase-based execution</a:t>
            </a:r>
            <a:endParaRPr lang="en-US" sz="125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Pre-upgrade policy validation</a:t>
            </a:r>
            <a:endParaRPr lang="en-US" sz="125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Cluster health checks</a:t>
            </a:r>
            <a:endParaRPr lang="en-US" sz="125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Sequential upgrade hops</a:t>
            </a:r>
            <a:endParaRPr lang="en-US" sz="125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Live monitoring</a:t>
            </a:r>
            <a:endParaRPr lang="en-US" sz="125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Postvalidation</a:t>
            </a:r>
            <a:endParaRPr lang="en-US" sz="125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Operator upgrade</a:t>
            </a:r>
            <a:endParaRPr lang="en-US" sz="125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Reporting</a:t>
            </a:r>
            <a:endParaRPr lang="en-US" sz="1250" dirty="0"/>
          </a:p>
        </p:txBody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65130359-6C28-AAC6-278B-49B3A182AF40}"/>
              </a:ext>
            </a:extLst>
          </p:cNvPr>
          <p:cNvSpPr/>
          <p:nvPr/>
        </p:nvSpPr>
        <p:spPr>
          <a:xfrm>
            <a:off x="8065008" y="1444752"/>
            <a:ext cx="3474720" cy="43891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133EBBBE-1A37-36D6-F27F-87AA46790918}"/>
              </a:ext>
            </a:extLst>
          </p:cNvPr>
          <p:cNvSpPr/>
          <p:nvPr/>
        </p:nvSpPr>
        <p:spPr>
          <a:xfrm>
            <a:off x="8065008" y="1444752"/>
            <a:ext cx="64008" cy="43891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012B48-BEE3-26C3-B7DD-FCB18DA30552}"/>
              </a:ext>
            </a:extLst>
          </p:cNvPr>
          <p:cNvSpPr/>
          <p:nvPr/>
        </p:nvSpPr>
        <p:spPr>
          <a:xfrm>
            <a:off x="8284464" y="1609344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Design Principles</a:t>
            </a:r>
            <a:endParaRPr lang="en-US" sz="1700" dirty="0"/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6DF22759-7D22-315B-A4DC-16036B4B3674}"/>
              </a:ext>
            </a:extLst>
          </p:cNvPr>
          <p:cNvSpPr/>
          <p:nvPr/>
        </p:nvSpPr>
        <p:spPr>
          <a:xfrm>
            <a:off x="8293608" y="2066544"/>
            <a:ext cx="3017520" cy="3639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Deterministic execution</a:t>
            </a:r>
            <a:endParaRPr lang="en-US" sz="125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automation in the runtime path</a:t>
            </a:r>
            <a:endParaRPr lang="en-US" sz="125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Fail-closed hard gates</a:t>
            </a:r>
            <a:endParaRPr lang="en-US" sz="125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Explicit warning gates</a:t>
            </a:r>
            <a:endParaRPr lang="en-US" sz="125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Auditable evidence</a:t>
            </a:r>
            <a:endParaRPr lang="en-US" sz="125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Reusable Ansible roles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1525678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4EF7AA-8F02-C69D-C081-03561AF6E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547" y="129687"/>
            <a:ext cx="11616906" cy="63857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00_run.sh (Automation entry Point)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143000" y="6062472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B4B"/>
                </a:solidFill>
              </a:rPr>
              <a:t>Control boundary: cluster mutations are permitted only after policy and prevalidation gates pass.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D653DBC2-4B2B-58A9-7652-446A2FB58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2471" y="812024"/>
            <a:ext cx="9656577" cy="5698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82B5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Technical Walkthrough: Phase Initiation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85216" y="9418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80"/>
                </a:solidFill>
              </a:rPr>
              <a:t>All the phases (1-6) are initiated through </a:t>
            </a:r>
            <a:r>
              <a:rPr lang="en-US" sz="1250" dirty="0" err="1">
                <a:solidFill>
                  <a:srgbClr val="5C6B80"/>
                </a:solidFill>
              </a:rPr>
              <a:t>main.yaml</a:t>
            </a:r>
            <a:r>
              <a:rPr lang="en-US" sz="1250" dirty="0">
                <a:solidFill>
                  <a:srgbClr val="5C6B80"/>
                </a:solidFill>
              </a:rPr>
              <a:t>. Each Phase has Its own role with modularized tasks.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379476" y="1252728"/>
            <a:ext cx="7178040" cy="5013672"/>
          </a:xfrm>
          <a:prstGeom prst="roundRect">
            <a:avLst/>
          </a:prstGeom>
          <a:solidFill>
            <a:srgbClr val="0B1628"/>
          </a:solidFill>
          <a:ln w="12700">
            <a:solidFill>
              <a:srgbClr val="1F355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5329" y="157276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9BCEB"/>
                </a:solidFill>
              </a:rPr>
              <a:t>PHASE INITIATION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818120" y="1389888"/>
            <a:ext cx="37033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818120" y="1389888"/>
            <a:ext cx="64008" cy="1920240"/>
          </a:xfrm>
          <a:prstGeom prst="rect">
            <a:avLst/>
          </a:prstGeom>
          <a:solidFill>
            <a:srgbClr val="146DB3"/>
          </a:solidFill>
          <a:ln w="12700">
            <a:solidFill>
              <a:srgbClr val="146DB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37576" y="15544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Phases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046720" y="2011680"/>
            <a:ext cx="3246120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01_policy_check.yaml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02_pre_upgrade_check.yaml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03_Initiate_upgrade.yaml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05_post_upgrade_check.yaml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06_Uperator_upgrade.yaml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818120" y="3520440"/>
            <a:ext cx="3703320" cy="2990088"/>
          </a:xfrm>
          <a:prstGeom prst="roundRect">
            <a:avLst>
              <a:gd name="adj" fmla="val 3292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818120" y="3520440"/>
            <a:ext cx="64008" cy="299008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037576" y="3685032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Roles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046720" y="3931920"/>
            <a:ext cx="1425084" cy="2487167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api_check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api_readiness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co</a:t>
            </a: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error_handle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Etcd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Login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Logout</a:t>
            </a: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Mcp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Monitor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node</a:t>
            </a: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prevalidation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postvalidation</a:t>
            </a:r>
            <a:endParaRPr lang="en-US" sz="1250" dirty="0">
              <a:solidFill>
                <a:srgbClr val="5C6B80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CE0E597-AA2A-7AC1-7A4C-AD6724E5E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329" y="1936312"/>
            <a:ext cx="5516026" cy="4020406"/>
          </a:xfrm>
          <a:prstGeom prst="rect">
            <a:avLst/>
          </a:prstGeom>
        </p:spPr>
      </p:pic>
      <p:sp>
        <p:nvSpPr>
          <p:cNvPr id="20" name="Text 12">
            <a:extLst>
              <a:ext uri="{FF2B5EF4-FFF2-40B4-BE49-F238E27FC236}">
                <a16:creationId xmlns:a16="http://schemas.microsoft.com/office/drawing/2014/main" id="{AD836D32-07FF-02AC-E3FA-E599676BC6EC}"/>
              </a:ext>
            </a:extLst>
          </p:cNvPr>
          <p:cNvSpPr/>
          <p:nvPr/>
        </p:nvSpPr>
        <p:spPr>
          <a:xfrm>
            <a:off x="9784080" y="3931919"/>
            <a:ext cx="1572768" cy="2487167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Pv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Monitor</a:t>
            </a: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Operator_comp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Operator_validate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FontTx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Operator_upgrade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pdb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remediate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report</a:t>
            </a: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sendmail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snapshot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upgrade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utilization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64CA8-DFAD-5674-92DB-BD9A8FE6DEE5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6955A289-5BF2-9DFF-39E7-BDB2D268FBE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C9A271-B104-6FF5-5C6C-809A3F8131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9" y="109715"/>
            <a:ext cx="10972822" cy="6400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261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Safety gates before cluster mutation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2748A"/>
                </a:solidFill>
              </a:rPr>
              <a:t>Policy validation, 15 health checks and bounded remediation protect the change window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3364992" cy="4434840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96112" y="15361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2A4A"/>
                </a:solidFill>
              </a:rPr>
              <a:t>POLICY CHECK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96112" y="2057400"/>
            <a:ext cx="2697480" cy="30815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lnSpc>
                <a:spcPct val="150000"/>
              </a:lnSpc>
              <a:spcBef>
                <a:spcPts val="600"/>
              </a:spcBef>
              <a:buSzPct val="100000"/>
              <a:buChar char="•"/>
            </a:pPr>
            <a:r>
              <a:rPr lang="en-US" sz="1450" dirty="0">
                <a:solidFill>
                  <a:srgbClr val="142033"/>
                </a:solidFill>
              </a:rPr>
              <a:t>Authenticate </a:t>
            </a:r>
            <a:r>
              <a:rPr lang="en-US" sz="1450" b="1" dirty="0">
                <a:solidFill>
                  <a:srgbClr val="142033"/>
                </a:solidFill>
              </a:rPr>
              <a:t>once</a:t>
            </a:r>
            <a:r>
              <a:rPr lang="en-US" sz="1450" dirty="0">
                <a:solidFill>
                  <a:srgbClr val="142033"/>
                </a:solidFill>
              </a:rPr>
              <a:t> using an </a:t>
            </a:r>
            <a:r>
              <a:rPr lang="en-US" sz="1450" b="1" dirty="0">
                <a:solidFill>
                  <a:srgbClr val="142033"/>
                </a:solidFill>
              </a:rPr>
              <a:t>isolated kubeconfig</a:t>
            </a:r>
            <a:endParaRPr lang="en-US" sz="1450" b="1" dirty="0"/>
          </a:p>
          <a:p>
            <a:pPr marL="203200" indent="-203200">
              <a:lnSpc>
                <a:spcPct val="150000"/>
              </a:lnSpc>
              <a:spcBef>
                <a:spcPts val="600"/>
              </a:spcBef>
              <a:buSzPct val="100000"/>
              <a:buChar char="•"/>
            </a:pPr>
            <a:r>
              <a:rPr lang="en-US" sz="1450" b="1" dirty="0">
                <a:solidFill>
                  <a:srgbClr val="142033"/>
                </a:solidFill>
              </a:rPr>
              <a:t>Capture baseline </a:t>
            </a:r>
            <a:r>
              <a:rPr lang="en-US" sz="1450" dirty="0">
                <a:solidFill>
                  <a:srgbClr val="142033"/>
                </a:solidFill>
              </a:rPr>
              <a:t>nodes, operators and routes</a:t>
            </a:r>
            <a:endParaRPr lang="en-US" sz="1450" dirty="0"/>
          </a:p>
          <a:p>
            <a:pPr marL="203200" indent="-203200">
              <a:lnSpc>
                <a:spcPct val="150000"/>
              </a:lnSpc>
              <a:spcBef>
                <a:spcPts val="600"/>
              </a:spcBef>
              <a:buSzPct val="100000"/>
              <a:buChar char="•"/>
            </a:pPr>
            <a:r>
              <a:rPr lang="en-US" sz="1450" b="1" dirty="0">
                <a:solidFill>
                  <a:srgbClr val="142033"/>
                </a:solidFill>
              </a:rPr>
              <a:t>Verify</a:t>
            </a:r>
            <a:r>
              <a:rPr lang="en-US" sz="1450" dirty="0">
                <a:solidFill>
                  <a:srgbClr val="142033"/>
                </a:solidFill>
              </a:rPr>
              <a:t> the next update edge before writes</a:t>
            </a:r>
            <a:endParaRPr lang="en-US" sz="1450" dirty="0"/>
          </a:p>
          <a:p>
            <a:pPr marL="203200" indent="-203200">
              <a:lnSpc>
                <a:spcPct val="150000"/>
              </a:lnSpc>
              <a:spcBef>
                <a:spcPts val="600"/>
              </a:spcBef>
              <a:buSzPct val="100000"/>
              <a:buChar char="•"/>
            </a:pPr>
            <a:r>
              <a:rPr lang="en-US" sz="1450" b="1" dirty="0">
                <a:solidFill>
                  <a:srgbClr val="142033"/>
                </a:solidFill>
              </a:rPr>
              <a:t>Reject malformed </a:t>
            </a:r>
            <a:r>
              <a:rPr lang="en-US" sz="1450" dirty="0">
                <a:solidFill>
                  <a:srgbClr val="142033"/>
                </a:solidFill>
              </a:rPr>
              <a:t>inputs and wrong API context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187952" y="1234440"/>
            <a:ext cx="3749040" cy="4434840"/>
          </a:xfrm>
          <a:prstGeom prst="roundRect">
            <a:avLst>
              <a:gd name="adj" fmla="val 1463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480560" y="15361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379B8"/>
                </a:solidFill>
              </a:rPr>
              <a:t>15-CHECK PREVALIDATION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480560" y="2057400"/>
            <a:ext cx="3108960" cy="2788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lnSpc>
                <a:spcPct val="150000"/>
              </a:lnSpc>
              <a:spcBef>
                <a:spcPts val="600"/>
              </a:spcBef>
              <a:buSzPct val="100000"/>
              <a:buChar char="•"/>
            </a:pPr>
            <a:r>
              <a:rPr lang="en-US" sz="1420" dirty="0">
                <a:solidFill>
                  <a:srgbClr val="142033"/>
                </a:solidFill>
              </a:rPr>
              <a:t>8 core HARD gates: API, etcd, CO, MCP, node, capacity, admin-acks and OLM compatibility</a:t>
            </a:r>
            <a:endParaRPr lang="en-US" sz="1420" dirty="0"/>
          </a:p>
          <a:p>
            <a:pPr marL="203200" indent="-203200">
              <a:lnSpc>
                <a:spcPct val="150000"/>
              </a:lnSpc>
              <a:spcBef>
                <a:spcPts val="600"/>
              </a:spcBef>
              <a:buSzPct val="100000"/>
              <a:buChar char="•"/>
            </a:pPr>
            <a:r>
              <a:rPr lang="en-US" sz="1420" dirty="0">
                <a:solidFill>
                  <a:srgbClr val="142033"/>
                </a:solidFill>
              </a:rPr>
              <a:t>WARN advisories for CSR, storage, PDB and critical pods</a:t>
            </a:r>
            <a:endParaRPr lang="en-US" sz="1420" dirty="0"/>
          </a:p>
          <a:p>
            <a:pPr marL="203200" indent="-203200">
              <a:lnSpc>
                <a:spcPct val="150000"/>
              </a:lnSpc>
              <a:spcBef>
                <a:spcPts val="600"/>
              </a:spcBef>
              <a:buSzPct val="100000"/>
              <a:buChar char="•"/>
            </a:pPr>
            <a:r>
              <a:rPr lang="en-US" sz="1420" dirty="0">
                <a:solidFill>
                  <a:srgbClr val="142033"/>
                </a:solidFill>
              </a:rPr>
              <a:t>CGroup compatibility assessed by target version and policy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8165592" y="1234440"/>
            <a:ext cx="3429000" cy="443484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458200" y="15361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9D8F"/>
                </a:solidFill>
              </a:rPr>
              <a:t>AUTO-REMEDIATION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458200" y="2057400"/>
            <a:ext cx="2880360" cy="31702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lnSpc>
                <a:spcPct val="150000"/>
              </a:lnSpc>
              <a:spcBef>
                <a:spcPts val="600"/>
              </a:spcBef>
              <a:buSzPct val="100000"/>
              <a:buChar char="•"/>
            </a:pPr>
            <a:r>
              <a:rPr lang="en-US" sz="1420" dirty="0">
                <a:solidFill>
                  <a:srgbClr val="142033"/>
                </a:solidFill>
              </a:rPr>
              <a:t>Detect, authorize, apply, re-query and record</a:t>
            </a:r>
            <a:endParaRPr lang="en-US" sz="1420" dirty="0"/>
          </a:p>
          <a:p>
            <a:pPr marL="203200" indent="-203200">
              <a:lnSpc>
                <a:spcPct val="150000"/>
              </a:lnSpc>
              <a:spcBef>
                <a:spcPts val="600"/>
              </a:spcBef>
              <a:buSzPct val="100000"/>
              <a:buChar char="•"/>
            </a:pPr>
            <a:r>
              <a:rPr lang="en-US" sz="1420" dirty="0">
                <a:solidFill>
                  <a:srgbClr val="142033"/>
                </a:solidFill>
              </a:rPr>
              <a:t>Tier 1: admin-acks, MCP unpause and cgroup controls</a:t>
            </a:r>
            <a:endParaRPr lang="en-US" sz="1420" dirty="0"/>
          </a:p>
          <a:p>
            <a:pPr marL="203200" indent="-203200">
              <a:lnSpc>
                <a:spcPct val="150000"/>
              </a:lnSpc>
              <a:spcBef>
                <a:spcPts val="600"/>
              </a:spcBef>
              <a:buSzPct val="100000"/>
              <a:buChar char="•"/>
            </a:pPr>
            <a:r>
              <a:rPr lang="en-US" sz="1420" dirty="0">
                <a:solidFill>
                  <a:srgbClr val="142033"/>
                </a:solidFill>
              </a:rPr>
              <a:t>Tier 2: operator validate and stalled-node recovery require opt-in (optional)</a:t>
            </a:r>
            <a:endParaRPr lang="en-US" sz="1420" dirty="0"/>
          </a:p>
          <a:p>
            <a:pPr marL="203200" indent="-203200">
              <a:lnSpc>
                <a:spcPct val="150000"/>
              </a:lnSpc>
              <a:spcBef>
                <a:spcPts val="600"/>
              </a:spcBef>
              <a:buSzPct val="100000"/>
              <a:buChar char="•"/>
            </a:pPr>
            <a:r>
              <a:rPr lang="en-US" sz="1420" dirty="0">
                <a:solidFill>
                  <a:srgbClr val="142033"/>
                </a:solidFill>
              </a:rPr>
              <a:t>Residual HARD failures stop the workflow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4526280" y="5074920"/>
            <a:ext cx="3063240" cy="320040"/>
          </a:xfrm>
          <a:prstGeom prst="roundRect">
            <a:avLst>
              <a:gd name="adj" fmla="val 22857"/>
            </a:avLst>
          </a:prstGeom>
          <a:solidFill>
            <a:srgbClr val="267A57"/>
          </a:solidFill>
          <a:ln w="12700">
            <a:solidFill>
              <a:srgbClr val="267A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99432" y="5138928"/>
            <a:ext cx="29169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NO RESIDUAL HARD FAILURE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3" name="Text 1"/>
          <p:cNvSpPr/>
          <p:nvPr/>
        </p:nvSpPr>
        <p:spPr>
          <a:xfrm>
            <a:off x="585216" y="9418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80"/>
                </a:solidFill>
              </a:rPr>
              <a:t>Prevent unsafe upgrade initiation before a cluster-changing action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5216" y="1479296"/>
            <a:ext cx="5230368" cy="47548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85216" y="1444752"/>
            <a:ext cx="64008" cy="4754880"/>
          </a:xfrm>
          <a:prstGeom prst="rect">
            <a:avLst/>
          </a:prstGeom>
          <a:solidFill>
            <a:srgbClr val="E19A00"/>
          </a:solidFill>
          <a:ln w="12700">
            <a:solidFill>
              <a:srgbClr val="E19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04672" y="16093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02_Pre_upgrade_check.yaml</a:t>
            </a:r>
          </a:p>
        </p:txBody>
      </p:sp>
      <p:sp>
        <p:nvSpPr>
          <p:cNvPr id="11" name="Text 9"/>
          <p:cNvSpPr/>
          <p:nvPr/>
        </p:nvSpPr>
        <p:spPr>
          <a:xfrm>
            <a:off x="804672" y="1929384"/>
            <a:ext cx="4773168" cy="4133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400" dirty="0" err="1">
                <a:solidFill>
                  <a:srgbClr val="5C6B80"/>
                </a:solidFill>
              </a:rPr>
              <a:t>ClusterOperators</a:t>
            </a:r>
            <a:r>
              <a:rPr lang="en-US" sz="1400" dirty="0">
                <a:solidFill>
                  <a:srgbClr val="5C6B80"/>
                </a:solidFill>
              </a:rPr>
              <a:t> Health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400" dirty="0">
                <a:solidFill>
                  <a:srgbClr val="5C6B80"/>
                </a:solidFill>
              </a:rPr>
              <a:t>Node Readiness &amp; Pressures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400" dirty="0" err="1">
                <a:solidFill>
                  <a:srgbClr val="5C6B80"/>
                </a:solidFill>
              </a:rPr>
              <a:t>MachineConfigPool</a:t>
            </a:r>
            <a:r>
              <a:rPr lang="en-US" sz="1400" dirty="0">
                <a:solidFill>
                  <a:srgbClr val="5C6B80"/>
                </a:solidFill>
              </a:rPr>
              <a:t> Sync &amp; Pause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400" dirty="0">
                <a:solidFill>
                  <a:srgbClr val="5C6B80"/>
                </a:solidFill>
              </a:rPr>
              <a:t>API Server Context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400" dirty="0">
                <a:solidFill>
                  <a:srgbClr val="5C6B80"/>
                </a:solidFill>
              </a:rPr>
              <a:t>API Server Readiness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400" dirty="0" err="1">
                <a:solidFill>
                  <a:srgbClr val="5C6B80"/>
                </a:solidFill>
              </a:rPr>
              <a:t>etcd</a:t>
            </a:r>
            <a:r>
              <a:rPr lang="en-US" sz="1400" dirty="0">
                <a:solidFill>
                  <a:srgbClr val="5C6B80"/>
                </a:solidFill>
              </a:rPr>
              <a:t> Quorum &amp; Health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400" dirty="0">
                <a:solidFill>
                  <a:srgbClr val="5C6B80"/>
                </a:solidFill>
              </a:rPr>
              <a:t>Administrator Acknowledgements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400" dirty="0">
                <a:solidFill>
                  <a:srgbClr val="5C6B80"/>
                </a:solidFill>
              </a:rPr>
              <a:t>Node Request Capacity Headroom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400" dirty="0">
                <a:solidFill>
                  <a:srgbClr val="5C6B80"/>
                </a:solidFill>
              </a:rPr>
              <a:t>OLM Operator Compatibility</a:t>
            </a:r>
          </a:p>
        </p:txBody>
      </p:sp>
      <p:sp>
        <p:nvSpPr>
          <p:cNvPr id="16" name="Shape 14"/>
          <p:cNvSpPr/>
          <p:nvPr/>
        </p:nvSpPr>
        <p:spPr>
          <a:xfrm>
            <a:off x="6156960" y="1444752"/>
            <a:ext cx="5230368" cy="47548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156960" y="1444752"/>
            <a:ext cx="64008" cy="47548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76416" y="16093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05_post_Upgrade_Checks.yaml</a:t>
            </a:r>
          </a:p>
        </p:txBody>
      </p:sp>
      <p:sp>
        <p:nvSpPr>
          <p:cNvPr id="19" name="Text 17"/>
          <p:cNvSpPr/>
          <p:nvPr/>
        </p:nvSpPr>
        <p:spPr>
          <a:xfrm>
            <a:off x="6385560" y="2066544"/>
            <a:ext cx="4773168" cy="3995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600" dirty="0">
                <a:solidFill>
                  <a:srgbClr val="5C6B80"/>
                </a:solidFill>
              </a:rPr>
              <a:t>Final </a:t>
            </a:r>
            <a:r>
              <a:rPr lang="en-US" sz="1600" dirty="0" err="1">
                <a:solidFill>
                  <a:srgbClr val="5C6B80"/>
                </a:solidFill>
              </a:rPr>
              <a:t>ClusterVersion</a:t>
            </a:r>
            <a:endParaRPr lang="en-US" sz="1600" dirty="0">
              <a:solidFill>
                <a:srgbClr val="5C6B80"/>
              </a:solidFill>
            </a:endParaRP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600" dirty="0" err="1">
                <a:solidFill>
                  <a:srgbClr val="5C6B80"/>
                </a:solidFill>
              </a:rPr>
              <a:t>ClusterOperators</a:t>
            </a:r>
            <a:r>
              <a:rPr lang="en-US" sz="1600" dirty="0">
                <a:solidFill>
                  <a:srgbClr val="5C6B80"/>
                </a:solidFill>
              </a:rPr>
              <a:t> Status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600" dirty="0" err="1">
                <a:solidFill>
                  <a:srgbClr val="5C6B80"/>
                </a:solidFill>
              </a:rPr>
              <a:t>MachineConfigPool</a:t>
            </a:r>
            <a:r>
              <a:rPr lang="en-US" sz="1600" dirty="0">
                <a:solidFill>
                  <a:srgbClr val="5C6B80"/>
                </a:solidFill>
              </a:rPr>
              <a:t> Status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600" dirty="0">
                <a:solidFill>
                  <a:srgbClr val="5C6B80"/>
                </a:solidFill>
              </a:rPr>
              <a:t>Node Readiness &amp; Version</a:t>
            </a: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600" dirty="0">
                <a:solidFill>
                  <a:srgbClr val="5C6B80"/>
                </a:solidFill>
              </a:rPr>
              <a:t>Node Pressures &amp; </a:t>
            </a:r>
            <a:r>
              <a:rPr lang="en-US" sz="1600" dirty="0" err="1">
                <a:solidFill>
                  <a:srgbClr val="5C6B80"/>
                </a:solidFill>
              </a:rPr>
              <a:t>Schedulability</a:t>
            </a:r>
            <a:endParaRPr lang="en-US" sz="1600" dirty="0">
              <a:solidFill>
                <a:srgbClr val="5C6B80"/>
              </a:solidFill>
            </a:endParaRP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600" dirty="0" err="1">
                <a:solidFill>
                  <a:srgbClr val="5C6B80"/>
                </a:solidFill>
              </a:rPr>
              <a:t>etcd</a:t>
            </a:r>
            <a:r>
              <a:rPr lang="en-US" sz="1600" dirty="0">
                <a:solidFill>
                  <a:srgbClr val="5C6B80"/>
                </a:solidFill>
              </a:rPr>
              <a:t> Cluster Health</a:t>
            </a:r>
          </a:p>
        </p:txBody>
      </p:sp>
      <p:sp>
        <p:nvSpPr>
          <p:cNvPr id="20" name="Text 18"/>
          <p:cNvSpPr/>
          <p:nvPr/>
        </p:nvSpPr>
        <p:spPr>
          <a:xfrm>
            <a:off x="4683760" y="374904"/>
            <a:ext cx="2824480" cy="429768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HARD GATES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82B5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Technical Walkthrough: Upgrade Initiation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85216" y="9418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80"/>
                </a:solidFill>
              </a:rPr>
              <a:t>Inspect the update path, select the channel, trigger the supported target, and monitor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21792" y="1371600"/>
            <a:ext cx="7315200" cy="5047488"/>
          </a:xfrm>
          <a:prstGeom prst="roundRect">
            <a:avLst/>
          </a:prstGeom>
          <a:solidFill>
            <a:srgbClr val="0B1628"/>
          </a:solidFill>
          <a:ln w="12700">
            <a:solidFill>
              <a:srgbClr val="1F355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183880" y="1371600"/>
            <a:ext cx="3337560" cy="1127760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8183880" y="1371600"/>
            <a:ext cx="64008" cy="1127760"/>
          </a:xfrm>
          <a:prstGeom prst="rect">
            <a:avLst/>
          </a:prstGeom>
          <a:solidFill>
            <a:srgbClr val="E19A00"/>
          </a:solidFill>
          <a:ln w="12700">
            <a:solidFill>
              <a:srgbClr val="E19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403336" y="1536192"/>
            <a:ext cx="2953512" cy="181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Upgrade command used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0" y="1993393"/>
            <a:ext cx="2880360" cy="236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oc</a:t>
            </a:r>
            <a:r>
              <a:rPr lang="en-US" sz="1250" dirty="0">
                <a:solidFill>
                  <a:srgbClr val="5C6B80"/>
                </a:solidFill>
              </a:rPr>
              <a:t> </a:t>
            </a:r>
            <a:r>
              <a:rPr lang="en-US" sz="1250" dirty="0" err="1">
                <a:solidFill>
                  <a:srgbClr val="5C6B80"/>
                </a:solidFill>
              </a:rPr>
              <a:t>adm</a:t>
            </a:r>
            <a:r>
              <a:rPr lang="en-US" sz="1250" dirty="0">
                <a:solidFill>
                  <a:srgbClr val="5C6B80"/>
                </a:solidFill>
              </a:rPr>
              <a:t> upgrade --to={{ </a:t>
            </a:r>
            <a:r>
              <a:rPr lang="en-US" sz="1250" dirty="0" err="1">
                <a:solidFill>
                  <a:srgbClr val="5C6B80"/>
                </a:solidFill>
              </a:rPr>
              <a:t>target_version</a:t>
            </a:r>
            <a:r>
              <a:rPr lang="en-US" sz="1250" dirty="0">
                <a:solidFill>
                  <a:srgbClr val="5C6B80"/>
                </a:solidFill>
              </a:rPr>
              <a:t> }}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02168" y="2740446"/>
            <a:ext cx="3337560" cy="2936453"/>
          </a:xfrm>
          <a:prstGeom prst="roundRect">
            <a:avLst>
              <a:gd name="adj" fmla="val 3162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8202168" y="2740446"/>
            <a:ext cx="64008" cy="2936453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421624" y="2905039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Guardrails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430768" y="3225080"/>
            <a:ext cx="2880360" cy="2261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Confirm target version.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Logged in session check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Upgrade channel verify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Blockers verify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Initiate Upgrade</a:t>
            </a:r>
          </a:p>
        </p:txBody>
      </p:sp>
      <p:sp>
        <p:nvSpPr>
          <p:cNvPr id="14" name="Text 12"/>
          <p:cNvSpPr/>
          <p:nvPr/>
        </p:nvSpPr>
        <p:spPr>
          <a:xfrm>
            <a:off x="566928" y="619963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7B8798"/>
                </a:solidFill>
              </a:rPr>
              <a:t>Reference: Red Hat OpenShift Container Platform 4.14, Updating clusters, Chapter 3.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DE6F265-9222-4799-3F19-5771D1750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233" y="1682449"/>
            <a:ext cx="6709529" cy="439831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36477-C4E0-D784-4E3F-34FE2843C6EC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BFC2E71-0F70-CAD0-584D-7E0D232F7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" y="132080"/>
            <a:ext cx="10952480" cy="6378448"/>
          </a:xfrm>
          <a:prstGeom prst="rect">
            <a:avLst/>
          </a:prstGeom>
        </p:spPr>
      </p:pic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A056129C-0CA6-CBD8-0F8C-D7BC6A0CE2E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3980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D0610-6F63-AFE5-4479-065D736C72B4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0" name="Shape 18">
            <a:extLst>
              <a:ext uri="{FF2B5EF4-FFF2-40B4-BE49-F238E27FC236}">
                <a16:creationId xmlns:a16="http://schemas.microsoft.com/office/drawing/2014/main" id="{F6A2FCFF-D8B2-936D-9E88-5EE14AE8A35E}"/>
              </a:ext>
            </a:extLst>
          </p:cNvPr>
          <p:cNvSpPr/>
          <p:nvPr/>
        </p:nvSpPr>
        <p:spPr>
          <a:xfrm>
            <a:off x="690372" y="1602339"/>
            <a:ext cx="10788266" cy="3271217"/>
          </a:xfrm>
          <a:prstGeom prst="roundRect">
            <a:avLst>
              <a:gd name="adj" fmla="val 8333"/>
            </a:avLst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14C7794-F395-BF32-E289-56EB598BEEA8}"/>
              </a:ext>
            </a:extLst>
          </p:cNvPr>
          <p:cNvSpPr/>
          <p:nvPr/>
        </p:nvSpPr>
        <p:spPr>
          <a:xfrm>
            <a:off x="617900" y="2163432"/>
            <a:ext cx="10883727" cy="1834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THANK YOU</a:t>
            </a:r>
            <a:br>
              <a:rPr lang="en-US" sz="3200" b="1" dirty="0">
                <a:solidFill>
                  <a:srgbClr val="FFFFFF"/>
                </a:solidFill>
              </a:rPr>
            </a:br>
            <a:br>
              <a:rPr lang="en-US" sz="1450" b="1" dirty="0">
                <a:solidFill>
                  <a:srgbClr val="FFFFFF"/>
                </a:solidFill>
              </a:rPr>
            </a:br>
            <a:r>
              <a:rPr lang="en-US" sz="1450" b="1" dirty="0">
                <a:solidFill>
                  <a:srgbClr val="FFFFFF"/>
                </a:solidFill>
              </a:rPr>
              <a:t>Any Questions ?</a:t>
            </a:r>
            <a:endParaRPr lang="en-US" sz="145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B54F0309-86B8-98A9-6236-E1B543BC698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610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601</TotalTime>
  <Words>1384</Words>
  <Application>Microsoft Office PowerPoint</Application>
  <PresentationFormat>Widescreen</PresentationFormat>
  <Paragraphs>184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Client Presentation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ARO Cluster Upgrade Automation</dc:title>
  <dc:subject>ARO Cluster Upgrade Automation</dc:subject>
  <dc:creator>Kispotta, Ravikant</dc:creator>
  <cp:lastModifiedBy>Kispotta, Ravikant</cp:lastModifiedBy>
  <cp:revision>28</cp:revision>
  <dcterms:created xsi:type="dcterms:W3CDTF">2026-09-11T13:48:16Z</dcterms:created>
  <dcterms:modified xsi:type="dcterms:W3CDTF">2026-09-15T13:52:05Z</dcterms:modified>
</cp:coreProperties>
</file>