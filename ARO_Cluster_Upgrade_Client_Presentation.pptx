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65" r:id="rId4"/>
    <p:sldId id="259" r:id="rId5"/>
    <p:sldId id="261" r:id="rId6"/>
    <p:sldId id="258" r:id="rId7"/>
    <p:sldId id="266" r:id="rId8"/>
    <p:sldId id="260" r:id="rId9"/>
    <p:sldId id="268" r:id="rId10"/>
    <p:sldId id="262" r:id="rId11"/>
    <p:sldId id="267" r:id="rId12"/>
    <p:sldId id="263" r:id="rId13"/>
    <p:sldId id="264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9" d="100"/>
          <a:sy n="89" d="100"/>
        </p:scale>
        <p:origin x="437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9/13/2026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User-provided Documentation.md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User-provided Documentation.md, sections 1, 3, 4.14 and 5.1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8ADDC6-C55B-C44E-557B-276E8F09AA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7611D9-C6EA-E03B-2FD9-DD3DA8058A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36A294-DCAD-E8D1-7C64-31A1F56B06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User-provided Documentation.md, sections 1, 3, 4.14 and 5.1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E0B0FB-9D62-F551-67A0-CF00842E27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5981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User-provided workflow image: cluster_upgrade_phases_minimal.jpg
User-provided Documentation.md, phase descriptions 01 through 06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the shell wrapper name, inventory path, and variable names with exact values from the repository.,The commands on this slide are a base template, not a claim about the current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User-provided Documentation.md, sections 1, 2 and 4.14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D63AF-98A8-8E81-C2D5-E20247480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9FA683-6D58-D722-353E-75012B7E42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55E600-4E1F-901E-A1F9-5B49E5D9EE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User-provided workflow image: cluster_upgrade_phases_minimal.jpg
User-provided Documentation.md, phase descriptions 01 through 06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6659F0-96CE-4D3B-3EF7-5480C51E8C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2784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User-provided Documentation.md, Units 06, 07, 08a, 09 and section 5.1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which checks stop execution and which checks generate warnings.,[Sources],- https://docs.redhat.com/en/documentation/openshift_container_platform/4.14/html/updating_clusters/preparing-to-update-a-cluster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 actual channel and target returned for the cluster during the demo.,[Sources],- https://docs.redhat.com/en/documentation/openshift_container_platform/4.14/html/updating_clusters/performing-a-cluster-update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8BDB7-45EA-03DA-F12F-4CB39ACDF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55EEEA-4C90-7C94-C124-4DDDD0F4DB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CE9DF2-D24F-5EDA-4BFE-3CE73EFDA2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User-provided workflow image: cluster_upgrade_phases_minimal.jpg
User-provided Documentation.md, phase descriptions 01 through 06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79A0A2-A85F-8221-29F3-90E92F2840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67191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User-provided Documentation.md, Verification &amp; Testing, Unit 17 and section 5 Next Steps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92316-773B-1C72-4E0A-C5ADDB796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6D85D0-8476-9AA9-8500-89608EF8F0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9AF388-2C98-6169-BC2B-73678AC7AB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User-provided Documentation.md, Verification &amp; Testing, Unit 17 and section 5 Next Steps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A92D07-4F44-3D8D-2007-BB05F9C5C0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029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2A4A"/>
          </a:solidFill>
          <a:ln w="12700">
            <a:solidFill>
              <a:srgbClr val="0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6528816"/>
            <a:ext cx="5943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274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ARO Cluster Upgrade Automation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875520" y="6528816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274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 OVERVIEW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2748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2748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Shape 0"/>
          <p:cNvSpPr/>
          <p:nvPr/>
        </p:nvSpPr>
        <p:spPr>
          <a:xfrm>
            <a:off x="0" y="109728"/>
            <a:ext cx="4069080" cy="6382512"/>
          </a:xfrm>
          <a:prstGeom prst="rect">
            <a:avLst/>
          </a:prstGeom>
          <a:solidFill>
            <a:srgbClr val="0B2A4A"/>
          </a:solidFill>
          <a:ln w="12700">
            <a:solidFill>
              <a:srgbClr val="0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</a:rPr>
              <a:t>ARO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94360" y="1417320"/>
            <a:ext cx="2971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</a:rPr>
              <a:t>CLUSTER UPGRADE</a:t>
            </a:r>
            <a:endParaRPr lang="en-US" sz="2700" dirty="0"/>
          </a:p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</a:rPr>
              <a:t>AUTOMATION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48640" y="3016744"/>
            <a:ext cx="2971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9D8E6"/>
                </a:solidFill>
              </a:rPr>
              <a:t>Deterministic, guarded and auditable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C9D8E6"/>
                </a:solidFill>
              </a:rPr>
              <a:t>OpenShift upgrade orchestration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1792" y="4069080"/>
            <a:ext cx="1572768" cy="320040"/>
          </a:xfrm>
          <a:prstGeom prst="roundRect">
            <a:avLst>
              <a:gd name="adj" fmla="val 22857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94944" y="4133088"/>
            <a:ext cx="14264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 err="1">
                <a:solidFill>
                  <a:srgbClr val="FFFFFF"/>
                </a:solidFill>
              </a:rPr>
              <a:t>MPS_OpenShift_OPS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21792" y="4507992"/>
            <a:ext cx="1572768" cy="320040"/>
          </a:xfrm>
          <a:prstGeom prst="roundRect">
            <a:avLst>
              <a:gd name="adj" fmla="val 22857"/>
            </a:avLst>
          </a:prstGeom>
          <a:solidFill>
            <a:srgbClr val="1379B8"/>
          </a:solidFill>
          <a:ln w="12700">
            <a:solidFill>
              <a:srgbClr val="1379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94944" y="4572000"/>
            <a:ext cx="14264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ONE-TOUCH FLOW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617720" y="109728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42033"/>
                </a:solidFill>
              </a:rPr>
              <a:t>Project Overview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645152" y="1755648"/>
            <a:ext cx="6355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2748A"/>
                </a:solidFill>
              </a:rPr>
              <a:t>Sequential Y-stream/ Z-stream upgrades with policy gates, live monitoring, validation, reporting and guaranteed session teardown.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645152" y="3017520"/>
            <a:ext cx="6217920" cy="1"/>
          </a:xfrm>
          <a:prstGeom prst="line">
            <a:avLst/>
          </a:prstGeom>
          <a:noFill/>
          <a:ln w="25400">
            <a:solidFill>
              <a:srgbClr val="1379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2748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</a:t>
            </a:fld>
            <a:endParaRPr lang="en-US"/>
          </a:p>
        </p:txBody>
      </p:sp>
      <p:sp>
        <p:nvSpPr>
          <p:cNvPr id="31" name="Text 6">
            <a:extLst>
              <a:ext uri="{FF2B5EF4-FFF2-40B4-BE49-F238E27FC236}">
                <a16:creationId xmlns:a16="http://schemas.microsoft.com/office/drawing/2014/main" id="{95D200FB-A2D0-70A6-449A-8BBD90B43B65}"/>
              </a:ext>
            </a:extLst>
          </p:cNvPr>
          <p:cNvSpPr/>
          <p:nvPr/>
        </p:nvSpPr>
        <p:spPr>
          <a:xfrm>
            <a:off x="548640" y="6115438"/>
            <a:ext cx="3642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7CEE0"/>
                </a:solidFill>
              </a:rPr>
              <a:t>Prepared by: Ravikant Kispotta  |  September 2026</a:t>
            </a:r>
            <a:endParaRPr lang="en-US" sz="1100" dirty="0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153ECCFC-9353-6EE3-B73B-93C8DBEDC1BE}"/>
              </a:ext>
            </a:extLst>
          </p:cNvPr>
          <p:cNvSpPr/>
          <p:nvPr/>
        </p:nvSpPr>
        <p:spPr>
          <a:xfrm>
            <a:off x="4617720" y="32133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9BCEB"/>
                </a:solidFill>
              </a:rPr>
              <a:t>OpenShift  •  Ansible  •  Azure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2748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  <p:sp>
        <p:nvSpPr>
          <p:cNvPr id="30" name="Text 0">
            <a:extLst>
              <a:ext uri="{FF2B5EF4-FFF2-40B4-BE49-F238E27FC236}">
                <a16:creationId xmlns:a16="http://schemas.microsoft.com/office/drawing/2014/main" id="{D8FD7166-7E9D-9402-7669-FF3D9F4377A9}"/>
              </a:ext>
            </a:extLst>
          </p:cNvPr>
          <p:cNvSpPr/>
          <p:nvPr/>
        </p:nvSpPr>
        <p:spPr>
          <a:xfrm>
            <a:off x="566928" y="438912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82B5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Upgrade Automation Is Required</a:t>
            </a:r>
            <a:endParaRPr lang="en-US" sz="2700" dirty="0"/>
          </a:p>
        </p:txBody>
      </p:sp>
      <p:sp>
        <p:nvSpPr>
          <p:cNvPr id="32" name="Text 1">
            <a:extLst>
              <a:ext uri="{FF2B5EF4-FFF2-40B4-BE49-F238E27FC236}">
                <a16:creationId xmlns:a16="http://schemas.microsoft.com/office/drawing/2014/main" id="{EFCEBDC6-B210-AEA3-F6D0-E947EA2DED9E}"/>
              </a:ext>
            </a:extLst>
          </p:cNvPr>
          <p:cNvSpPr/>
          <p:nvPr/>
        </p:nvSpPr>
        <p:spPr>
          <a:xfrm>
            <a:off x="585216" y="94183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B80"/>
                </a:solidFill>
              </a:rPr>
              <a:t>The operational problem before automation</a:t>
            </a:r>
            <a:endParaRPr lang="en-US" sz="1250" dirty="0"/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B73ED5A3-6808-EDF8-1988-4B343EA5AD26}"/>
              </a:ext>
            </a:extLst>
          </p:cNvPr>
          <p:cNvSpPr/>
          <p:nvPr/>
        </p:nvSpPr>
        <p:spPr>
          <a:xfrm>
            <a:off x="621792" y="1508760"/>
            <a:ext cx="52578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7E1ED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6" name="Shape 3">
            <a:extLst>
              <a:ext uri="{FF2B5EF4-FFF2-40B4-BE49-F238E27FC236}">
                <a16:creationId xmlns:a16="http://schemas.microsoft.com/office/drawing/2014/main" id="{DB5A6B7E-24E8-4E44-A7B8-53045E8F3FD3}"/>
              </a:ext>
            </a:extLst>
          </p:cNvPr>
          <p:cNvSpPr/>
          <p:nvPr/>
        </p:nvSpPr>
        <p:spPr>
          <a:xfrm>
            <a:off x="621792" y="1508760"/>
            <a:ext cx="64008" cy="16002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4">
            <a:extLst>
              <a:ext uri="{FF2B5EF4-FFF2-40B4-BE49-F238E27FC236}">
                <a16:creationId xmlns:a16="http://schemas.microsoft.com/office/drawing/2014/main" id="{ADC33EC1-30BF-2F03-9034-FF72577A8A0F}"/>
              </a:ext>
            </a:extLst>
          </p:cNvPr>
          <p:cNvSpPr/>
          <p:nvPr/>
        </p:nvSpPr>
        <p:spPr>
          <a:xfrm>
            <a:off x="841248" y="1673352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033"/>
                </a:solidFill>
              </a:rPr>
              <a:t>Sequencing risk</a:t>
            </a:r>
            <a:endParaRPr lang="en-US" sz="1700" dirty="0"/>
          </a:p>
        </p:txBody>
      </p:sp>
      <p:sp>
        <p:nvSpPr>
          <p:cNvPr id="40" name="Text 5">
            <a:extLst>
              <a:ext uri="{FF2B5EF4-FFF2-40B4-BE49-F238E27FC236}">
                <a16:creationId xmlns:a16="http://schemas.microsoft.com/office/drawing/2014/main" id="{63BDAF0C-81DD-91B4-F361-1AEB8D7981CE}"/>
              </a:ext>
            </a:extLst>
          </p:cNvPr>
          <p:cNvSpPr/>
          <p:nvPr/>
        </p:nvSpPr>
        <p:spPr>
          <a:xfrm>
            <a:off x="850392" y="2130552"/>
            <a:ext cx="4800600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Manual minor-version hops can be initiated in the wrong order or against the wrong channel.</a:t>
            </a:r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Validate the cluster to be upgraded</a:t>
            </a:r>
            <a:endParaRPr lang="en-US" sz="1250" dirty="0"/>
          </a:p>
        </p:txBody>
      </p:sp>
      <p:sp>
        <p:nvSpPr>
          <p:cNvPr id="42" name="Shape 6">
            <a:extLst>
              <a:ext uri="{FF2B5EF4-FFF2-40B4-BE49-F238E27FC236}">
                <a16:creationId xmlns:a16="http://schemas.microsoft.com/office/drawing/2014/main" id="{5C56CA47-9CBD-08FD-3838-FDF39A79D87B}"/>
              </a:ext>
            </a:extLst>
          </p:cNvPr>
          <p:cNvSpPr/>
          <p:nvPr/>
        </p:nvSpPr>
        <p:spPr>
          <a:xfrm>
            <a:off x="6245352" y="1508760"/>
            <a:ext cx="52578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7E1ED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44" name="Shape 7">
            <a:extLst>
              <a:ext uri="{FF2B5EF4-FFF2-40B4-BE49-F238E27FC236}">
                <a16:creationId xmlns:a16="http://schemas.microsoft.com/office/drawing/2014/main" id="{9A7D7B18-EC47-39E0-2DD2-7C587F0B8211}"/>
              </a:ext>
            </a:extLst>
          </p:cNvPr>
          <p:cNvSpPr/>
          <p:nvPr/>
        </p:nvSpPr>
        <p:spPr>
          <a:xfrm>
            <a:off x="6245352" y="1508760"/>
            <a:ext cx="64008" cy="1600200"/>
          </a:xfrm>
          <a:prstGeom prst="rect">
            <a:avLst/>
          </a:prstGeom>
          <a:solidFill>
            <a:srgbClr val="146DB3"/>
          </a:solidFill>
          <a:ln w="12700">
            <a:solidFill>
              <a:srgbClr val="146DB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8">
            <a:extLst>
              <a:ext uri="{FF2B5EF4-FFF2-40B4-BE49-F238E27FC236}">
                <a16:creationId xmlns:a16="http://schemas.microsoft.com/office/drawing/2014/main" id="{76AA5D92-B539-B691-9BDE-177FF3BD6196}"/>
              </a:ext>
            </a:extLst>
          </p:cNvPr>
          <p:cNvSpPr/>
          <p:nvPr/>
        </p:nvSpPr>
        <p:spPr>
          <a:xfrm>
            <a:off x="6464808" y="1673352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033"/>
                </a:solidFill>
              </a:rPr>
              <a:t>Repeated validation</a:t>
            </a:r>
            <a:endParaRPr lang="en-US" sz="1700" dirty="0"/>
          </a:p>
        </p:txBody>
      </p:sp>
      <p:sp>
        <p:nvSpPr>
          <p:cNvPr id="48" name="Text 9">
            <a:extLst>
              <a:ext uri="{FF2B5EF4-FFF2-40B4-BE49-F238E27FC236}">
                <a16:creationId xmlns:a16="http://schemas.microsoft.com/office/drawing/2014/main" id="{BF1127D2-6693-0A08-8E21-4D78F7445D09}"/>
              </a:ext>
            </a:extLst>
          </p:cNvPr>
          <p:cNvSpPr/>
          <p:nvPr/>
        </p:nvSpPr>
        <p:spPr>
          <a:xfrm>
            <a:off x="6473952" y="2130552"/>
            <a:ext cx="4800600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Cluster health, operators, MCPs, and nodes must be checked throughout the lifecycle.</a:t>
            </a:r>
            <a:endParaRPr lang="en-US" sz="1250" dirty="0"/>
          </a:p>
        </p:txBody>
      </p:sp>
      <p:sp>
        <p:nvSpPr>
          <p:cNvPr id="50" name="Shape 10">
            <a:extLst>
              <a:ext uri="{FF2B5EF4-FFF2-40B4-BE49-F238E27FC236}">
                <a16:creationId xmlns:a16="http://schemas.microsoft.com/office/drawing/2014/main" id="{51F1F7C2-5DEF-D24B-9B6D-D16F75FD0FFB}"/>
              </a:ext>
            </a:extLst>
          </p:cNvPr>
          <p:cNvSpPr/>
          <p:nvPr/>
        </p:nvSpPr>
        <p:spPr>
          <a:xfrm>
            <a:off x="621792" y="3566160"/>
            <a:ext cx="52578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7E1ED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52" name="Shape 11">
            <a:extLst>
              <a:ext uri="{FF2B5EF4-FFF2-40B4-BE49-F238E27FC236}">
                <a16:creationId xmlns:a16="http://schemas.microsoft.com/office/drawing/2014/main" id="{33BC4F88-EE53-40A1-5D7B-338AD56030C3}"/>
              </a:ext>
            </a:extLst>
          </p:cNvPr>
          <p:cNvSpPr/>
          <p:nvPr/>
        </p:nvSpPr>
        <p:spPr>
          <a:xfrm>
            <a:off x="621792" y="3566160"/>
            <a:ext cx="64008" cy="1600200"/>
          </a:xfrm>
          <a:prstGeom prst="rect">
            <a:avLst/>
          </a:prstGeom>
          <a:solidFill>
            <a:srgbClr val="E19A00"/>
          </a:solidFill>
          <a:ln w="12700">
            <a:solidFill>
              <a:srgbClr val="E19A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12">
            <a:extLst>
              <a:ext uri="{FF2B5EF4-FFF2-40B4-BE49-F238E27FC236}">
                <a16:creationId xmlns:a16="http://schemas.microsoft.com/office/drawing/2014/main" id="{8FCC17CD-09CB-BB94-DC0F-288A339C0672}"/>
              </a:ext>
            </a:extLst>
          </p:cNvPr>
          <p:cNvSpPr/>
          <p:nvPr/>
        </p:nvSpPr>
        <p:spPr>
          <a:xfrm>
            <a:off x="841248" y="3730752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033"/>
                </a:solidFill>
              </a:rPr>
              <a:t>Monitoring effort</a:t>
            </a:r>
            <a:endParaRPr lang="en-US" sz="1700" dirty="0"/>
          </a:p>
        </p:txBody>
      </p:sp>
      <p:sp>
        <p:nvSpPr>
          <p:cNvPr id="56" name="Text 13">
            <a:extLst>
              <a:ext uri="{FF2B5EF4-FFF2-40B4-BE49-F238E27FC236}">
                <a16:creationId xmlns:a16="http://schemas.microsoft.com/office/drawing/2014/main" id="{5E0C93F3-1744-F48B-4319-BB525F042110}"/>
              </a:ext>
            </a:extLst>
          </p:cNvPr>
          <p:cNvSpPr/>
          <p:nvPr/>
        </p:nvSpPr>
        <p:spPr>
          <a:xfrm>
            <a:off x="850392" y="4187952"/>
            <a:ext cx="4800600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Long-running upgrade hops require continuous status checks and escalation.</a:t>
            </a:r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Quick Notification if any Issue occurred while upgrade for faster remediation.</a:t>
            </a:r>
            <a:endParaRPr lang="en-US" sz="1250" dirty="0"/>
          </a:p>
        </p:txBody>
      </p:sp>
      <p:sp>
        <p:nvSpPr>
          <p:cNvPr id="58" name="Shape 14">
            <a:extLst>
              <a:ext uri="{FF2B5EF4-FFF2-40B4-BE49-F238E27FC236}">
                <a16:creationId xmlns:a16="http://schemas.microsoft.com/office/drawing/2014/main" id="{973DCF79-B76D-95F1-A619-158D830F7503}"/>
              </a:ext>
            </a:extLst>
          </p:cNvPr>
          <p:cNvSpPr/>
          <p:nvPr/>
        </p:nvSpPr>
        <p:spPr>
          <a:xfrm>
            <a:off x="6245352" y="3566160"/>
            <a:ext cx="52578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7E1ED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60" name="Shape 15">
            <a:extLst>
              <a:ext uri="{FF2B5EF4-FFF2-40B4-BE49-F238E27FC236}">
                <a16:creationId xmlns:a16="http://schemas.microsoft.com/office/drawing/2014/main" id="{4F61EE19-87EF-197F-77EA-1162A54049E5}"/>
              </a:ext>
            </a:extLst>
          </p:cNvPr>
          <p:cNvSpPr/>
          <p:nvPr/>
        </p:nvSpPr>
        <p:spPr>
          <a:xfrm>
            <a:off x="6245352" y="3566160"/>
            <a:ext cx="64008" cy="1600200"/>
          </a:xfrm>
          <a:prstGeom prst="rect">
            <a:avLst/>
          </a:prstGeom>
          <a:solidFill>
            <a:srgbClr val="082B55"/>
          </a:solidFill>
          <a:ln w="12700">
            <a:solidFill>
              <a:srgbClr val="082B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16">
            <a:extLst>
              <a:ext uri="{FF2B5EF4-FFF2-40B4-BE49-F238E27FC236}">
                <a16:creationId xmlns:a16="http://schemas.microsoft.com/office/drawing/2014/main" id="{5F604F09-BADB-5DCC-C4A7-40DD8DA1D629}"/>
              </a:ext>
            </a:extLst>
          </p:cNvPr>
          <p:cNvSpPr/>
          <p:nvPr/>
        </p:nvSpPr>
        <p:spPr>
          <a:xfrm>
            <a:off x="6464808" y="3730752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033"/>
                </a:solidFill>
              </a:rPr>
              <a:t>Fragmented evidence</a:t>
            </a:r>
            <a:endParaRPr lang="en-US" sz="1700" dirty="0"/>
          </a:p>
        </p:txBody>
      </p:sp>
      <p:sp>
        <p:nvSpPr>
          <p:cNvPr id="64" name="Text 17">
            <a:extLst>
              <a:ext uri="{FF2B5EF4-FFF2-40B4-BE49-F238E27FC236}">
                <a16:creationId xmlns:a16="http://schemas.microsoft.com/office/drawing/2014/main" id="{E7671ED4-C34E-3047-FD8C-E584DCE52A32}"/>
              </a:ext>
            </a:extLst>
          </p:cNvPr>
          <p:cNvSpPr/>
          <p:nvPr/>
        </p:nvSpPr>
        <p:spPr>
          <a:xfrm>
            <a:off x="6473952" y="4187952"/>
            <a:ext cx="4800600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Terminal output, snapshots, and reports can be inconsistent or difficult to audit.</a:t>
            </a:r>
            <a:endParaRPr lang="en-US" sz="1250" dirty="0"/>
          </a:p>
        </p:txBody>
      </p:sp>
      <p:sp>
        <p:nvSpPr>
          <p:cNvPr id="66" name="Shape 18">
            <a:extLst>
              <a:ext uri="{FF2B5EF4-FFF2-40B4-BE49-F238E27FC236}">
                <a16:creationId xmlns:a16="http://schemas.microsoft.com/office/drawing/2014/main" id="{F5CEDDD5-4ACB-7713-8C90-85371744372F}"/>
              </a:ext>
            </a:extLst>
          </p:cNvPr>
          <p:cNvSpPr/>
          <p:nvPr/>
        </p:nvSpPr>
        <p:spPr>
          <a:xfrm>
            <a:off x="1234440" y="5715000"/>
            <a:ext cx="9738360" cy="438912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ECD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19">
            <a:extLst>
              <a:ext uri="{FF2B5EF4-FFF2-40B4-BE49-F238E27FC236}">
                <a16:creationId xmlns:a16="http://schemas.microsoft.com/office/drawing/2014/main" id="{AF8A9DA0-3519-A0B3-EE0B-DF5C475179C4}"/>
              </a:ext>
            </a:extLst>
          </p:cNvPr>
          <p:cNvSpPr/>
          <p:nvPr/>
        </p:nvSpPr>
        <p:spPr>
          <a:xfrm>
            <a:off x="1417320" y="5815584"/>
            <a:ext cx="9372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8102E"/>
                </a:solidFill>
              </a:rPr>
              <a:t>Manual execution increases inconsistency, sequencing risk, and audit effort.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6B84C5-E12E-D62A-F2E9-CE644A359337}"/>
            </a:ext>
          </a:extLst>
        </p:cNvPr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8" name="Slide Number Placeholder 0">
            <a:extLst>
              <a:ext uri="{FF2B5EF4-FFF2-40B4-BE49-F238E27FC236}">
                <a16:creationId xmlns:a16="http://schemas.microsoft.com/office/drawing/2014/main" id="{14705B65-1874-1230-9746-02EF945F8C0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7043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2748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E9DD4B20-C793-9600-A45C-D6175D1BEDFD}"/>
              </a:ext>
            </a:extLst>
          </p:cNvPr>
          <p:cNvSpPr/>
          <p:nvPr/>
        </p:nvSpPr>
        <p:spPr>
          <a:xfrm>
            <a:off x="566928" y="438912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82B5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Project Objective and Scope</a:t>
            </a:r>
            <a:endParaRPr lang="en-US" sz="2700" dirty="0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1A961E7C-E930-E453-534D-69CC72AFC799}"/>
              </a:ext>
            </a:extLst>
          </p:cNvPr>
          <p:cNvSpPr/>
          <p:nvPr/>
        </p:nvSpPr>
        <p:spPr>
          <a:xfrm>
            <a:off x="585216" y="94183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B80"/>
                </a:solidFill>
              </a:rPr>
              <a:t>A deterministic framework for supported ARO upgrade paths</a:t>
            </a:r>
            <a:endParaRPr lang="en-US" sz="1250" dirty="0"/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5D172ABD-C74A-4C50-F9DF-5276372B4CF3}"/>
              </a:ext>
            </a:extLst>
          </p:cNvPr>
          <p:cNvSpPr/>
          <p:nvPr/>
        </p:nvSpPr>
        <p:spPr>
          <a:xfrm>
            <a:off x="658368" y="1444752"/>
            <a:ext cx="3703320" cy="4389120"/>
          </a:xfrm>
          <a:prstGeom prst="roundRect">
            <a:avLst>
              <a:gd name="adj" fmla="val 1975"/>
            </a:avLst>
          </a:prstGeom>
          <a:solidFill>
            <a:srgbClr val="FFFFFF"/>
          </a:solidFill>
          <a:ln w="12700">
            <a:solidFill>
              <a:srgbClr val="D7E1ED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9" name="Shape 3">
            <a:extLst>
              <a:ext uri="{FF2B5EF4-FFF2-40B4-BE49-F238E27FC236}">
                <a16:creationId xmlns:a16="http://schemas.microsoft.com/office/drawing/2014/main" id="{B50C2DE4-5C59-D814-E650-910300A36C11}"/>
              </a:ext>
            </a:extLst>
          </p:cNvPr>
          <p:cNvSpPr/>
          <p:nvPr/>
        </p:nvSpPr>
        <p:spPr>
          <a:xfrm>
            <a:off x="658368" y="1444752"/>
            <a:ext cx="64008" cy="43891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4">
            <a:extLst>
              <a:ext uri="{FF2B5EF4-FFF2-40B4-BE49-F238E27FC236}">
                <a16:creationId xmlns:a16="http://schemas.microsoft.com/office/drawing/2014/main" id="{030D1E49-271A-D503-B19E-6328AA283953}"/>
              </a:ext>
            </a:extLst>
          </p:cNvPr>
          <p:cNvSpPr/>
          <p:nvPr/>
        </p:nvSpPr>
        <p:spPr>
          <a:xfrm>
            <a:off x="877824" y="1609344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033"/>
                </a:solidFill>
              </a:rPr>
              <a:t>Objective</a:t>
            </a:r>
            <a:endParaRPr lang="en-US" sz="1700" dirty="0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5119F1A0-F1AB-27C8-58A8-35C16277DE1F}"/>
              </a:ext>
            </a:extLst>
          </p:cNvPr>
          <p:cNvSpPr/>
          <p:nvPr/>
        </p:nvSpPr>
        <p:spPr>
          <a:xfrm>
            <a:off x="886968" y="2066544"/>
            <a:ext cx="3246120" cy="3639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Build a rule-based framework that executes safe, repeatable ARO cluster upgrades through supported OpenShift version hops.</a:t>
            </a:r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Reduce manual effort</a:t>
            </a:r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Prevent incorrect upgrade sequencing</a:t>
            </a:r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Detect issues before upgrade initiation</a:t>
            </a:r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Provide continuous monitoring</a:t>
            </a:r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Reduce human error</a:t>
            </a:r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Improve failure handling</a:t>
            </a:r>
          </a:p>
        </p:txBody>
      </p:sp>
      <p:sp>
        <p:nvSpPr>
          <p:cNvPr id="15" name="Shape 6">
            <a:extLst>
              <a:ext uri="{FF2B5EF4-FFF2-40B4-BE49-F238E27FC236}">
                <a16:creationId xmlns:a16="http://schemas.microsoft.com/office/drawing/2014/main" id="{CADF144C-7CC1-0EAB-FEF1-43D5D723EC41}"/>
              </a:ext>
            </a:extLst>
          </p:cNvPr>
          <p:cNvSpPr/>
          <p:nvPr/>
        </p:nvSpPr>
        <p:spPr>
          <a:xfrm>
            <a:off x="4553712" y="1444752"/>
            <a:ext cx="3310128" cy="4389120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12700">
            <a:solidFill>
              <a:srgbClr val="D7E1ED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7" name="Shape 7">
            <a:extLst>
              <a:ext uri="{FF2B5EF4-FFF2-40B4-BE49-F238E27FC236}">
                <a16:creationId xmlns:a16="http://schemas.microsoft.com/office/drawing/2014/main" id="{3A447C88-4B40-0F1F-2034-9F44DAF33C99}"/>
              </a:ext>
            </a:extLst>
          </p:cNvPr>
          <p:cNvSpPr/>
          <p:nvPr/>
        </p:nvSpPr>
        <p:spPr>
          <a:xfrm>
            <a:off x="4553712" y="1444752"/>
            <a:ext cx="64008" cy="4389120"/>
          </a:xfrm>
          <a:prstGeom prst="rect">
            <a:avLst/>
          </a:prstGeom>
          <a:solidFill>
            <a:srgbClr val="146DB3"/>
          </a:solidFill>
          <a:ln w="12700">
            <a:solidFill>
              <a:srgbClr val="146DB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8">
            <a:extLst>
              <a:ext uri="{FF2B5EF4-FFF2-40B4-BE49-F238E27FC236}">
                <a16:creationId xmlns:a16="http://schemas.microsoft.com/office/drawing/2014/main" id="{779772F4-49B3-349F-5D3E-2ECE8FD5C992}"/>
              </a:ext>
            </a:extLst>
          </p:cNvPr>
          <p:cNvSpPr/>
          <p:nvPr/>
        </p:nvSpPr>
        <p:spPr>
          <a:xfrm>
            <a:off x="4773168" y="1609344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033"/>
                </a:solidFill>
              </a:rPr>
              <a:t>In Scope</a:t>
            </a:r>
            <a:endParaRPr lang="en-US" sz="1700" dirty="0"/>
          </a:p>
        </p:txBody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F8CC65B5-99C3-497E-A251-934CB651F868}"/>
              </a:ext>
            </a:extLst>
          </p:cNvPr>
          <p:cNvSpPr/>
          <p:nvPr/>
        </p:nvSpPr>
        <p:spPr>
          <a:xfrm>
            <a:off x="4782312" y="2066544"/>
            <a:ext cx="2852928" cy="3639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Phase-based execution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Pre-upgrade policy validation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Cluster health checks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Sequential upgrade hops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Live monitoring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Postvalidation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Operator upgrade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Reporting</a:t>
            </a:r>
            <a:endParaRPr lang="en-US" sz="1250" dirty="0"/>
          </a:p>
        </p:txBody>
      </p:sp>
      <p:sp>
        <p:nvSpPr>
          <p:cNvPr id="23" name="Shape 10">
            <a:extLst>
              <a:ext uri="{FF2B5EF4-FFF2-40B4-BE49-F238E27FC236}">
                <a16:creationId xmlns:a16="http://schemas.microsoft.com/office/drawing/2014/main" id="{65130359-6C28-AAC6-278B-49B3A182AF40}"/>
              </a:ext>
            </a:extLst>
          </p:cNvPr>
          <p:cNvSpPr/>
          <p:nvPr/>
        </p:nvSpPr>
        <p:spPr>
          <a:xfrm>
            <a:off x="8065008" y="1444752"/>
            <a:ext cx="3474720" cy="43891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7E1ED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5" name="Shape 11">
            <a:extLst>
              <a:ext uri="{FF2B5EF4-FFF2-40B4-BE49-F238E27FC236}">
                <a16:creationId xmlns:a16="http://schemas.microsoft.com/office/drawing/2014/main" id="{133EBBBE-1A37-36D6-F27F-87AA46790918}"/>
              </a:ext>
            </a:extLst>
          </p:cNvPr>
          <p:cNvSpPr/>
          <p:nvPr/>
        </p:nvSpPr>
        <p:spPr>
          <a:xfrm>
            <a:off x="8065008" y="1444752"/>
            <a:ext cx="64008" cy="438912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12">
            <a:extLst>
              <a:ext uri="{FF2B5EF4-FFF2-40B4-BE49-F238E27FC236}">
                <a16:creationId xmlns:a16="http://schemas.microsoft.com/office/drawing/2014/main" id="{92012B48-BEE3-26C3-B7DD-FCB18DA30552}"/>
              </a:ext>
            </a:extLst>
          </p:cNvPr>
          <p:cNvSpPr/>
          <p:nvPr/>
        </p:nvSpPr>
        <p:spPr>
          <a:xfrm>
            <a:off x="8284464" y="1609344"/>
            <a:ext cx="3090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033"/>
                </a:solidFill>
              </a:rPr>
              <a:t>Design Principles</a:t>
            </a:r>
            <a:endParaRPr lang="en-US" sz="1700" dirty="0"/>
          </a:p>
        </p:txBody>
      </p:sp>
      <p:sp>
        <p:nvSpPr>
          <p:cNvPr id="31" name="Text 13">
            <a:extLst>
              <a:ext uri="{FF2B5EF4-FFF2-40B4-BE49-F238E27FC236}">
                <a16:creationId xmlns:a16="http://schemas.microsoft.com/office/drawing/2014/main" id="{6DF22759-7D22-315B-A4DC-16036B4B3674}"/>
              </a:ext>
            </a:extLst>
          </p:cNvPr>
          <p:cNvSpPr/>
          <p:nvPr/>
        </p:nvSpPr>
        <p:spPr>
          <a:xfrm>
            <a:off x="8293608" y="2066544"/>
            <a:ext cx="3017520" cy="3639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Deterministic execution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automation in the runtime path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Fail-closed hard gates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Explicit warning gates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Auditable evidence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Reusable Ansible roles</a:t>
            </a:r>
            <a:endParaRPr lang="en-US" sz="1250" dirty="0"/>
          </a:p>
        </p:txBody>
      </p:sp>
    </p:spTree>
    <p:extLst>
      <p:ext uri="{BB962C8B-B14F-4D97-AF65-F5344CB8AC3E}">
        <p14:creationId xmlns:p14="http://schemas.microsoft.com/office/powerpoint/2010/main" val="15256783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2748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94EF7AA-8F02-C69D-C081-03561AF6EF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547" y="129687"/>
            <a:ext cx="11616906" cy="638570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66928" y="438912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82B5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Technical Walkthrough: Phase Initiation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85216" y="94183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B80"/>
                </a:solidFill>
              </a:rPr>
              <a:t>All the phases (1-6) are initiated through </a:t>
            </a:r>
            <a:r>
              <a:rPr lang="en-US" sz="1250" dirty="0" err="1">
                <a:solidFill>
                  <a:srgbClr val="5C6B80"/>
                </a:solidFill>
              </a:rPr>
              <a:t>main.yaml</a:t>
            </a:r>
            <a:r>
              <a:rPr lang="en-US" sz="1250" dirty="0">
                <a:solidFill>
                  <a:srgbClr val="5C6B80"/>
                </a:solidFill>
              </a:rPr>
              <a:t>. Each Phase has Its own role with modularized tasks.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379476" y="1252728"/>
            <a:ext cx="7178040" cy="5013672"/>
          </a:xfrm>
          <a:prstGeom prst="roundRect">
            <a:avLst/>
          </a:prstGeom>
          <a:solidFill>
            <a:srgbClr val="0B1628"/>
          </a:solidFill>
          <a:ln w="12700">
            <a:solidFill>
              <a:srgbClr val="1F355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15329" y="157276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9BCEB"/>
                </a:solidFill>
              </a:rPr>
              <a:t>PHASE INITIATION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818120" y="1389888"/>
            <a:ext cx="370332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7E1ED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818120" y="1389888"/>
            <a:ext cx="64008" cy="1920240"/>
          </a:xfrm>
          <a:prstGeom prst="rect">
            <a:avLst/>
          </a:prstGeom>
          <a:solidFill>
            <a:srgbClr val="146DB3"/>
          </a:solidFill>
          <a:ln w="12700">
            <a:solidFill>
              <a:srgbClr val="146DB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037576" y="155448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033"/>
                </a:solidFill>
              </a:rPr>
              <a:t>Phases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046720" y="2011680"/>
            <a:ext cx="3246120" cy="11704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01_policy_check.yaml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02_pre_upgrade_check.yaml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03_Initiate_upgrade.yaml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05_post_upgrade_check.yaml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06_Uperator_upgrade.yaml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818120" y="3520440"/>
            <a:ext cx="3703320" cy="2990088"/>
          </a:xfrm>
          <a:prstGeom prst="roundRect">
            <a:avLst>
              <a:gd name="adj" fmla="val 3292"/>
            </a:avLst>
          </a:prstGeom>
          <a:solidFill>
            <a:srgbClr val="FFFFFF"/>
          </a:solidFill>
          <a:ln w="12700">
            <a:solidFill>
              <a:srgbClr val="D7E1ED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818120" y="3520440"/>
            <a:ext cx="64008" cy="299008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037576" y="3685032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033"/>
                </a:solidFill>
              </a:rPr>
              <a:t>Roles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046720" y="3931920"/>
            <a:ext cx="1425084" cy="2487167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250" dirty="0" err="1">
                <a:solidFill>
                  <a:srgbClr val="5C6B80"/>
                </a:solidFill>
              </a:rPr>
              <a:t>api_check</a:t>
            </a:r>
            <a:endParaRPr lang="en-US" sz="1250" dirty="0">
              <a:solidFill>
                <a:srgbClr val="5C6B80"/>
              </a:solidFill>
            </a:endParaRPr>
          </a:p>
          <a:p>
            <a:pPr marL="165100" indent="-165100">
              <a:buSzPct val="100000"/>
              <a:buChar char="•"/>
            </a:pPr>
            <a:r>
              <a:rPr lang="en-US" sz="1250" dirty="0" err="1">
                <a:solidFill>
                  <a:srgbClr val="5C6B80"/>
                </a:solidFill>
              </a:rPr>
              <a:t>api_readiness</a:t>
            </a:r>
            <a:endParaRPr lang="en-US" sz="1250" dirty="0">
              <a:solidFill>
                <a:srgbClr val="5C6B80"/>
              </a:solidFill>
            </a:endParaRPr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co</a:t>
            </a:r>
          </a:p>
          <a:p>
            <a:pPr marL="165100" indent="-165100">
              <a:buSzPct val="100000"/>
              <a:buChar char="•"/>
            </a:pPr>
            <a:r>
              <a:rPr lang="en-US" sz="1250" dirty="0" err="1">
                <a:solidFill>
                  <a:srgbClr val="5C6B80"/>
                </a:solidFill>
              </a:rPr>
              <a:t>error_handle</a:t>
            </a:r>
            <a:endParaRPr lang="en-US" sz="1250" dirty="0">
              <a:solidFill>
                <a:srgbClr val="5C6B80"/>
              </a:solidFill>
            </a:endParaRPr>
          </a:p>
          <a:p>
            <a:pPr marL="165100" indent="-165100">
              <a:buSzPct val="100000"/>
              <a:buChar char="•"/>
            </a:pPr>
            <a:r>
              <a:rPr lang="en-US" sz="1250" dirty="0" err="1">
                <a:solidFill>
                  <a:srgbClr val="5C6B80"/>
                </a:solidFill>
              </a:rPr>
              <a:t>Etcd</a:t>
            </a:r>
            <a:endParaRPr lang="en-US" sz="1250" dirty="0">
              <a:solidFill>
                <a:srgbClr val="5C6B80"/>
              </a:solidFill>
            </a:endParaRPr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Login</a:t>
            </a:r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Logout</a:t>
            </a:r>
          </a:p>
          <a:p>
            <a:pPr marL="165100" indent="-165100">
              <a:buSzPct val="100000"/>
              <a:buChar char="•"/>
            </a:pPr>
            <a:r>
              <a:rPr lang="en-US" sz="1250" dirty="0" err="1">
                <a:solidFill>
                  <a:srgbClr val="5C6B80"/>
                </a:solidFill>
              </a:rPr>
              <a:t>Mcp</a:t>
            </a:r>
            <a:endParaRPr lang="en-US" sz="1250" dirty="0">
              <a:solidFill>
                <a:srgbClr val="5C6B80"/>
              </a:solidFill>
            </a:endParaRPr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Monitor</a:t>
            </a:r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node</a:t>
            </a:r>
          </a:p>
          <a:p>
            <a:pPr marL="165100" indent="-165100">
              <a:buSzPct val="100000"/>
              <a:buChar char="•"/>
            </a:pPr>
            <a:r>
              <a:rPr lang="en-US" sz="1250" dirty="0" err="1">
                <a:solidFill>
                  <a:srgbClr val="5C6B80"/>
                </a:solidFill>
              </a:rPr>
              <a:t>prevalidation</a:t>
            </a:r>
            <a:endParaRPr lang="en-US" sz="1250" dirty="0">
              <a:solidFill>
                <a:srgbClr val="5C6B80"/>
              </a:solidFill>
            </a:endParaRPr>
          </a:p>
          <a:p>
            <a:pPr marL="165100" indent="-165100">
              <a:buSzPct val="100000"/>
              <a:buChar char="•"/>
            </a:pPr>
            <a:r>
              <a:rPr lang="en-US" sz="1250" dirty="0" err="1">
                <a:solidFill>
                  <a:srgbClr val="5C6B80"/>
                </a:solidFill>
              </a:rPr>
              <a:t>postvalidation</a:t>
            </a:r>
            <a:endParaRPr lang="en-US" sz="1250" dirty="0">
              <a:solidFill>
                <a:srgbClr val="5C6B80"/>
              </a:solidFill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1CE0E597-AA2A-7AC1-7A4C-AD6724E5EF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329" y="1936312"/>
            <a:ext cx="5516026" cy="4020406"/>
          </a:xfrm>
          <a:prstGeom prst="rect">
            <a:avLst/>
          </a:prstGeom>
        </p:spPr>
      </p:pic>
      <p:sp>
        <p:nvSpPr>
          <p:cNvPr id="20" name="Text 12">
            <a:extLst>
              <a:ext uri="{FF2B5EF4-FFF2-40B4-BE49-F238E27FC236}">
                <a16:creationId xmlns:a16="http://schemas.microsoft.com/office/drawing/2014/main" id="{AD836D32-07FF-02AC-E3FA-E599676BC6EC}"/>
              </a:ext>
            </a:extLst>
          </p:cNvPr>
          <p:cNvSpPr/>
          <p:nvPr/>
        </p:nvSpPr>
        <p:spPr>
          <a:xfrm>
            <a:off x="9784080" y="3931919"/>
            <a:ext cx="1572768" cy="2487167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250" dirty="0" err="1">
                <a:solidFill>
                  <a:srgbClr val="5C6B80"/>
                </a:solidFill>
              </a:rPr>
              <a:t>Pv</a:t>
            </a:r>
            <a:endParaRPr lang="en-US" sz="1250" dirty="0">
              <a:solidFill>
                <a:srgbClr val="5C6B80"/>
              </a:solidFill>
            </a:endParaRPr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Monitor</a:t>
            </a:r>
          </a:p>
          <a:p>
            <a:pPr marL="165100" indent="-165100">
              <a:buSzPct val="100000"/>
              <a:buChar char="•"/>
            </a:pPr>
            <a:r>
              <a:rPr lang="en-US" sz="1250" dirty="0" err="1">
                <a:solidFill>
                  <a:srgbClr val="5C6B80"/>
                </a:solidFill>
              </a:rPr>
              <a:t>Operator_comp</a:t>
            </a:r>
            <a:endParaRPr lang="en-US" sz="1250" dirty="0">
              <a:solidFill>
                <a:srgbClr val="5C6B80"/>
              </a:solidFill>
            </a:endParaRPr>
          </a:p>
          <a:p>
            <a:pPr marL="165100" indent="-165100">
              <a:buSzPct val="100000"/>
              <a:buChar char="•"/>
            </a:pPr>
            <a:r>
              <a:rPr lang="en-US" sz="1250" dirty="0" err="1">
                <a:solidFill>
                  <a:srgbClr val="5C6B80"/>
                </a:solidFill>
              </a:rPr>
              <a:t>Operator_validate</a:t>
            </a:r>
            <a:endParaRPr lang="en-US" sz="1250" dirty="0">
              <a:solidFill>
                <a:srgbClr val="5C6B80"/>
              </a:solidFill>
            </a:endParaRPr>
          </a:p>
          <a:p>
            <a:pPr marL="165100" indent="-165100">
              <a:buSzPct val="100000"/>
              <a:buFontTx/>
              <a:buChar char="•"/>
            </a:pPr>
            <a:r>
              <a:rPr lang="en-US" sz="1250" dirty="0" err="1">
                <a:solidFill>
                  <a:srgbClr val="5C6B80"/>
                </a:solidFill>
              </a:rPr>
              <a:t>Operator_upgrade</a:t>
            </a:r>
            <a:endParaRPr lang="en-US" sz="1250" dirty="0">
              <a:solidFill>
                <a:srgbClr val="5C6B80"/>
              </a:solidFill>
            </a:endParaRPr>
          </a:p>
          <a:p>
            <a:pPr marL="165100" indent="-165100">
              <a:buSzPct val="100000"/>
              <a:buChar char="•"/>
            </a:pPr>
            <a:r>
              <a:rPr lang="en-US" sz="1250" dirty="0" err="1">
                <a:solidFill>
                  <a:srgbClr val="5C6B80"/>
                </a:solidFill>
              </a:rPr>
              <a:t>pdb</a:t>
            </a:r>
            <a:endParaRPr lang="en-US" sz="1250" dirty="0">
              <a:solidFill>
                <a:srgbClr val="5C6B80"/>
              </a:solidFill>
            </a:endParaRPr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remediate</a:t>
            </a:r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report</a:t>
            </a:r>
          </a:p>
          <a:p>
            <a:pPr marL="165100" indent="-165100">
              <a:buSzPct val="100000"/>
              <a:buChar char="•"/>
            </a:pPr>
            <a:r>
              <a:rPr lang="en-US" sz="1250" dirty="0" err="1">
                <a:solidFill>
                  <a:srgbClr val="5C6B80"/>
                </a:solidFill>
              </a:rPr>
              <a:t>sendmail</a:t>
            </a:r>
            <a:endParaRPr lang="en-US" sz="1250" dirty="0">
              <a:solidFill>
                <a:srgbClr val="5C6B80"/>
              </a:solidFill>
            </a:endParaRPr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snapshot</a:t>
            </a:r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upgrade</a:t>
            </a:r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utilization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Architecture and control boundaries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32104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2748A"/>
                </a:solidFill>
              </a:rPr>
              <a:t>A four-tier model keeps orchestration deterministic and responsibilities separated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85800" y="1261872"/>
            <a:ext cx="1074420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7E1EA"/>
            </a:solidFill>
            <a:prstDash val="solid"/>
          </a:ln>
          <a:effectLst>
            <a:outerShdw blurRad="12700" dist="508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96112" y="1408176"/>
            <a:ext cx="530352" cy="530352"/>
          </a:xfrm>
          <a:prstGeom prst="ellipse">
            <a:avLst/>
          </a:prstGeom>
          <a:solidFill>
            <a:srgbClr val="0B2A4A"/>
          </a:solidFill>
          <a:ln w="12700">
            <a:solidFill>
              <a:srgbClr val="0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60120" y="1545336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645920" y="140817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2033"/>
                </a:solidFill>
              </a:rPr>
              <a:t>Operational entry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931920" y="1417320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2748A"/>
                </a:solidFill>
              </a:rPr>
              <a:t>00_Run.sh validates inputs, dependencies, locks and run mode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 rot="5400000">
            <a:off x="5715000" y="2130552"/>
            <a:ext cx="502920" cy="228600"/>
          </a:xfrm>
          <a:prstGeom prst="chevron">
            <a:avLst/>
          </a:prstGeom>
          <a:solidFill>
            <a:srgbClr val="ABC0D2"/>
          </a:solidFill>
          <a:ln w="12700">
            <a:solidFill>
              <a:srgbClr val="ABC0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85800" y="2432304"/>
            <a:ext cx="1074420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7E1EA"/>
            </a:solidFill>
            <a:prstDash val="solid"/>
          </a:ln>
          <a:effectLst>
            <a:outerShdw blurRad="12700" dist="508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96112" y="2578608"/>
            <a:ext cx="530352" cy="530352"/>
          </a:xfrm>
          <a:prstGeom prst="ellipse">
            <a:avLst/>
          </a:prstGeom>
          <a:solidFill>
            <a:srgbClr val="1379B8"/>
          </a:solidFill>
          <a:ln w="12700">
            <a:solidFill>
              <a:srgbClr val="1379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60120" y="2715768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02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645920" y="257860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2033"/>
                </a:solidFill>
              </a:rPr>
              <a:t>Phase orchestration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931920" y="2587752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2748A"/>
                </a:solidFill>
              </a:rPr>
              <a:t>main.yml coordinates policy, validation, hops, post-checks and OLM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 rot="5400000">
            <a:off x="5715000" y="3300984"/>
            <a:ext cx="502920" cy="228600"/>
          </a:xfrm>
          <a:prstGeom prst="chevron">
            <a:avLst/>
          </a:prstGeom>
          <a:solidFill>
            <a:srgbClr val="ABC0D2"/>
          </a:solidFill>
          <a:ln w="12700">
            <a:solidFill>
              <a:srgbClr val="ABC0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85800" y="3602736"/>
            <a:ext cx="1074420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7E1EA"/>
            </a:solidFill>
            <a:prstDash val="solid"/>
          </a:ln>
          <a:effectLst>
            <a:outerShdw blurRad="12700" dist="508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96112" y="3749040"/>
            <a:ext cx="530352" cy="53035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60120" y="3886200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645920" y="374904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2033"/>
                </a:solidFill>
              </a:rPr>
              <a:t>Reusable automation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3931920" y="3758184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2748A"/>
                </a:solidFill>
              </a:rPr>
              <a:t>24 roles isolate health, remediation, upgrade, monitoring and reporting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 rot="5400000">
            <a:off x="5715000" y="4471416"/>
            <a:ext cx="502920" cy="228600"/>
          </a:xfrm>
          <a:prstGeom prst="chevron">
            <a:avLst/>
          </a:prstGeom>
          <a:solidFill>
            <a:srgbClr val="ABC0D2"/>
          </a:solidFill>
          <a:ln w="12700">
            <a:solidFill>
              <a:srgbClr val="ABC0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85800" y="4773168"/>
            <a:ext cx="1074420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7E1EA"/>
            </a:solidFill>
            <a:prstDash val="solid"/>
          </a:ln>
          <a:effectLst>
            <a:outerShdw blurRad="12700" dist="508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896112" y="4919472"/>
            <a:ext cx="530352" cy="530352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60120" y="505663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04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645920" y="491947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2033"/>
                </a:solidFill>
              </a:rPr>
              <a:t>Cluster APIs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3931920" y="4928616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2748A"/>
                </a:solidFill>
              </a:rPr>
              <a:t>CVO, MCO, OLM and Kubernetes APIs expose verifiable state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143000" y="6062472"/>
            <a:ext cx="9875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84B4B"/>
                </a:solidFill>
              </a:rPr>
              <a:t>Control boundary: cluster mutations are permitted only after policy and prevalidation gates pass.</a:t>
            </a:r>
            <a:endParaRPr lang="en-US" sz="13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2748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64CA8-DFAD-5674-92DB-BD9A8FE6DEE5}"/>
            </a:ext>
          </a:extLst>
        </p:cNvPr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6955A289-5BF2-9DFF-39E7-BDB2D268FBE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7043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2748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C9A271-B104-6FF5-5C6C-809A3F8131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89" y="109715"/>
            <a:ext cx="10972822" cy="6400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92612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Safety gates before cluster mutation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32104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2748A"/>
                </a:solidFill>
              </a:rPr>
              <a:t>Policy validation, 15 health checks and bounded remediation protect the change window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94360" y="1234440"/>
            <a:ext cx="3364992" cy="4434840"/>
          </a:xfrm>
          <a:prstGeom prst="roundRect">
            <a:avLst>
              <a:gd name="adj" fmla="val 1630"/>
            </a:avLst>
          </a:prstGeom>
          <a:solidFill>
            <a:srgbClr val="FFFFFF"/>
          </a:solidFill>
          <a:ln w="12700">
            <a:solidFill>
              <a:srgbClr val="D7E1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96112" y="15361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B2A4A"/>
                </a:solidFill>
              </a:rPr>
              <a:t>POLICY CHECK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96112" y="2057400"/>
            <a:ext cx="2697480" cy="2331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Bef>
                <a:spcPts val="600"/>
              </a:spcBef>
              <a:buSzPct val="100000"/>
              <a:buChar char="•"/>
            </a:pPr>
            <a:r>
              <a:rPr lang="en-US" sz="1450" dirty="0">
                <a:solidFill>
                  <a:srgbClr val="142033"/>
                </a:solidFill>
              </a:rPr>
              <a:t>Authenticate once using an isolated kubeconfig</a:t>
            </a:r>
            <a:endParaRPr lang="en-US" sz="1450" dirty="0"/>
          </a:p>
          <a:p>
            <a:pPr marL="203200" indent="-203200">
              <a:spcBef>
                <a:spcPts val="600"/>
              </a:spcBef>
              <a:buSzPct val="100000"/>
              <a:buChar char="•"/>
            </a:pPr>
            <a:r>
              <a:rPr lang="en-US" sz="1450" dirty="0">
                <a:solidFill>
                  <a:srgbClr val="142033"/>
                </a:solidFill>
              </a:rPr>
              <a:t>Capture baseline nodes, operators and routes</a:t>
            </a:r>
            <a:endParaRPr lang="en-US" sz="1450" dirty="0"/>
          </a:p>
          <a:p>
            <a:pPr marL="203200" indent="-203200">
              <a:spcBef>
                <a:spcPts val="600"/>
              </a:spcBef>
              <a:buSzPct val="100000"/>
              <a:buChar char="•"/>
            </a:pPr>
            <a:r>
              <a:rPr lang="en-US" sz="1450" dirty="0">
                <a:solidFill>
                  <a:srgbClr val="142033"/>
                </a:solidFill>
              </a:rPr>
              <a:t>Verify the next update edge before writes</a:t>
            </a:r>
            <a:endParaRPr lang="en-US" sz="1450" dirty="0"/>
          </a:p>
          <a:p>
            <a:pPr marL="203200" indent="-203200">
              <a:spcBef>
                <a:spcPts val="600"/>
              </a:spcBef>
              <a:buSzPct val="100000"/>
              <a:buChar char="•"/>
            </a:pPr>
            <a:r>
              <a:rPr lang="en-US" sz="1450" dirty="0">
                <a:solidFill>
                  <a:srgbClr val="142033"/>
                </a:solidFill>
              </a:rPr>
              <a:t>Reject malformed inputs and wrong API context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187952" y="1234440"/>
            <a:ext cx="3749040" cy="4434840"/>
          </a:xfrm>
          <a:prstGeom prst="roundRect">
            <a:avLst>
              <a:gd name="adj" fmla="val 1463"/>
            </a:avLst>
          </a:prstGeom>
          <a:solidFill>
            <a:srgbClr val="FFFFFF"/>
          </a:solidFill>
          <a:ln w="12700">
            <a:solidFill>
              <a:srgbClr val="D7E1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480560" y="15361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379B8"/>
                </a:solidFill>
              </a:rPr>
              <a:t>15-CHECK PREVALIDATION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480560" y="2057400"/>
            <a:ext cx="3108960" cy="2788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Bef>
                <a:spcPts val="600"/>
              </a:spcBef>
              <a:buSzPct val="100000"/>
              <a:buChar char="•"/>
            </a:pPr>
            <a:r>
              <a:rPr lang="en-US" sz="1420" dirty="0">
                <a:solidFill>
                  <a:srgbClr val="142033"/>
                </a:solidFill>
              </a:rPr>
              <a:t>8 core HARD gates: API, etcd, CO, MCP, node, capacity, admin-acks and OLM compatibility</a:t>
            </a:r>
            <a:endParaRPr lang="en-US" sz="1420" dirty="0"/>
          </a:p>
          <a:p>
            <a:pPr marL="203200" indent="-203200">
              <a:spcBef>
                <a:spcPts val="600"/>
              </a:spcBef>
              <a:buSzPct val="100000"/>
              <a:buChar char="•"/>
            </a:pPr>
            <a:r>
              <a:rPr lang="en-US" sz="1420" dirty="0">
                <a:solidFill>
                  <a:srgbClr val="142033"/>
                </a:solidFill>
              </a:rPr>
              <a:t>WARN advisories for CSR, storage, PDB and critical pods</a:t>
            </a:r>
            <a:endParaRPr lang="en-US" sz="1420" dirty="0"/>
          </a:p>
          <a:p>
            <a:pPr marL="203200" indent="-203200">
              <a:spcBef>
                <a:spcPts val="600"/>
              </a:spcBef>
              <a:buSzPct val="100000"/>
              <a:buChar char="•"/>
            </a:pPr>
            <a:r>
              <a:rPr lang="en-US" sz="1420" dirty="0">
                <a:solidFill>
                  <a:srgbClr val="142033"/>
                </a:solidFill>
              </a:rPr>
              <a:t>CGroup compatibility assessed by target version and policy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8165592" y="1234440"/>
            <a:ext cx="3429000" cy="443484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D7E1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458200" y="153619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A9D8F"/>
                </a:solidFill>
              </a:rPr>
              <a:t>AUTO-REMEDIATION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458200" y="2057400"/>
            <a:ext cx="2743200" cy="2880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spcBef>
                <a:spcPts val="600"/>
              </a:spcBef>
              <a:buSzPct val="100000"/>
              <a:buChar char="•"/>
            </a:pPr>
            <a:r>
              <a:rPr lang="en-US" sz="1420" dirty="0">
                <a:solidFill>
                  <a:srgbClr val="142033"/>
                </a:solidFill>
              </a:rPr>
              <a:t>Detect, authorize, apply, re-query and record</a:t>
            </a:r>
            <a:endParaRPr lang="en-US" sz="1420" dirty="0"/>
          </a:p>
          <a:p>
            <a:pPr marL="203200" indent="-203200">
              <a:spcBef>
                <a:spcPts val="600"/>
              </a:spcBef>
              <a:buSzPct val="100000"/>
              <a:buChar char="•"/>
            </a:pPr>
            <a:r>
              <a:rPr lang="en-US" sz="1420" dirty="0">
                <a:solidFill>
                  <a:srgbClr val="142033"/>
                </a:solidFill>
              </a:rPr>
              <a:t>Tier 1: admin-acks, MCP unpause and cgroup controls</a:t>
            </a:r>
            <a:endParaRPr lang="en-US" sz="1420" dirty="0"/>
          </a:p>
          <a:p>
            <a:pPr marL="203200" indent="-203200">
              <a:spcBef>
                <a:spcPts val="600"/>
              </a:spcBef>
              <a:buSzPct val="100000"/>
              <a:buChar char="•"/>
            </a:pPr>
            <a:r>
              <a:rPr lang="en-US" sz="1420" dirty="0">
                <a:solidFill>
                  <a:srgbClr val="142033"/>
                </a:solidFill>
              </a:rPr>
              <a:t>Tier 2: operator restart and stalled-node recovery require opt-in</a:t>
            </a:r>
            <a:endParaRPr lang="en-US" sz="1420" dirty="0"/>
          </a:p>
          <a:p>
            <a:pPr marL="203200" indent="-203200">
              <a:spcBef>
                <a:spcPts val="600"/>
              </a:spcBef>
              <a:buSzPct val="100000"/>
              <a:buChar char="•"/>
            </a:pPr>
            <a:r>
              <a:rPr lang="en-US" sz="1420" dirty="0">
                <a:solidFill>
                  <a:srgbClr val="142033"/>
                </a:solidFill>
              </a:rPr>
              <a:t>Residual HARD failures stop the workflow</a:t>
            </a:r>
            <a:endParaRPr lang="en-US" sz="1420" dirty="0"/>
          </a:p>
        </p:txBody>
      </p:sp>
      <p:sp>
        <p:nvSpPr>
          <p:cNvPr id="13" name="Shape 11"/>
          <p:cNvSpPr/>
          <p:nvPr/>
        </p:nvSpPr>
        <p:spPr>
          <a:xfrm>
            <a:off x="4526280" y="5074920"/>
            <a:ext cx="3063240" cy="320040"/>
          </a:xfrm>
          <a:prstGeom prst="roundRect">
            <a:avLst>
              <a:gd name="adj" fmla="val 22857"/>
            </a:avLst>
          </a:prstGeom>
          <a:solidFill>
            <a:srgbClr val="267A57"/>
          </a:solidFill>
          <a:ln w="12700">
            <a:solidFill>
              <a:srgbClr val="267A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99432" y="5138928"/>
            <a:ext cx="29169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NO RESIDUAL HARD FAILURE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2748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66928" y="438912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82B5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Prevalidation and Quality Gates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85216" y="94183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B80"/>
                </a:solidFill>
              </a:rPr>
              <a:t>Prevent unsafe upgrade initiation before a cluster-changing action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5230368" cy="175564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7E1ED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64008" cy="1755648"/>
          </a:xfrm>
          <a:prstGeom prst="rect">
            <a:avLst/>
          </a:prstGeom>
          <a:solidFill>
            <a:srgbClr val="146DB3"/>
          </a:solidFill>
          <a:ln w="12700">
            <a:solidFill>
              <a:srgbClr val="146DB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59536" y="158191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033"/>
                </a:solidFill>
              </a:rPr>
              <a:t>Cluster Readiness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68680" y="2039112"/>
            <a:ext cx="4773168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ClusterVersion health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Cluster Operators availability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Node readiness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MCP stability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417320"/>
            <a:ext cx="5230368" cy="175564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7E1ED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263640" y="1417320"/>
            <a:ext cx="64008" cy="1755648"/>
          </a:xfrm>
          <a:prstGeom prst="rect">
            <a:avLst/>
          </a:prstGeom>
          <a:solidFill>
            <a:srgbClr val="E19A00"/>
          </a:solidFill>
          <a:ln w="12700">
            <a:solidFill>
              <a:srgbClr val="E19A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83096" y="158191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033"/>
                </a:solidFill>
              </a:rPr>
              <a:t>Upgrade Compatibility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92240" y="2039112"/>
            <a:ext cx="4773168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Current and target version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Update channel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Operator compatibility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API acknowledgment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593592"/>
            <a:ext cx="5230368" cy="175564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7E1ED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40080" y="3593592"/>
            <a:ext cx="64008" cy="175564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59536" y="375818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033"/>
                </a:solidFill>
              </a:rPr>
              <a:t>Automated Remediation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68680" y="4215384"/>
            <a:ext cx="4773168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Known transient corrections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Controlled retry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Revalidation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Evidence generation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63640" y="3593592"/>
            <a:ext cx="5230368" cy="175564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7E1ED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263640" y="3593592"/>
            <a:ext cx="64008" cy="175564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83096" y="375818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033"/>
                </a:solidFill>
              </a:rPr>
              <a:t>Gate Decision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492240" y="4215384"/>
            <a:ext cx="4773168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PASS: continue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WARN: record and proceed by policy</a:t>
            </a:r>
            <a:endParaRPr lang="en-US" sz="1250" dirty="0"/>
          </a:p>
          <a:p>
            <a:pPr marL="165100" indent="-165100">
              <a:buSzPct val="100000"/>
              <a:buChar char="•"/>
            </a:pPr>
            <a:r>
              <a:rPr lang="en-US" sz="1250" dirty="0">
                <a:solidFill>
                  <a:srgbClr val="5C6B80"/>
                </a:solidFill>
              </a:rPr>
              <a:t>FAIL: stop, report, and clean up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800600" y="5806440"/>
            <a:ext cx="2560320" cy="320040"/>
          </a:xfrm>
          <a:prstGeom prst="rect">
            <a:avLst/>
          </a:prstGeom>
          <a:solidFill>
            <a:srgbClr val="C8102E"/>
          </a:solidFill>
          <a:ln>
            <a:solidFill>
              <a:srgbClr val="C8102E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HARD GATE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66928" y="6199632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7B8798"/>
                </a:solidFill>
              </a:rPr>
              <a:t>Reference: Red Hat OpenShift Container Platform 4.14, Preparing to update a cluster.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66928" y="438912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82B5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Technical Walkthrough: Upgrade Initiation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85216" y="94183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B80"/>
                </a:solidFill>
              </a:rPr>
              <a:t>Inspect the update path, select the channel, trigger the supported target, and monitor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21792" y="1371600"/>
            <a:ext cx="7315200" cy="5047488"/>
          </a:xfrm>
          <a:prstGeom prst="roundRect">
            <a:avLst/>
          </a:prstGeom>
          <a:solidFill>
            <a:srgbClr val="0B1628"/>
          </a:solidFill>
          <a:ln w="12700">
            <a:solidFill>
              <a:srgbClr val="1F3550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183880" y="1371600"/>
            <a:ext cx="3337560" cy="1127760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12700">
            <a:solidFill>
              <a:srgbClr val="D7E1ED"/>
            </a:solidFill>
            <a:prstDash val="solid"/>
          </a:ln>
          <a:effectLst/>
        </p:spPr>
        <p:txBody>
          <a:bodyPr/>
          <a:lstStyle/>
          <a:p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8183880" y="1371600"/>
            <a:ext cx="64008" cy="1127760"/>
          </a:xfrm>
          <a:prstGeom prst="rect">
            <a:avLst/>
          </a:prstGeom>
          <a:solidFill>
            <a:srgbClr val="E19A00"/>
          </a:solidFill>
          <a:ln w="12700">
            <a:solidFill>
              <a:srgbClr val="E19A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403336" y="1536192"/>
            <a:ext cx="2953512" cy="1810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033"/>
                </a:solidFill>
              </a:rPr>
              <a:t>Upgrade command used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412480" y="1993393"/>
            <a:ext cx="2880360" cy="236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250" dirty="0" err="1">
                <a:solidFill>
                  <a:srgbClr val="5C6B80"/>
                </a:solidFill>
              </a:rPr>
              <a:t>oc</a:t>
            </a:r>
            <a:r>
              <a:rPr lang="en-US" sz="1250" dirty="0">
                <a:solidFill>
                  <a:srgbClr val="5C6B80"/>
                </a:solidFill>
              </a:rPr>
              <a:t> </a:t>
            </a:r>
            <a:r>
              <a:rPr lang="en-US" sz="1250" dirty="0" err="1">
                <a:solidFill>
                  <a:srgbClr val="5C6B80"/>
                </a:solidFill>
              </a:rPr>
              <a:t>adm</a:t>
            </a:r>
            <a:r>
              <a:rPr lang="en-US" sz="1250" dirty="0">
                <a:solidFill>
                  <a:srgbClr val="5C6B80"/>
                </a:solidFill>
              </a:rPr>
              <a:t> upgrade --to={{ </a:t>
            </a:r>
            <a:r>
              <a:rPr lang="en-US" sz="1250" dirty="0" err="1">
                <a:solidFill>
                  <a:srgbClr val="5C6B80"/>
                </a:solidFill>
              </a:rPr>
              <a:t>target_version</a:t>
            </a:r>
            <a:r>
              <a:rPr lang="en-US" sz="1250" dirty="0">
                <a:solidFill>
                  <a:srgbClr val="5C6B80"/>
                </a:solidFill>
              </a:rPr>
              <a:t> }}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02168" y="2740446"/>
            <a:ext cx="3337560" cy="2936453"/>
          </a:xfrm>
          <a:prstGeom prst="roundRect">
            <a:avLst>
              <a:gd name="adj" fmla="val 3162"/>
            </a:avLst>
          </a:prstGeom>
          <a:solidFill>
            <a:srgbClr val="FFFFFF"/>
          </a:solidFill>
          <a:ln w="12700">
            <a:solidFill>
              <a:srgbClr val="D7E1ED"/>
            </a:solidFill>
            <a:prstDash val="soli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202168" y="2740446"/>
            <a:ext cx="64008" cy="2936453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421624" y="2905039"/>
            <a:ext cx="2953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033"/>
                </a:solidFill>
              </a:rPr>
              <a:t>Rail guards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430768" y="3362238"/>
            <a:ext cx="2880360" cy="2124161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70000" lnSpcReduction="20000"/>
          </a:bodyPr>
          <a:lstStyle/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Safety Guard: Force Upgrade Gate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sz="1400" dirty="0">
                <a:solidFill>
                  <a:srgbClr val="6A9955"/>
                </a:solidFill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Why: Strictly forbids automated or unconfirmed --force upgrades. The emergency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path is only accessible when </a:t>
            </a:r>
            <a:r>
              <a:rPr lang="en-US" sz="14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allow_force_upgrade</a:t>
            </a: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is true AND explicit token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confirmation 'CONFIRM_FORCE_UPGRADE' is provided.</a:t>
            </a:r>
            <a:endParaRPr lang="en-US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566928" y="6199632"/>
            <a:ext cx="10972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i="1" dirty="0">
                <a:solidFill>
                  <a:srgbClr val="7B8798"/>
                </a:solidFill>
              </a:rPr>
              <a:t>Reference: Red Hat OpenShift Container Platform 4.14, Updating clusters, Chapter 3.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DE6F265-9222-4799-3F19-5771D17502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233" y="1682449"/>
            <a:ext cx="6709529" cy="439831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36477-C4E0-D784-4E3F-34FE2843C6EC}"/>
            </a:ext>
          </a:extLst>
        </p:cNvPr>
        <p:cNvGrpSpPr/>
        <p:nvPr/>
      </p:nvGrpSpPr>
      <p:grpSpPr>
        <a:xfrm>
          <a:off x="0" y="0"/>
          <a:ext cx="1" cy="1"/>
          <a:chOff x="0" y="0"/>
          <a:chExt cx="1" cy="1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BFC2E71-0F70-CAD0-584D-7E0D232F77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760" y="132080"/>
            <a:ext cx="10952480" cy="6378448"/>
          </a:xfrm>
          <a:prstGeom prst="rect">
            <a:avLst/>
          </a:prstGeom>
        </p:spPr>
      </p:pic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A056129C-0CA6-CBD8-0F8C-D7BC6A0CE2E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7043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2748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3980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Operational assurance and next steps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32104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2748A"/>
                </a:solidFill>
              </a:rPr>
              <a:t>Production readiness is supported by compatibility, observability and governance controls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58368" y="12801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42033"/>
                </a:solidFill>
              </a:rPr>
              <a:t>Assurance already built in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685800" y="1783080"/>
            <a:ext cx="4663440" cy="3337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203200" indent="-203200">
              <a:buSzPct val="100000"/>
              <a:buChar char="•"/>
            </a:pPr>
            <a:r>
              <a:rPr lang="en-US" sz="1550" dirty="0">
                <a:solidFill>
                  <a:srgbClr val="142033"/>
                </a:solidFill>
              </a:rPr>
              <a:t>Dual-version Ansible compatibility</a:t>
            </a:r>
            <a:endParaRPr lang="en-US" sz="1550" dirty="0"/>
          </a:p>
          <a:p>
            <a:pPr marL="203200" indent="-203200">
              <a:buSzPct val="100000"/>
              <a:buChar char="•"/>
            </a:pPr>
            <a:r>
              <a:rPr lang="en-US" sz="1550" dirty="0">
                <a:solidFill>
                  <a:srgbClr val="142033"/>
                </a:solidFill>
              </a:rPr>
              <a:t>jq 1.5-safe parsing and boolean normalization</a:t>
            </a:r>
            <a:endParaRPr lang="en-US" sz="1550" dirty="0"/>
          </a:p>
          <a:p>
            <a:pPr marL="203200" indent="-203200">
              <a:buSzPct val="100000"/>
              <a:buChar char="•"/>
            </a:pPr>
            <a:r>
              <a:rPr lang="en-US" sz="1550" dirty="0">
                <a:solidFill>
                  <a:srgbClr val="142033"/>
                </a:solidFill>
              </a:rPr>
              <a:t>Concurrency lock and deterministic exit codes</a:t>
            </a:r>
            <a:endParaRPr lang="en-US" sz="1550" dirty="0"/>
          </a:p>
          <a:p>
            <a:pPr marL="203200" indent="-203200">
              <a:buSzPct val="100000"/>
              <a:buChar char="•"/>
            </a:pPr>
            <a:r>
              <a:rPr lang="en-US" sz="1550" dirty="0">
                <a:solidFill>
                  <a:srgbClr val="142033"/>
                </a:solidFill>
              </a:rPr>
              <a:t>Block/rescue/always error handling</a:t>
            </a:r>
            <a:endParaRPr lang="en-US" sz="1550" dirty="0"/>
          </a:p>
          <a:p>
            <a:pPr marL="203200" indent="-203200">
              <a:buSzPct val="100000"/>
              <a:buChar char="•"/>
            </a:pPr>
            <a:r>
              <a:rPr lang="en-US" sz="1550" dirty="0">
                <a:solidFill>
                  <a:srgbClr val="142033"/>
                </a:solidFill>
              </a:rPr>
              <a:t>HTML reports, dual logs and email routing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852160" y="1353312"/>
            <a:ext cx="1" cy="4251960"/>
          </a:xfrm>
          <a:prstGeom prst="line">
            <a:avLst/>
          </a:prstGeom>
          <a:noFill/>
          <a:ln w="19050">
            <a:solidFill>
              <a:srgbClr val="D7E1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0" y="12801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42033"/>
                </a:solidFill>
              </a:rPr>
              <a:t>Recommended production path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6446520" y="1874520"/>
            <a:ext cx="502920" cy="502920"/>
          </a:xfrm>
          <a:prstGeom prst="ellipse">
            <a:avLst/>
          </a:prstGeom>
          <a:solidFill>
            <a:srgbClr val="1379B8"/>
          </a:solidFill>
          <a:ln w="12700">
            <a:solidFill>
              <a:srgbClr val="1379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519672" y="2039112"/>
            <a:ext cx="3474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159752" y="1965960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42033"/>
                </a:solidFill>
              </a:rPr>
              <a:t>Non-production soak testing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46520" y="2715768"/>
            <a:ext cx="502920" cy="502920"/>
          </a:xfrm>
          <a:prstGeom prst="ellipse">
            <a:avLst/>
          </a:prstGeom>
          <a:solidFill>
            <a:srgbClr val="1379B8"/>
          </a:solidFill>
          <a:ln w="12700">
            <a:solidFill>
              <a:srgbClr val="1379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519672" y="2880360"/>
            <a:ext cx="3474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159752" y="2807208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42033"/>
                </a:solidFill>
              </a:rPr>
              <a:t>SRE walkthrough and failure drills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6446520" y="3557016"/>
            <a:ext cx="502920" cy="502920"/>
          </a:xfrm>
          <a:prstGeom prst="ellipse">
            <a:avLst/>
          </a:prstGeom>
          <a:solidFill>
            <a:srgbClr val="1379B8"/>
          </a:solidFill>
          <a:ln w="12700">
            <a:solidFill>
              <a:srgbClr val="1379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519672" y="3721608"/>
            <a:ext cx="3474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159752" y="3648456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42033"/>
                </a:solidFill>
              </a:rPr>
              <a:t>CAB evidence review and sign-off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6446520" y="4398264"/>
            <a:ext cx="502920" cy="502920"/>
          </a:xfrm>
          <a:prstGeom prst="ellipse">
            <a:avLst/>
          </a:prstGeom>
          <a:solidFill>
            <a:srgbClr val="267A57"/>
          </a:solidFill>
          <a:ln w="12700">
            <a:solidFill>
              <a:srgbClr val="267A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519672" y="4562856"/>
            <a:ext cx="3474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04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159752" y="4489704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2033"/>
                </a:solidFill>
              </a:rPr>
              <a:t>Controlled production change window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685800" y="5376672"/>
            <a:ext cx="10469880" cy="658368"/>
          </a:xfrm>
          <a:prstGeom prst="roundRect">
            <a:avLst>
              <a:gd name="adj" fmla="val 8333"/>
            </a:avLst>
          </a:prstGeom>
          <a:solidFill>
            <a:srgbClr val="0B2A4A"/>
          </a:solidFill>
          <a:ln w="12700">
            <a:solidFill>
              <a:srgbClr val="0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87552" y="5577840"/>
            <a:ext cx="9875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</a:rPr>
              <a:t>Decision point: approve staged execution after soak-test evidence and operational handover are complete.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043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2748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D0610-6F63-AFE5-4479-065D736C72B4}"/>
            </a:ext>
          </a:extLst>
        </p:cNvPr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0" name="Shape 18">
            <a:extLst>
              <a:ext uri="{FF2B5EF4-FFF2-40B4-BE49-F238E27FC236}">
                <a16:creationId xmlns:a16="http://schemas.microsoft.com/office/drawing/2014/main" id="{F6A2FCFF-D8B2-936D-9E88-5EE14AE8A35E}"/>
              </a:ext>
            </a:extLst>
          </p:cNvPr>
          <p:cNvSpPr/>
          <p:nvPr/>
        </p:nvSpPr>
        <p:spPr>
          <a:xfrm>
            <a:off x="690372" y="1602339"/>
            <a:ext cx="10788266" cy="3271217"/>
          </a:xfrm>
          <a:prstGeom prst="roundRect">
            <a:avLst>
              <a:gd name="adj" fmla="val 8333"/>
            </a:avLst>
          </a:prstGeom>
          <a:solidFill>
            <a:srgbClr val="0B2A4A"/>
          </a:solidFill>
          <a:ln w="12700">
            <a:solidFill>
              <a:srgbClr val="0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914C7794-F395-BF32-E289-56EB598BEEA8}"/>
              </a:ext>
            </a:extLst>
          </p:cNvPr>
          <p:cNvSpPr/>
          <p:nvPr/>
        </p:nvSpPr>
        <p:spPr>
          <a:xfrm>
            <a:off x="617900" y="2163432"/>
            <a:ext cx="10883727" cy="1834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</a:rPr>
              <a:t>THANK YOU</a:t>
            </a:r>
            <a:br>
              <a:rPr lang="en-US" sz="3200" b="1" dirty="0">
                <a:solidFill>
                  <a:srgbClr val="FFFFFF"/>
                </a:solidFill>
              </a:rPr>
            </a:br>
            <a:br>
              <a:rPr lang="en-US" sz="1450" b="1" dirty="0">
                <a:solidFill>
                  <a:srgbClr val="FFFFFF"/>
                </a:solidFill>
              </a:rPr>
            </a:br>
            <a:r>
              <a:rPr lang="en-US" sz="1450" b="1" dirty="0">
                <a:solidFill>
                  <a:srgbClr val="FFFFFF"/>
                </a:solidFill>
              </a:rPr>
              <a:t>Any Questions ?</a:t>
            </a:r>
            <a:endParaRPr lang="en-US" sz="145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B54F0309-86B8-98A9-6236-E1B543BC698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70432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2748A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6102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</TotalTime>
  <Words>1240</Words>
  <Application>Microsoft Office PowerPoint</Application>
  <PresentationFormat>Widescreen</PresentationFormat>
  <Paragraphs>207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Client Presentation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ARO Cluster Upgrade Automation</dc:title>
  <dc:subject>ARO Cluster Upgrade Automation</dc:subject>
  <dc:creator>Kispotta, Ravikant</dc:creator>
  <cp:lastModifiedBy>Kispotta, Ravikant</cp:lastModifiedBy>
  <cp:revision>15</cp:revision>
  <dcterms:created xsi:type="dcterms:W3CDTF">2026-09-11T13:48:16Z</dcterms:created>
  <dcterms:modified xsi:type="dcterms:W3CDTF">2026-09-13T08:20:54Z</dcterms:modified>
</cp:coreProperties>
</file>