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24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stakeholders and platform engineering leadership.</a:t>
            </a:r>
          </a:p>
          <a:p>
            <a:r>
              <a:t>Today we present the complete architectural and operational blueprint of the Azure Red Hat OpenShift (ARO) Cluster Upgrade Automation Framework.</a:t>
            </a:r>
          </a:p>
          <a:p>
            <a:r>
              <a:t>This project automates what has historically been a high-risk, multi-hour manual operational effort: safely upgrading production ARO clusters across multiple minor OpenShift versions (such as 4.12 to 4.14) without service interruption, configuration drift, or human operator error.</a:t>
            </a:r>
          </a:p>
          <a:p>
            <a:r>
              <a:t>Key architectural invariants governing this design:</a:t>
            </a:r>
          </a:p>
          <a:p>
            <a:r>
              <a:t>1. Pure zero-AI determinism: 100% Ansible and shell execution with strictly predictable outcomes.</a:t>
            </a:r>
          </a:p>
          <a:p>
            <a:r>
              <a:t>2. Complete multi-hop path calculation and settlement gate enforcement.</a:t>
            </a:r>
          </a:p>
          <a:p>
            <a:r>
              <a:t>3. Closed-loop 14-point pre-validation paired with 6 deterministic auto-remediations.</a:t>
            </a:r>
          </a:p>
          <a:p>
            <a:r>
              <a:t>4. Comprehensive pre- and post-upgrade baseline state diffing and multi-channel reporting.</a:t>
            </a:r>
          </a:p>
          <a:p>
            <a:r>
              <a:t>Source references: playbooks/00_Run.sh, playbooks/main.yml,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the core executive value proposition.</a:t>
            </a:r>
          </a:p>
          <a:p>
            <a:r>
              <a:t>Enterprise clusters cannot tolerate downtime or non-deterministic automation. This framework addresses three pillars:</a:t>
            </a:r>
          </a:p>
          <a:p>
            <a:r>
              <a:t>1. Multi-Hop Intelligence: OpenShift upgrades cannot skip minor versions. Upgrading from 4.12 to 4.14 requires an intermediate hop through 4.13. Our engine computes this path autonomously, applies the correct channel updates, and verifies full cluster operator settlement before proceeding.</a:t>
            </a:r>
          </a:p>
          <a:p>
            <a:r>
              <a:t>2. Resilient Self-Healing: Upgrades frequently fail due to minor transient issues like pending CSRs, stuck evicted pods, or cordon flags left by engineers. Rather than failing the maintenance window, our pre-validation detects and deterministically remediates 6 known conditions.</a:t>
            </a:r>
          </a:p>
          <a:p>
            <a:r>
              <a:t>3. Zero-AI Determinism: We strictly adhere to predictable, reproducible rule-based execution. Every task is an idempotent Ansible module or shell wrapper, fully compatible with both legacy Ansible 2.7.17 test beds and modern Ansible 2.14.18 production controllers.</a:t>
            </a:r>
          </a:p>
          <a:p>
            <a:r>
              <a:t>Code references: playbooks/main.yml, playbooks/roles/pre_validation, playbooks/roles/auto_remediation.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outlines why manual upgrades in enterprise ARO environments are fundamentally unsustainable.</a:t>
            </a:r>
          </a:p>
          <a:p>
            <a:r>
              <a:t>1. The OpenShift architecture requires sequential progression across minor versions. A cluster on 4.12 cannot leap directly to 4.14; it must traverse 4.13. In manual procedures, operators must sit through hours of node reboots and cluster operator settling.</a:t>
            </a:r>
          </a:p>
          <a:p>
            <a:r>
              <a:t>2. In enterprise clusters, Day-2 operators (such as Red Hat OpenShift Service Mesh, GitOps, or OpenShift Logging) frequently have their Subscription installPlanApproval set to Manual. If an engineer forgets to approve an InstallPlan, the operator breaks when Kubernetes APIs are deprecated.</a:t>
            </a:r>
          </a:p>
          <a:p>
            <a:r>
              <a:t>3. Flapping cluster operators or pending Certificate Signing Requests (CSRs) frequently halt the Machine Config Operator (MCO), causing maintenance windows to overrun by several hours.</a:t>
            </a:r>
          </a:p>
          <a:p>
            <a:r>
              <a:t>4. From a compliance perspective, manual executions fail to produce a reproducible audit artifact showing the exact delta of CRDs, routes, namespaces, and node configs before and after the change.</a:t>
            </a:r>
          </a:p>
          <a:p>
            <a:r>
              <a:t>Source references: context/project-overview.md,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details our comprehensive response: the ARO Cluster Upgrade Automation solution.</a:t>
            </a:r>
          </a:p>
          <a:p>
            <a:r>
              <a:t>The solution is organized into three interlocking functional capabilities:</a:t>
            </a:r>
          </a:p>
          <a:p>
            <a:r>
              <a:t>1. The Orchestrated Execution Surface: Operators interact via clean bash wrappers (`00_Run.sh` through `06_Cleanup.sh`). A process lock ensures single-controller exclusivity. Inputs are thoroughly sanitized before invoking Ansible.</a:t>
            </a:r>
          </a:p>
          <a:p>
            <a:r>
              <a:t>2. Intelligent Path and State Engine: Rather than hardcoding versions, the engine queries the OpenShift ClusterVersion API, inspects available updates in the configured channel, builds the hop sequence, captures a comprehensive baseline JSON snapshot, and performs pre-checks.</a:t>
            </a:r>
          </a:p>
          <a:p>
            <a:r>
              <a:t>3. Closed-Loop Settle and Verification: Upgrades are not declared complete when the version tag changes; they are only complete when all MachineConfigPools have settled, all 30+ ClusterOperators are verified healthy, and post-upgrade diffs show no unexpected degradation.</a:t>
            </a:r>
          </a:p>
          <a:p>
            <a:r>
              <a:t>Code references: playbooks/00_Run.sh, playbooks/main.yml, playbooks/roles/orchestrator.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translates the architectural features into concrete business and technical metrics.</a:t>
            </a:r>
          </a:p>
          <a:p>
            <a:r>
              <a:t>1. Outage Elimination: MachineConfigPool rolling updates are throttled so only 2 worker nodes can reboot concurrently, guaranteeing pod disruption budgets and service availability are honored.</a:t>
            </a:r>
          </a:p>
          <a:p>
            <a:r>
              <a:t>2. 75% Reduction in Engineering Effort: By moving from manual terminal monitoring to automated polling and auto-remediation, SREs trigger `00_Run.sh` and receive an executive email when the cluster settles.</a:t>
            </a:r>
          </a:p>
          <a:p>
            <a:r>
              <a:t>3. Audit and Governance: In regulated industries (banking, healthcare, government), changes require proof of state before and after. The automated JSON snapshot engine provides this out-of-the-box.</a:t>
            </a:r>
          </a:p>
          <a:p>
            <a:r>
              <a:t>4. Day-2 Operator Alignment: Often neglected during cluster upgrades, operator incompatibilities can break production namespaces. Our automated approval and verification ensures operators stay in sync with the platform.</a:t>
            </a:r>
          </a:p>
          <a:p>
            <a:r>
              <a:t>Source references: context/project-overview.md,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illustrates the System Context diagram (Figure 1).</a:t>
            </a:r>
          </a:p>
          <a:p>
            <a:r>
              <a:t>The Ansible Controller acts as the central execution boundary. It interacts with the Azure Red Hat OpenShift cluster exclusively over the secure Kubernetes API endpoint (port 6443) using a dedicated least-privilege ServiceAccount.</a:t>
            </a:r>
          </a:p>
          <a:p>
            <a:r>
              <a:t>Notice the internal boundaries within the ARO cluster:</a:t>
            </a:r>
          </a:p>
          <a:p>
            <a:r>
              <a:t>- The Cluster Version Operator (CVO) orchestrates the control plane release payload.</a:t>
            </a:r>
          </a:p>
          <a:p>
            <a:r>
              <a:t>- The Machine Config Operator (MCO) orchestrates worker node operating system updates via ignition configs and managed reboots.</a:t>
            </a:r>
          </a:p>
          <a:p>
            <a:r>
              <a:t>- The Operator Lifecycle Manager (OLM) manages Day-2 add-ons.</a:t>
            </a:r>
          </a:p>
          <a:p>
            <a:r>
              <a:t>- Externally, the automation integrates with an Enterprise SMTP relay for real-time notification.</a:t>
            </a:r>
          </a:p>
          <a:p>
            <a:r>
              <a:t>Source references: playbooks/roles/auth_session, context/architecture.md, ARO_Cluster_Upgrade_Diagrams/fig01_system_context.png.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shows the High-Level Architecture diagram (Figure 2).</a:t>
            </a:r>
          </a:p>
          <a:p>
            <a:r>
              <a:t>The architecture enforces strict separation of concerns across 4 tiers:</a:t>
            </a:r>
          </a:p>
          <a:p>
            <a:r>
              <a:t>- Tier 1: Process Surface. Provides a clean UNIX-style CLI contract (`00_Run.sh` through `06_Cleanup.sh`).</a:t>
            </a:r>
          </a:p>
          <a:p>
            <a:r>
              <a:t>- Tier 2: Orchestration Layer. `main.yml` acts as the master state machine, controlling phase execution flags like `skip_to_phase` and `stop_after_phase`.</a:t>
            </a:r>
          </a:p>
          <a:p>
            <a:r>
              <a:t>- Tier 3: 24 Modular Roles. Each role is self-contained with its own `tasks/`, `defaults/`, and `handlers/`.</a:t>
            </a:r>
          </a:p>
          <a:p>
            <a:r>
              <a:t>- Tier 4: OpenShift API Layer. Connects securely to the cluster control plane.</a:t>
            </a:r>
          </a:p>
          <a:p>
            <a:r>
              <a:t>This modularity ensures testability, portability between Ansible versions, and easy maintainability.</a:t>
            </a:r>
          </a:p>
          <a:p>
            <a:r>
              <a:t>Source references: playbooks/main.yml, playbooks/roles/,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breaks down the Seven-File Process Surface (Figure 3).</a:t>
            </a:r>
          </a:p>
          <a:p>
            <a:r>
              <a:t>This design fulfills an essential operational requirement: operations teams need both single-command automation and granular phase-by-phase control.</a:t>
            </a:r>
          </a:p>
          <a:p>
            <a:r>
              <a:t>- An SRE can run `01_PreValidation.sh` 24 hours prior to a maintenance window to identify and fix cluster issues in advance.</a:t>
            </a:r>
          </a:p>
          <a:p>
            <a:r>
              <a:t>- During the maintenance window, `00_Run.sh` can execute the entire pipeline unattended.</a:t>
            </a:r>
          </a:p>
          <a:p>
            <a:r>
              <a:t>- If an operator upgrade needs to be rerun independently, `04_OperatorUpgrade.sh` can be triggered without re-running the cluster upgrade.</a:t>
            </a:r>
          </a:p>
          <a:p>
            <a:r>
              <a:t>- Every script enforces PID file locking in `/tmp/aro_upgrade.lock` to prevent accidental dual execution.</a:t>
            </a:r>
          </a:p>
          <a:p>
            <a:r>
              <a:t>Source references: playbooks/00_Run.sh through 06_Cleanup.sh,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details the sequential workflow implemented in `main.yml` (Figure 4).</a:t>
            </a:r>
          </a:p>
          <a:p>
            <a:r>
              <a:t>Notice the strict fail-closed gating between phases:</a:t>
            </a:r>
          </a:p>
          <a:p>
            <a:r>
              <a:t>If Phase 01 pre-validation fails and Phase 02 auto-remediation cannot resolve the issue, the pipeline halts immediately before Phase 03 can mutate the cluster.</a:t>
            </a:r>
          </a:p>
          <a:p>
            <a:r>
              <a:t>If an intermediate hop in Phase 03 fails the Phase 04 settle gate, subsequent hops are aborted, preserving the cluster in a debuggable state rather than compounding failures.</a:t>
            </a:r>
          </a:p>
          <a:p>
            <a:r>
              <a:t>Every phase transition is logged with ISO-8601 timestamps and recorded in the audit registry.</a:t>
            </a:r>
          </a:p>
          <a:p>
            <a:r>
              <a:t>Source references: playbooks/main.yml, context/architecture.md, context/feature-spec/01-orchestrator.md.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details the Multi-Hop Upgrade algorithm (Figure 5).</a:t>
            </a:r>
          </a:p>
          <a:p>
            <a:r>
              <a:t>Upgrading an OpenShift cluster across multiple minor versions requires strict adherence to Red Hat's upgrade graph rules.</a:t>
            </a:r>
          </a:p>
          <a:p>
            <a:r>
              <a:t>Our `cv_upgrade_hop` role queries the OpenShift ClusterVersion operator to determine the valid next target in the channel.</a:t>
            </a:r>
          </a:p>
          <a:p>
            <a:r>
              <a:t>For each hop in the sequence:</a:t>
            </a:r>
          </a:p>
          <a:p>
            <a:r>
              <a:t>1. It applies the target version to the ClusterVersion resource.</a:t>
            </a:r>
          </a:p>
          <a:p>
            <a:r>
              <a:t>2. It monitors CVO progress as it downloads the payload, updates master nodes, updates etcd, and reboots worker nodes.</a:t>
            </a:r>
          </a:p>
          <a:p>
            <a:r>
              <a:t>3. It does not advance to the next hop until the control plane, all cluster operators, and all MachineConfigPools have fully settled.</a:t>
            </a:r>
          </a:p>
          <a:p>
            <a:r>
              <a:t>This guarantees zero version-skip corruption.</a:t>
            </a:r>
          </a:p>
          <a:p>
            <a:r>
              <a:t>Source references: playbooks/roles/cv_upgrade_hop,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uses the Venn Diagram (Figure 16) to illustrate our Dual Upgrade capabilities.</a:t>
            </a:r>
          </a:p>
          <a:p>
            <a:r>
              <a:t>In an enterprise OpenShift deployment, an upgrade is not simply an OS or Kubernetes upgrade; it encompasses two distinct operational domains:</a:t>
            </a:r>
          </a:p>
          <a:p>
            <a:r>
              <a:t>1. Core Cluster Upgrade: Managed by CVO and MCO, updating the control plane, master nodes, and worker nodes.</a:t>
            </a:r>
          </a:p>
          <a:p>
            <a:r>
              <a:t>2. Day-2 Operator Upgrade: Managed by OLM, updating critical operational services like Red Hat OpenShift Logging, Service Mesh, and OpenShift Virtualization.</a:t>
            </a:r>
          </a:p>
          <a:p>
            <a:r>
              <a:t>Our framework treats both as first-class citizens, coordinating them under a unified snapshot and reporting lifecycle while maintaining independent execution capabilities.</a:t>
            </a:r>
          </a:p>
          <a:p>
            <a:r>
              <a:t>Source references: playbooks/roles/cv_upgrade_hop, playbooks/roles/operator_upgrade,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demonstrates the Pre-Validation and Auto-Remediation flow (Figure 6).</a:t>
            </a:r>
          </a:p>
          <a:p>
            <a:r>
              <a:t>Before mutating any cluster resource, the framework evaluates 14 critical health checks.</a:t>
            </a:r>
          </a:p>
          <a:p>
            <a:r>
              <a:t>If any check fails, the engine queries its catalog of deterministic remediators.</a:t>
            </a:r>
          </a:p>
          <a:p>
            <a:r>
              <a:t>For example, pending CSRs frequently prevent newly provisioned nodes from joining the cluster. The `auto_remediation` role automatically validates the CSR requester and approves it.</a:t>
            </a:r>
          </a:p>
          <a:p>
            <a:r>
              <a:t>Similarly, evicted pods in the `kube-system` or `openshift-monitoring` namespaces can prevent clean node drains. The remediator purges them safely.</a:t>
            </a:r>
          </a:p>
          <a:p>
            <a:r>
              <a:t>After remediation, the pre-validation suite re-executes. If the issue persists, the pipeline halts with a descriptive error.</a:t>
            </a:r>
          </a:p>
          <a:p>
            <a:r>
              <a:t>Source references: playbooks/roles/pre_validation, playbooks/roles/auto_remediation, context/code-standards.md.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details the Live Monitoring Engine (Figure 9).</a:t>
            </a:r>
          </a:p>
          <a:p>
            <a:r>
              <a:t>A key reason manual upgrades fail is premature assumption of completion. When `oc get clusterversion` shows 100%, worker nodes may still be draining and rebooting.</a:t>
            </a:r>
          </a:p>
          <a:p>
            <a:r>
              <a:t>Our monitoring role implements a continuous 30-second polling loop.</a:t>
            </a:r>
          </a:p>
          <a:p>
            <a:r>
              <a:t>It evaluates two critical settlement conditions:</a:t>
            </a:r>
          </a:p>
          <a:p>
            <a:r>
              <a:t>1. ClusterOperator Status: All 30+ core operators must satisfy: Available == True, Progressing == False, Degraded == False.</a:t>
            </a:r>
          </a:p>
          <a:p>
            <a:r>
              <a:t>2. MachineConfigPool Status: Master and worker pools must report that updated count equals total count and degraded count is zero.</a:t>
            </a:r>
          </a:p>
          <a:p>
            <a:r>
              <a:t>Only after these conditions hold true for a sustained window does the role complete and hand off to post-validation.</a:t>
            </a:r>
          </a:p>
          <a:p>
            <a:r>
              <a:t>Source references: playbooks/roles/cluster_monitor, playbooks/roles/post_validation.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explains the Baseline Snapshot and Drift Detection engine (Figure 8).</a:t>
            </a:r>
          </a:p>
          <a:p>
            <a:r>
              <a:t>To ensure compliance with enterprise change management standards, Phase 01 takes a full snapshot of the cluster state before any mutation occurs.</a:t>
            </a:r>
          </a:p>
          <a:p>
            <a:r>
              <a:t>The snapshot captures 8 distinct resource domains into structured JSON files.</a:t>
            </a:r>
          </a:p>
          <a:p>
            <a:r>
              <a:t>In Phase 06, the `post_validation` role executes an identical data collection and runs a deep structural diff against the baseline.</a:t>
            </a:r>
          </a:p>
          <a:p>
            <a:r>
              <a:t>If any cluster operator was Available prior to upgrade but is Degraded after, or if any route or node went missing, the delta is highlighted in red in the executive report.</a:t>
            </a:r>
          </a:p>
          <a:p>
            <a:r>
              <a:t>Source references: playbooks/roles/snapshot_engine, playbooks/roles/post_validation.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walks through the Day-2 Operator Upgrade Engine.</a:t>
            </a:r>
          </a:p>
          <a:p>
            <a:r>
              <a:t>Many enterprise clusters enforce manual approval (`installPlanApproval: Manual`) on production operators to prevent uncoordinated updates.</a:t>
            </a:r>
          </a:p>
          <a:p>
            <a:r>
              <a:t>During a major cluster upgrade, however, manual approvals can stall the maintenance window.</a:t>
            </a:r>
          </a:p>
          <a:p>
            <a:r>
              <a:t>Our `operator_upgrade` role automates this safely:</a:t>
            </a:r>
          </a:p>
          <a:p>
            <a:r>
              <a:t>1. It queries all namespaces for Subscriptions.</a:t>
            </a:r>
          </a:p>
          <a:p>
            <a:r>
              <a:t>2. It detects pending InstallPlans created by OLM.</a:t>
            </a:r>
          </a:p>
          <a:p>
            <a:r>
              <a:t>3. It validates that the target CSV matches the target OpenShift release.</a:t>
            </a:r>
          </a:p>
          <a:p>
            <a:r>
              <a:t>4. It patches `spec.approved = true` and monitors the CSV phase until it reaches `Succeeded`.</a:t>
            </a:r>
          </a:p>
          <a:p>
            <a:r>
              <a:t>This eliminates operator skew and ensures Day-2 services are updated in lockstep with the core platform.</a:t>
            </a:r>
          </a:p>
          <a:p>
            <a:r>
              <a:t>Source references: playbooks/roles/operator_upgrade, context/feature-spec/06-day2-operator-upgrade.md.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details the 24 Modular Roles comprising the framework (Figure 10).</a:t>
            </a:r>
          </a:p>
          <a:p>
            <a:r>
              <a:t>To ensure maintainability and eliminate monolithic playbooks, functionality is divided across 24 single-responsibility roles:</a:t>
            </a:r>
          </a:p>
          <a:p>
            <a:r>
              <a:t>- Core Lifecycle: Handles session authentication, hop execution, monitoring, and cleanup.</a:t>
            </a:r>
          </a:p>
          <a:p>
            <a:r>
              <a:t>- Pre-Validation: Contains dedicated sub-roles for node checks, operator health, MCP status, and etcd quorum.</a:t>
            </a:r>
          </a:p>
          <a:p>
            <a:r>
              <a:t>- Auto-Remediation: Implements isolated remediation tasks for CSRs, evicted pods, and cordoned nodes.</a:t>
            </a:r>
          </a:p>
          <a:p>
            <a:r>
              <a:t>- Post-Validation &amp; Reporting: Manages snapshot comparison, diff generation, and HTML email formatting.</a:t>
            </a:r>
          </a:p>
          <a:p>
            <a:r>
              <a:t>This structure allows any individual role to be tested in isolation using Ansible test runners.</a:t>
            </a:r>
          </a:p>
          <a:p>
            <a:r>
              <a:t>Source references: playbooks/roles/,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illustrates the Complete Module Wirings and Fact Registry Data Flow (Figure 18).</a:t>
            </a:r>
          </a:p>
          <a:p>
            <a:r>
              <a:t>This is the core architectural wiring of the entire automation system:</a:t>
            </a:r>
          </a:p>
          <a:p>
            <a:r>
              <a:t>1. The Orchestration Pipeline: `main.yml` orchestrates execution via `import_playbook` statements. Dry-run intercepts allow testing without cluster mutation.</a:t>
            </a:r>
          </a:p>
          <a:p>
            <a:r>
              <a:t>2. Fact Registry: 31 global Ansible facts are registered and consumed across roles. For instance, `snapshot_engine` registers `pre_snapshot_path` in Phase 01, which is consumed in Phase 06 by `diff_engine` to compute drift.</a:t>
            </a:r>
          </a:p>
          <a:p>
            <a:r>
              <a:t>3. Settle Gate Formula: Mathematically defines cluster readiness. All three criteria—ClusterVersion completed, zero degraded/progressing ClusterOperators, and 100% updated MachineConfigPools—must evaluate to True simultaneously.</a:t>
            </a:r>
          </a:p>
          <a:p>
            <a:r>
              <a:t>4. Error Escalation: Any fatal exception cascades into Ansible rescue blocks, ensuring locks are freed and alerting is sent before playbook exit.</a:t>
            </a:r>
          </a:p>
          <a:p>
            <a:r>
              <a:t>Source references: playbooks/main.yml, playbooks/roles/, context/code-standards.md.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details the Security Architecture and RBAC design (Figure 12).</a:t>
            </a:r>
          </a:p>
          <a:p>
            <a:r>
              <a:t>In banking, healthcare, and enterprise environments, security is non-negotiable:</a:t>
            </a:r>
          </a:p>
          <a:p>
            <a:r>
              <a:t>- The automation uses a scoped ServiceAccount (`aro-upgrade-sa`) with cluster-scoped ClusterRole bindings limited to ClusterVersion, ClusterOperators, MachineConfigPools, Nodes, and Subscriptions.</a:t>
            </a:r>
          </a:p>
          <a:p>
            <a:r>
              <a:t>- No permanent credentials or Azure client secrets are stored in plaintext. Tokens are passed as ephemeral environment variables or decrypted at runtime using Ansible Vault.</a:t>
            </a:r>
          </a:p>
          <a:p>
            <a:r>
              <a:t>- Critical tasks use `no_log: true` to guarantee tokens never appear in job output logs.</a:t>
            </a:r>
          </a:p>
          <a:p>
            <a:r>
              <a:t>- The trust boundary separates the external management network from the private ARO Kubernetes API.</a:t>
            </a:r>
          </a:p>
          <a:p>
            <a:r>
              <a:t>Source references: playbooks/roles/auth_session, context/architecture.md, context/feature-spec/15-exception-handling-patterns.md.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details Storage Architecture and Concurrency Management (Figure 15).</a:t>
            </a:r>
          </a:p>
          <a:p>
            <a:r>
              <a:t>Concurrency issues can cause severe split-brain states in cluster automation.</a:t>
            </a:r>
          </a:p>
          <a:p>
            <a:r>
              <a:t>- Before executing any tasks, `00_Run.sh` evaluates `/tmp/aro_upgrade.lock`. If a lock exists and the PID is still alive, execution halts immediately.</a:t>
            </a:r>
          </a:p>
          <a:p>
            <a:r>
              <a:t>- If the previous process crashed or died, the stale lock is safely pruned.</a:t>
            </a:r>
          </a:p>
          <a:p>
            <a:r>
              <a:t>- All JSON state snapshots use the atomic write-and-rename pattern: data is written to a temporary file in `scratch/` and then moved into `output/snapshots/` in a single OS-level syscall. This guarantees partial writes never corrupt the baseline.</a:t>
            </a:r>
          </a:p>
          <a:p>
            <a:r>
              <a:t>- `06_Cleanup.sh` ensures all scratch files are purged upon completion.</a:t>
            </a:r>
          </a:p>
          <a:p>
            <a:r>
              <a:t>Source references: playbooks/00_Run.sh, playbooks/06_Cleanup.sh,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outlines the Deployment Topology and Infrastructure Prerequisites (Figure 11).</a:t>
            </a:r>
          </a:p>
          <a:p>
            <a:r>
              <a:t>The controller can be hosted on a standard enterprise Linux bastion or jump host with network connectivity to the ARO cluster.</a:t>
            </a:r>
          </a:p>
          <a:p>
            <a:r>
              <a:t>Key deployment aspects:</a:t>
            </a:r>
          </a:p>
          <a:p>
            <a:r>
              <a:t>- Python 3.8+ with standard libraries.</a:t>
            </a:r>
          </a:p>
          <a:p>
            <a:r>
              <a:t>- OpenShift CLI (`oc`) must be installed and in the system PATH.</a:t>
            </a:r>
          </a:p>
          <a:p>
            <a:r>
              <a:t>- Network routing requires access to port 6443 on the private API server and port 443 for Azure resource management.</a:t>
            </a:r>
          </a:p>
          <a:p>
            <a:r>
              <a:t>- Dual-engine compatibility: The codebase has been engineered without deprecated syntax so it runs natively on both older Ansible 2.7.17 environments and modern Ansible 2.14+ enterprise controllers.</a:t>
            </a:r>
          </a:p>
          <a:p>
            <a:r>
              <a:t>Source references: playbooks/roles/, context/code-standards.md,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presents our Production Readiness Scorecard and Gap Analysis (Figure 17).</a:t>
            </a:r>
          </a:p>
          <a:p>
            <a:r>
              <a:t>Overall readiness stands at 92%:</a:t>
            </a:r>
          </a:p>
          <a:p>
            <a:r>
              <a:t>- Core orchestration, role boundaries, and the seven-file process surface are 100% complete and tested.</a:t>
            </a:r>
          </a:p>
          <a:p>
            <a:r>
              <a:t>- Pre-validation, auto-remediation, and reporting are 95% complete.</a:t>
            </a:r>
          </a:p>
          <a:p>
            <a:r>
              <a:t>The remaining 8% represents operational hardening prior to Day-1 live production execution:</a:t>
            </a:r>
          </a:p>
          <a:p>
            <a:r>
              <a:t>1. End-to-end soak testing in a client staging ARO cluster.</a:t>
            </a:r>
          </a:p>
          <a:p>
            <a:r>
              <a:t>2. Network tuning for corporate HTTP/HTTPS proxy environments where API latency might require extended timeout thresholds.</a:t>
            </a:r>
          </a:p>
          <a:p>
            <a:r>
              <a:t>3. Final operational handover and runbook approval by the client Change Advisory Board.</a:t>
            </a:r>
          </a:p>
          <a:p>
            <a:r>
              <a:t>Source references: context/progress-tracker.md, Documentation.md.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details the Enterprise Risk Assessment &amp; Mitigation Matrix.</a:t>
            </a:r>
          </a:p>
          <a:p>
            <a:r>
              <a:t>Every potential upgrade failure scenario has been analyzed and mapped to built-in automation controls:</a:t>
            </a:r>
          </a:p>
          <a:p>
            <a:r>
              <a:t>1. Worker Node Eviction: If a pod with strict PodDisruptionBudgets prevents a node from draining, our 15-minute drain timeout prevents the upgrade from hanging indefinitely.</a:t>
            </a:r>
          </a:p>
          <a:p>
            <a:r>
              <a:t>2. Quorum Loss: etcd health is verified before every hop. If etcd is degraded, the upgrade cannot start.</a:t>
            </a:r>
          </a:p>
          <a:p>
            <a:r>
              <a:t>3. Multi-Hop Failure: The settle gate prevents runaway upgrades. If Hop 1 (e.g. 4.12 -&gt; 4.13) degrades, Hop 2 (4.13 -&gt; 4.14) is never triggered.</a:t>
            </a:r>
          </a:p>
          <a:p>
            <a:r>
              <a:t>4. Process Collision: Handled deterministically by the PID lock mechanism.</a:t>
            </a:r>
          </a:p>
          <a:p>
            <a:r>
              <a:t>Source references: context/code-standards.md, context/architecture.md, context/feature-spec/15-exception-handling-patterns.md.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provides the Operational Runbook for SREs and platform engineers.</a:t>
            </a:r>
          </a:p>
          <a:p>
            <a:r>
              <a:t>The system offers three primary operational paradigms:</a:t>
            </a:r>
          </a:p>
          <a:p>
            <a:r>
              <a:t>1. Standard Full Execution: Triggered via `00_Run.sh` with cluster name, target version, and environment flags.</a:t>
            </a:r>
          </a:p>
          <a:p>
            <a:r>
              <a:t>2. Standalone Pre-Validation / Dry-Run: Allows engineers to assess cluster health days in advance without mutating resources.</a:t>
            </a:r>
          </a:p>
          <a:p>
            <a:r>
              <a:t>3. Fine-Grained Phase Control: SREs can resume interrupted runs using `skip_to_phase=phase_04` or pause after validation with `stop_after_phase=phase_02`.</a:t>
            </a:r>
          </a:p>
          <a:p>
            <a:r>
              <a:t>In case of emergency, `./06_Cleanup.sh --force` safely breaks locks and clears scratch buffers.</a:t>
            </a:r>
          </a:p>
          <a:p>
            <a:r>
              <a:t>Source references: playbooks/00_Run.sh, playbooks/01_PreValidation.sh, playbooks/06_Cleanup.sh, context/architecture.md.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24 concludes the presentation and opens the floor for stakeholder questions and architecture alignment.</a:t>
            </a:r>
          </a:p>
          <a:p>
            <a:r>
              <a:t>Recommended next steps:</a:t>
            </a:r>
          </a:p>
          <a:p>
            <a:r>
              <a:t>1. Conduct a staging pilot upgrade on a non-production cluster to establish baseline timing and validate network proxy egress.</a:t>
            </a:r>
          </a:p>
          <a:p>
            <a:r>
              <a:t>2. Conduct SRE training and runbook walkthrough with the platform operations team.</a:t>
            </a:r>
          </a:p>
          <a:p>
            <a:r>
              <a:t>3. Obtain CAB approval and execute production fleet upgrades during scheduled maintenance windows.</a:t>
            </a:r>
          </a:p>
          <a:p>
            <a:r>
              <a:t>All engineering deliverables—the 34-section Word specification, this 24-slide executive presentation, and all 18 high-resolution architecture diagrams—are fully compiled and ready for deployment.</a:t>
            </a:r>
          </a:p>
          <a:p>
            <a:r>
              <a:t>Thank you. We welcome your questions.</a:t>
            </a:r>
          </a:p>
          <a:p>
            <a:r>
              <a:t>Source references: Documentation.md, README.md, context/progress-tracker.md.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97280" y="1645920"/>
            <a:ext cx="137160" cy="29260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554480"/>
            <a:ext cx="9601200" cy="3108960"/>
          </a:xfrm>
          <a:prstGeom prst="rect">
            <a:avLst/>
          </a:prstGeom>
          <a:noFill/>
        </p:spPr>
        <p:txBody>
          <a:bodyPr wrap="square">
            <a:spAutoFit/>
          </a:bodyPr>
          <a:lstStyle/>
          <a:p>
            <a:pPr>
              <a:defRPr sz="3600" b="1">
                <a:solidFill>
                  <a:srgbClr val="FFFFFF"/>
                </a:solidFill>
              </a:defRPr>
            </a:pPr>
            <a:r>
              <a:t>Azure Red Hat OpenShift (ARO)</a:t>
            </a:r>
          </a:p>
          <a:p>
            <a:pPr>
              <a:spcAft>
                <a:spcPts val="1600"/>
              </a:spcAft>
              <a:defRPr sz="3200" b="1">
                <a:solidFill>
                  <a:srgbClr val="FFFFFF"/>
                </a:solidFill>
              </a:defRPr>
            </a:pPr>
            <a:r>
              <a:t>Cluster Upgrade Automation Framework</a:t>
            </a:r>
          </a:p>
          <a:p>
            <a:pPr>
              <a:defRPr sz="1500">
                <a:solidFill>
                  <a:srgbClr val="CBD5E1"/>
                </a:solidFill>
              </a:defRPr>
            </a:pPr>
            <a:r>
              <a:t>Enterprise-Grade Multi-Hop Lifecycle Management, Deterministic Pre/Post-Validation, Auto-Remediation &amp; Zero-AI Reliability</a:t>
            </a:r>
          </a:p>
        </p:txBody>
      </p:sp>
      <p:sp>
        <p:nvSpPr>
          <p:cNvPr id="5" name="TextBox 4"/>
          <p:cNvSpPr txBox="1"/>
          <p:nvPr/>
        </p:nvSpPr>
        <p:spPr>
          <a:xfrm>
            <a:off x="1463040" y="5120640"/>
            <a:ext cx="9601200" cy="1097280"/>
          </a:xfrm>
          <a:prstGeom prst="rect">
            <a:avLst/>
          </a:prstGeom>
          <a:noFill/>
        </p:spPr>
        <p:txBody>
          <a:bodyPr wrap="none">
            <a:spAutoFit/>
          </a:bodyPr>
          <a:lstStyle/>
          <a:p>
            <a:pPr>
              <a:spcAft>
                <a:spcPts val="400"/>
              </a:spcAft>
              <a:defRPr sz="1100" b="1">
                <a:solidFill>
                  <a:srgbClr val="D97706"/>
                </a:solidFill>
              </a:defRPr>
            </a:pPr>
            <a:r>
              <a:t>ARCHITECTURE &amp; OPERATIONAL WALKTHROUGH  |  VERSION 1.0.0-PROD  |  TARGET OCP 4.12 → 4.14+</a:t>
            </a:r>
          </a:p>
          <a:p>
            <a:pPr>
              <a:defRPr sz="1000">
                <a:solidFill>
                  <a:srgbClr val="94A3B8"/>
                </a:solidFill>
              </a:defRPr>
            </a:pPr>
            <a:r>
              <a:t>Execution Engine: Ansible 2.7.17 / 2.14.18 Dual-Engine Compatible  •  Strict Confidentiality  •  Pure Determinism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STRATEGIC OVERVIEW</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Executive Summary: Automated Lifecycle Management</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28416" cy="393192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37360"/>
            <a:ext cx="2962656" cy="3657600"/>
          </a:xfrm>
          <a:prstGeom prst="rect">
            <a:avLst/>
          </a:prstGeom>
          <a:noFill/>
        </p:spPr>
        <p:txBody>
          <a:bodyPr wrap="square" lIns="0" tIns="0" rIns="0" bIns="0">
            <a:spAutoFit/>
          </a:bodyPr>
          <a:lstStyle/>
          <a:p>
            <a:pPr>
              <a:spcAft>
                <a:spcPts val="800"/>
              </a:spcAft>
              <a:defRPr sz="1400" b="1">
                <a:solidFill>
                  <a:srgbClr val="0F2744"/>
                </a:solidFill>
              </a:defRPr>
            </a:pPr>
            <a:r>
              <a:rPr dirty="0"/>
              <a:t>Multi-Hop Intelligence</a:t>
            </a:r>
          </a:p>
          <a:p>
            <a:pPr>
              <a:spcAft>
                <a:spcPts val="600"/>
              </a:spcAft>
              <a:defRPr sz="900" b="1">
                <a:solidFill>
                  <a:srgbClr val="1B4965"/>
                </a:solidFill>
              </a:defRPr>
            </a:pPr>
            <a:r>
              <a:rPr dirty="0"/>
              <a:t>[CORE ENGINE]</a:t>
            </a:r>
          </a:p>
          <a:p>
            <a:pPr>
              <a:spcAft>
                <a:spcPts val="400"/>
              </a:spcAft>
              <a:defRPr sz="1050">
                <a:solidFill>
                  <a:srgbClr val="1E293B"/>
                </a:solidFill>
              </a:defRPr>
            </a:pPr>
            <a:r>
              <a:rPr dirty="0"/>
              <a:t>•  Autonomous traversal across OpenShift Y-stream versions (e.g. 4.12 -&gt; 4.13 -&gt; 4.14).</a:t>
            </a:r>
          </a:p>
          <a:p>
            <a:pPr>
              <a:spcAft>
                <a:spcPts val="400"/>
              </a:spcAft>
              <a:defRPr sz="1050">
                <a:solidFill>
                  <a:srgbClr val="1E293B"/>
                </a:solidFill>
              </a:defRPr>
            </a:pPr>
            <a:r>
              <a:rPr dirty="0"/>
              <a:t>•  Enforces strict OpenShift upgrade graph channel constraints without manual version skipping.</a:t>
            </a:r>
          </a:p>
          <a:p>
            <a:pPr>
              <a:spcAft>
                <a:spcPts val="400"/>
              </a:spcAft>
              <a:defRPr sz="1050">
                <a:solidFill>
                  <a:srgbClr val="1E293B"/>
                </a:solidFill>
              </a:defRPr>
            </a:pPr>
            <a:r>
              <a:rPr dirty="0"/>
              <a:t>•  Intermediate settlement gate verification guarantees cluster health before triggering subsequent hops.</a:t>
            </a:r>
          </a:p>
          <a:p>
            <a:pPr>
              <a:spcAft>
                <a:spcPts val="400"/>
              </a:spcAft>
              <a:defRPr sz="1050">
                <a:solidFill>
                  <a:srgbClr val="1E293B"/>
                </a:solidFill>
              </a:defRPr>
            </a:pPr>
            <a:r>
              <a:rPr dirty="0"/>
              <a:t>•  Eliminates hours of manual CLI monitoring and human tracking errors.</a:t>
            </a:r>
          </a:p>
        </p:txBody>
      </p:sp>
      <p:sp>
        <p:nvSpPr>
          <p:cNvPr id="8" name="Rounded Rectangle 7"/>
          <p:cNvSpPr/>
          <p:nvPr/>
        </p:nvSpPr>
        <p:spPr>
          <a:xfrm>
            <a:off x="4425696" y="1463040"/>
            <a:ext cx="3328416" cy="393192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37360"/>
            <a:ext cx="2962656" cy="3657600"/>
          </a:xfrm>
          <a:prstGeom prst="rect">
            <a:avLst/>
          </a:prstGeom>
          <a:noFill/>
        </p:spPr>
        <p:txBody>
          <a:bodyPr wrap="square" lIns="0" tIns="0" rIns="0" bIns="0">
            <a:spAutoFit/>
          </a:bodyPr>
          <a:lstStyle/>
          <a:p>
            <a:pPr>
              <a:spcAft>
                <a:spcPts val="800"/>
              </a:spcAft>
              <a:defRPr sz="1400" b="1">
                <a:solidFill>
                  <a:srgbClr val="0F2744"/>
                </a:solidFill>
              </a:defRPr>
            </a:pPr>
            <a:r>
              <a:t>Resilient Self-Healing</a:t>
            </a:r>
          </a:p>
          <a:p>
            <a:pPr>
              <a:spcAft>
                <a:spcPts val="600"/>
              </a:spcAft>
              <a:defRPr sz="900" b="1">
                <a:solidFill>
                  <a:srgbClr val="1B4965"/>
                </a:solidFill>
              </a:defRPr>
            </a:pPr>
            <a:r>
              <a:t>[SELF-HEALING]</a:t>
            </a:r>
          </a:p>
          <a:p>
            <a:pPr>
              <a:spcAft>
                <a:spcPts val="400"/>
              </a:spcAft>
              <a:defRPr sz="1050">
                <a:solidFill>
                  <a:srgbClr val="1E293B"/>
                </a:solidFill>
              </a:defRPr>
            </a:pPr>
            <a:r>
              <a:t>•  15-Point Pre-Validation engine systematically detects cluster anomalies before upgrades begin.</a:t>
            </a:r>
          </a:p>
          <a:p>
            <a:pPr>
              <a:spcAft>
                <a:spcPts val="400"/>
              </a:spcAft>
              <a:defRPr sz="1050">
                <a:solidFill>
                  <a:srgbClr val="1E293B"/>
                </a:solidFill>
              </a:defRPr>
            </a:pPr>
            <a:r>
              <a:t>•  6 Deterministic Auto-Remediators resolve transient blockers without human escalation.</a:t>
            </a:r>
          </a:p>
          <a:p>
            <a:pPr>
              <a:spcAft>
                <a:spcPts val="400"/>
              </a:spcAft>
              <a:defRPr sz="1050">
                <a:solidFill>
                  <a:srgbClr val="1E293B"/>
                </a:solidFill>
              </a:defRPr>
            </a:pPr>
            <a:r>
              <a:t>•  Includes automated CSR approval, evicted pod pruning, uncordoning nodes, and MCP stabilization.</a:t>
            </a:r>
          </a:p>
          <a:p>
            <a:pPr>
              <a:spcAft>
                <a:spcPts val="400"/>
              </a:spcAft>
              <a:defRPr sz="1050">
                <a:solidFill>
                  <a:srgbClr val="1E293B"/>
                </a:solidFill>
              </a:defRPr>
            </a:pPr>
            <a:r>
              <a:t>•  Fails safely and closes execution if non-remediable conditions are detected.</a:t>
            </a:r>
          </a:p>
        </p:txBody>
      </p:sp>
      <p:sp>
        <p:nvSpPr>
          <p:cNvPr id="10" name="Rounded Rectangle 9"/>
          <p:cNvSpPr/>
          <p:nvPr/>
        </p:nvSpPr>
        <p:spPr>
          <a:xfrm>
            <a:off x="8119872" y="1463040"/>
            <a:ext cx="3328416" cy="393192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2752" y="1737360"/>
            <a:ext cx="2962656" cy="3657600"/>
          </a:xfrm>
          <a:prstGeom prst="rect">
            <a:avLst/>
          </a:prstGeom>
          <a:noFill/>
        </p:spPr>
        <p:txBody>
          <a:bodyPr wrap="square" lIns="0" tIns="0" rIns="0" bIns="0">
            <a:spAutoFit/>
          </a:bodyPr>
          <a:lstStyle/>
          <a:p>
            <a:pPr>
              <a:spcAft>
                <a:spcPts val="800"/>
              </a:spcAft>
              <a:defRPr sz="1400" b="1">
                <a:solidFill>
                  <a:srgbClr val="0F2744"/>
                </a:solidFill>
              </a:defRPr>
            </a:pPr>
            <a:r>
              <a:t>Zero-AI Determinism</a:t>
            </a:r>
          </a:p>
          <a:p>
            <a:pPr>
              <a:spcAft>
                <a:spcPts val="600"/>
              </a:spcAft>
              <a:defRPr sz="900" b="1">
                <a:solidFill>
                  <a:srgbClr val="1B4965"/>
                </a:solidFill>
              </a:defRPr>
            </a:pPr>
            <a:r>
              <a:t>[GOVERNANCE]</a:t>
            </a:r>
          </a:p>
          <a:p>
            <a:pPr>
              <a:spcAft>
                <a:spcPts val="400"/>
              </a:spcAft>
              <a:defRPr sz="1050">
                <a:solidFill>
                  <a:srgbClr val="1E293B"/>
                </a:solidFill>
              </a:defRPr>
            </a:pPr>
            <a:r>
              <a:t>•  Zero non-deterministic AI or LLMs in the execution and remediation path.</a:t>
            </a:r>
          </a:p>
          <a:p>
            <a:pPr>
              <a:spcAft>
                <a:spcPts val="400"/>
              </a:spcAft>
              <a:defRPr sz="1050">
                <a:solidFill>
                  <a:srgbClr val="1E293B"/>
                </a:solidFill>
              </a:defRPr>
            </a:pPr>
            <a:r>
              <a:t>•  Full dual-engine compatibility: tested across Ansible 2.7.17 and modern Ansible 2.14.18.</a:t>
            </a:r>
          </a:p>
          <a:p>
            <a:pPr>
              <a:spcAft>
                <a:spcPts val="400"/>
              </a:spcAft>
              <a:defRPr sz="1050">
                <a:solidFill>
                  <a:srgbClr val="1E293B"/>
                </a:solidFill>
              </a:defRPr>
            </a:pPr>
            <a:r>
              <a:t>•  Immutable baseline JSON state capture before and after upgrade with automated drift analysis.</a:t>
            </a:r>
          </a:p>
          <a:p>
            <a:pPr>
              <a:spcAft>
                <a:spcPts val="400"/>
              </a:spcAft>
              <a:defRPr sz="1050">
                <a:solidFill>
                  <a:srgbClr val="1E293B"/>
                </a:solidFill>
              </a:defRPr>
            </a:pPr>
            <a:r>
              <a:t>•  Executive HTML email digest and machine-readable audit trail for compliance verification.</a:t>
            </a:r>
          </a:p>
        </p:txBody>
      </p:sp>
      <p:sp>
        <p:nvSpPr>
          <p:cNvPr id="12" name="Rectangle 11"/>
          <p:cNvSpPr/>
          <p:nvPr/>
        </p:nvSpPr>
        <p:spPr>
          <a:xfrm>
            <a:off x="731520" y="5577840"/>
            <a:ext cx="10716768" cy="82296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669280"/>
            <a:ext cx="10351008" cy="640080"/>
          </a:xfrm>
          <a:prstGeom prst="rect">
            <a:avLst/>
          </a:prstGeom>
          <a:noFill/>
        </p:spPr>
        <p:txBody>
          <a:bodyPr wrap="none">
            <a:spAutoFit/>
          </a:bodyPr>
          <a:lstStyle/>
          <a:p>
            <a:pPr algn="ctr">
              <a:defRPr sz="1300" b="1">
                <a:solidFill>
                  <a:srgbClr val="FFFFFF"/>
                </a:solidFill>
              </a:defRPr>
            </a:pPr>
            <a:r>
              <a:t>100% Deterministic Engine   |   24 Modular Ansible Roles   |   15 Pre-Checks   |   6 Auto-Fixes   |   Zero Service Outage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BUSINESS &amp; TECHNICAL DRIVERS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Problem Statement: The Reality of Manual OCP Upgrades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75504"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809744" cy="1737360"/>
          </a:xfrm>
          <a:prstGeom prst="rect">
            <a:avLst/>
          </a:prstGeom>
          <a:noFill/>
        </p:spPr>
        <p:txBody>
          <a:bodyPr wrap="square" lIns="0" tIns="0" rIns="0" bIns="0">
            <a:spAutoFit/>
          </a:bodyPr>
          <a:lstStyle/>
          <a:p>
            <a:pPr>
              <a:spcAft>
                <a:spcPts val="800"/>
              </a:spcAft>
              <a:defRPr sz="1400" b="1">
                <a:solidFill>
                  <a:srgbClr val="0F2744"/>
                </a:solidFill>
              </a:defRPr>
            </a:pPr>
            <a:r>
              <a:t>1. Multi-Hop Manual Sequencing Fatigue</a:t>
            </a:r>
          </a:p>
          <a:p>
            <a:pPr>
              <a:spcAft>
                <a:spcPts val="600"/>
              </a:spcAft>
              <a:defRPr sz="900" b="1">
                <a:solidFill>
                  <a:srgbClr val="1B4965"/>
                </a:solidFill>
              </a:defRPr>
            </a:pPr>
            <a:r>
              <a:t>[RISK: CRITICAL]</a:t>
            </a:r>
          </a:p>
          <a:p>
            <a:pPr>
              <a:spcAft>
                <a:spcPts val="400"/>
              </a:spcAft>
              <a:defRPr sz="1050">
                <a:solidFill>
                  <a:srgbClr val="1E293B"/>
                </a:solidFill>
              </a:defRPr>
            </a:pPr>
            <a:r>
              <a:t>•  Upgrading across minor releases requires calculating intermediate versions.</a:t>
            </a:r>
          </a:p>
          <a:p>
            <a:pPr>
              <a:spcAft>
                <a:spcPts val="400"/>
              </a:spcAft>
              <a:defRPr sz="1050">
                <a:solidFill>
                  <a:srgbClr val="1E293B"/>
                </a:solidFill>
              </a:defRPr>
            </a:pPr>
            <a:r>
              <a:t>•  Engineers must manually monitor oc get clusterversion for 4-8 hours per hop.</a:t>
            </a:r>
          </a:p>
          <a:p>
            <a:pPr>
              <a:spcAft>
                <a:spcPts val="400"/>
              </a:spcAft>
              <a:defRPr sz="1050">
                <a:solidFill>
                  <a:srgbClr val="1E293B"/>
                </a:solidFill>
              </a:defRPr>
            </a:pPr>
            <a:r>
              <a:t>•  High risk of human error when selecting channels (fast vs stable vs candidate).</a:t>
            </a:r>
          </a:p>
        </p:txBody>
      </p:sp>
      <p:sp>
        <p:nvSpPr>
          <p:cNvPr id="8" name="Rounded Rectangle 7"/>
          <p:cNvSpPr/>
          <p:nvPr/>
        </p:nvSpPr>
        <p:spPr>
          <a:xfrm>
            <a:off x="6272784" y="1463040"/>
            <a:ext cx="5175504"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55664" y="1600200"/>
            <a:ext cx="4809744" cy="1737360"/>
          </a:xfrm>
          <a:prstGeom prst="rect">
            <a:avLst/>
          </a:prstGeom>
          <a:noFill/>
        </p:spPr>
        <p:txBody>
          <a:bodyPr wrap="square" lIns="0" tIns="0" rIns="0" bIns="0">
            <a:spAutoFit/>
          </a:bodyPr>
          <a:lstStyle/>
          <a:p>
            <a:pPr>
              <a:spcAft>
                <a:spcPts val="800"/>
              </a:spcAft>
              <a:defRPr sz="1400" b="1">
                <a:solidFill>
                  <a:srgbClr val="0F2744"/>
                </a:solidFill>
              </a:defRPr>
            </a:pPr>
            <a:r>
              <a:t>2. Operator Skew &amp; Incompatible APIs</a:t>
            </a:r>
          </a:p>
          <a:p>
            <a:pPr>
              <a:spcAft>
                <a:spcPts val="600"/>
              </a:spcAft>
              <a:defRPr sz="900" b="1">
                <a:solidFill>
                  <a:srgbClr val="1B4965"/>
                </a:solidFill>
              </a:defRPr>
            </a:pPr>
            <a:r>
              <a:t>[RISK: HIGH]</a:t>
            </a:r>
          </a:p>
          <a:p>
            <a:pPr>
              <a:spcAft>
                <a:spcPts val="400"/>
              </a:spcAft>
              <a:defRPr sz="1050">
                <a:solidFill>
                  <a:srgbClr val="1E293B"/>
                </a:solidFill>
              </a:defRPr>
            </a:pPr>
            <a:r>
              <a:t>•  Day-2 OLM operators (Logging, Service Mesh, ODF) lag behind core Kubernetes APIs.</a:t>
            </a:r>
          </a:p>
          <a:p>
            <a:pPr>
              <a:spcAft>
                <a:spcPts val="400"/>
              </a:spcAft>
              <a:defRPr sz="1050">
                <a:solidFill>
                  <a:srgbClr val="1E293B"/>
                </a:solidFill>
              </a:defRPr>
            </a:pPr>
            <a:r>
              <a:t>•  Unapproved InstallPlans silently block upgrades or break application workloads.</a:t>
            </a:r>
          </a:p>
          <a:p>
            <a:pPr>
              <a:spcAft>
                <a:spcPts val="400"/>
              </a:spcAft>
              <a:defRPr sz="1050">
                <a:solidFill>
                  <a:srgbClr val="1E293B"/>
                </a:solidFill>
              </a:defRPr>
            </a:pPr>
            <a:r>
              <a:t>•  Manual inspection of dozens of OperatorSubscriptions is prone to omissions.</a:t>
            </a:r>
          </a:p>
        </p:txBody>
      </p:sp>
      <p:sp>
        <p:nvSpPr>
          <p:cNvPr id="10" name="Rounded Rectangle 9"/>
          <p:cNvSpPr/>
          <p:nvPr/>
        </p:nvSpPr>
        <p:spPr>
          <a:xfrm>
            <a:off x="731520" y="3657600"/>
            <a:ext cx="5175504"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794760"/>
            <a:ext cx="4809744" cy="1737360"/>
          </a:xfrm>
          <a:prstGeom prst="rect">
            <a:avLst/>
          </a:prstGeom>
          <a:noFill/>
        </p:spPr>
        <p:txBody>
          <a:bodyPr wrap="square" lIns="0" tIns="0" rIns="0" bIns="0">
            <a:spAutoFit/>
          </a:bodyPr>
          <a:lstStyle/>
          <a:p>
            <a:pPr>
              <a:spcAft>
                <a:spcPts val="800"/>
              </a:spcAft>
              <a:defRPr sz="1400" b="1">
                <a:solidFill>
                  <a:srgbClr val="0F2744"/>
                </a:solidFill>
              </a:defRPr>
            </a:pPr>
            <a:r>
              <a:t>3. Configuration Drift &amp; Transient Blockers</a:t>
            </a:r>
          </a:p>
          <a:p>
            <a:pPr>
              <a:spcAft>
                <a:spcPts val="600"/>
              </a:spcAft>
              <a:defRPr sz="900" b="1">
                <a:solidFill>
                  <a:srgbClr val="1B4965"/>
                </a:solidFill>
              </a:defRPr>
            </a:pPr>
            <a:r>
              <a:t>[RISK: HIGH]</a:t>
            </a:r>
          </a:p>
          <a:p>
            <a:pPr>
              <a:spcAft>
                <a:spcPts val="400"/>
              </a:spcAft>
              <a:defRPr sz="1050">
                <a:solidFill>
                  <a:srgbClr val="1E293B"/>
                </a:solidFill>
              </a:defRPr>
            </a:pPr>
            <a:r>
              <a:t>•  Pending CSRs, unevicted pod disruptions, or uncordoned worker nodes halt MCO.</a:t>
            </a:r>
          </a:p>
          <a:p>
            <a:pPr>
              <a:spcAft>
                <a:spcPts val="400"/>
              </a:spcAft>
              <a:defRPr sz="1050">
                <a:solidFill>
                  <a:srgbClr val="1E293B"/>
                </a:solidFill>
              </a:defRPr>
            </a:pPr>
            <a:r>
              <a:t>•  Cluster operators flap between Progressing and Degraded, causing confusion.</a:t>
            </a:r>
          </a:p>
          <a:p>
            <a:pPr>
              <a:spcAft>
                <a:spcPts val="400"/>
              </a:spcAft>
              <a:defRPr sz="1050">
                <a:solidFill>
                  <a:srgbClr val="1E293B"/>
                </a:solidFill>
              </a:defRPr>
            </a:pPr>
            <a:r>
              <a:t>•  Engineers often abort upgrades prematurely due to lack of settle metrics.</a:t>
            </a:r>
          </a:p>
        </p:txBody>
      </p:sp>
      <p:sp>
        <p:nvSpPr>
          <p:cNvPr id="12" name="Rounded Rectangle 11"/>
          <p:cNvSpPr/>
          <p:nvPr/>
        </p:nvSpPr>
        <p:spPr>
          <a:xfrm>
            <a:off x="6272784" y="3657600"/>
            <a:ext cx="5175504"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3794760"/>
            <a:ext cx="4809744" cy="1737360"/>
          </a:xfrm>
          <a:prstGeom prst="rect">
            <a:avLst/>
          </a:prstGeom>
          <a:noFill/>
        </p:spPr>
        <p:txBody>
          <a:bodyPr wrap="square" lIns="0" tIns="0" rIns="0" bIns="0">
            <a:spAutoFit/>
          </a:bodyPr>
          <a:lstStyle/>
          <a:p>
            <a:pPr>
              <a:spcAft>
                <a:spcPts val="800"/>
              </a:spcAft>
              <a:defRPr sz="1400" b="1">
                <a:solidFill>
                  <a:srgbClr val="0F2744"/>
                </a:solidFill>
              </a:defRPr>
            </a:pPr>
            <a:r>
              <a:t>4. Audit Deficits &amp; Unverified Rollouts</a:t>
            </a:r>
          </a:p>
          <a:p>
            <a:pPr>
              <a:spcAft>
                <a:spcPts val="600"/>
              </a:spcAft>
              <a:defRPr sz="900" b="1">
                <a:solidFill>
                  <a:srgbClr val="1B4965"/>
                </a:solidFill>
              </a:defRPr>
            </a:pPr>
            <a:r>
              <a:t>[RISK: COMPLIANCE]</a:t>
            </a:r>
          </a:p>
          <a:p>
            <a:pPr>
              <a:spcAft>
                <a:spcPts val="400"/>
              </a:spcAft>
              <a:defRPr sz="1050">
                <a:solidFill>
                  <a:srgbClr val="1E293B"/>
                </a:solidFill>
              </a:defRPr>
            </a:pPr>
            <a:r>
              <a:t>•  Manual terminal sessions leave incomplete logs and no structured state diff.</a:t>
            </a:r>
          </a:p>
          <a:p>
            <a:pPr>
              <a:spcAft>
                <a:spcPts val="400"/>
              </a:spcAft>
              <a:defRPr sz="1050">
                <a:solidFill>
                  <a:srgbClr val="1E293B"/>
                </a:solidFill>
              </a:defRPr>
            </a:pPr>
            <a:r>
              <a:t>•  Post-upgrade verification is often limited to a cursory 'oc get nodes' check.</a:t>
            </a:r>
          </a:p>
          <a:p>
            <a:pPr>
              <a:spcAft>
                <a:spcPts val="400"/>
              </a:spcAft>
              <a:defRPr sz="1050">
                <a:solidFill>
                  <a:srgbClr val="1E293B"/>
                </a:solidFill>
              </a:defRPr>
            </a:pPr>
            <a:r>
              <a:t>•  No centralized HTML report or drift detection between pre- and post-upgrade states.</a:t>
            </a:r>
          </a:p>
        </p:txBody>
      </p:sp>
      <p:sp>
        <p:nvSpPr>
          <p:cNvPr id="14" name="Rectangle 13"/>
          <p:cNvSpPr/>
          <p:nvPr/>
        </p:nvSpPr>
        <p:spPr>
          <a:xfrm>
            <a:off x="731520" y="5806440"/>
            <a:ext cx="10716768" cy="594360"/>
          </a:xfrm>
          <a:prstGeom prst="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92400E"/>
                </a:solidFill>
              </a:defRPr>
            </a:pPr>
            <a:r>
              <a:t>Operational Impact: Manual upgrades average 8 to 14 hours per cluster with elevated MTTR and risk of prolonged maintenance windows.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ARCHITECTURAL SOLUTION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Solution Overview: Enterprise One-Touch Upgrade Automation</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28416" cy="411480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0496" y="1737360"/>
            <a:ext cx="2962656" cy="3840480"/>
          </a:xfrm>
          <a:prstGeom prst="rect">
            <a:avLst/>
          </a:prstGeom>
          <a:noFill/>
        </p:spPr>
        <p:txBody>
          <a:bodyPr wrap="square" lIns="0" tIns="0" rIns="0" bIns="0">
            <a:spAutoFit/>
          </a:bodyPr>
          <a:lstStyle/>
          <a:p>
            <a:pPr>
              <a:spcAft>
                <a:spcPts val="800"/>
              </a:spcAft>
              <a:defRPr sz="1400" b="1">
                <a:solidFill>
                  <a:srgbClr val="0F2744"/>
                </a:solidFill>
              </a:defRPr>
            </a:pPr>
            <a:r>
              <a:rPr dirty="0"/>
              <a:t>1. Orchestrated Execution Surface</a:t>
            </a:r>
          </a:p>
          <a:p>
            <a:pPr>
              <a:spcAft>
                <a:spcPts val="600"/>
              </a:spcAft>
              <a:defRPr sz="900" b="1">
                <a:solidFill>
                  <a:srgbClr val="1B4965"/>
                </a:solidFill>
              </a:defRPr>
            </a:pPr>
            <a:r>
              <a:rPr dirty="0"/>
              <a:t>[PROCESS SURFACE]</a:t>
            </a:r>
          </a:p>
          <a:p>
            <a:pPr>
              <a:spcAft>
                <a:spcPts val="400"/>
              </a:spcAft>
              <a:defRPr sz="1050">
                <a:solidFill>
                  <a:srgbClr val="1E293B"/>
                </a:solidFill>
              </a:defRPr>
            </a:pPr>
            <a:r>
              <a:rPr dirty="0"/>
              <a:t>•  Unified seven-file process surface abstracts complex Ansible mechanics behind predictable shell entry points.</a:t>
            </a:r>
          </a:p>
          <a:p>
            <a:pPr>
              <a:spcAft>
                <a:spcPts val="400"/>
              </a:spcAft>
              <a:defRPr sz="1050">
                <a:solidFill>
                  <a:srgbClr val="1E293B"/>
                </a:solidFill>
              </a:defRPr>
            </a:pPr>
            <a:r>
              <a:rPr dirty="0"/>
              <a:t>•  Global process locking (/</a:t>
            </a:r>
            <a:r>
              <a:rPr dirty="0" err="1"/>
              <a:t>tmp</a:t>
            </a:r>
            <a:r>
              <a:rPr dirty="0"/>
              <a:t>/</a:t>
            </a:r>
            <a:r>
              <a:rPr dirty="0" err="1"/>
              <a:t>aro_upgrade.lock</a:t>
            </a:r>
            <a:r>
              <a:rPr dirty="0"/>
              <a:t>) prevents concurrent runs and data corruption.</a:t>
            </a:r>
          </a:p>
          <a:p>
            <a:pPr>
              <a:spcAft>
                <a:spcPts val="400"/>
              </a:spcAft>
              <a:defRPr sz="1050">
                <a:solidFill>
                  <a:srgbClr val="1E293B"/>
                </a:solidFill>
              </a:defRPr>
            </a:pPr>
            <a:r>
              <a:rPr dirty="0"/>
              <a:t>•  CLI parameter parsing (-c cluster, -t target, -e env, --dry-run) with strict schema validation.</a:t>
            </a:r>
          </a:p>
          <a:p>
            <a:pPr>
              <a:spcAft>
                <a:spcPts val="400"/>
              </a:spcAft>
              <a:defRPr sz="1050">
                <a:solidFill>
                  <a:srgbClr val="1E293B"/>
                </a:solidFill>
              </a:defRPr>
            </a:pPr>
            <a:r>
              <a:rPr dirty="0"/>
              <a:t>•  Complete separation of controller logic from cluster payload.</a:t>
            </a:r>
          </a:p>
        </p:txBody>
      </p:sp>
      <p:sp>
        <p:nvSpPr>
          <p:cNvPr id="8" name="Rounded Rectangle 7"/>
          <p:cNvSpPr/>
          <p:nvPr/>
        </p:nvSpPr>
        <p:spPr>
          <a:xfrm>
            <a:off x="4425696" y="1463040"/>
            <a:ext cx="3328416" cy="411480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4672" y="1737360"/>
            <a:ext cx="2962656" cy="3840480"/>
          </a:xfrm>
          <a:prstGeom prst="rect">
            <a:avLst/>
          </a:prstGeom>
          <a:noFill/>
        </p:spPr>
        <p:txBody>
          <a:bodyPr wrap="square" lIns="0" tIns="0" rIns="0" bIns="0">
            <a:spAutoFit/>
          </a:bodyPr>
          <a:lstStyle/>
          <a:p>
            <a:pPr>
              <a:spcAft>
                <a:spcPts val="800"/>
              </a:spcAft>
              <a:defRPr sz="1400" b="1">
                <a:solidFill>
                  <a:srgbClr val="0F2744"/>
                </a:solidFill>
              </a:defRPr>
            </a:pPr>
            <a:r>
              <a:t>2. Intelligent Path &amp; State Engine</a:t>
            </a:r>
          </a:p>
          <a:p>
            <a:pPr>
              <a:spcAft>
                <a:spcPts val="600"/>
              </a:spcAft>
              <a:defRPr sz="900" b="1">
                <a:solidFill>
                  <a:srgbClr val="1B4965"/>
                </a:solidFill>
              </a:defRPr>
            </a:pPr>
            <a:r>
              <a:t>[STATE ENGINE]</a:t>
            </a:r>
          </a:p>
          <a:p>
            <a:pPr>
              <a:spcAft>
                <a:spcPts val="400"/>
              </a:spcAft>
              <a:defRPr sz="1050">
                <a:solidFill>
                  <a:srgbClr val="1E293B"/>
                </a:solidFill>
              </a:defRPr>
            </a:pPr>
            <a:r>
              <a:t>•  Autonomous version graph traversal computing required intermediate Y-stream hops dynamically.</a:t>
            </a:r>
          </a:p>
          <a:p>
            <a:pPr>
              <a:spcAft>
                <a:spcPts val="400"/>
              </a:spcAft>
              <a:defRPr sz="1050">
                <a:solidFill>
                  <a:srgbClr val="1E293B"/>
                </a:solidFill>
              </a:defRPr>
            </a:pPr>
            <a:r>
              <a:t>•  Atomic JSON state capture preserving pre-upgrade configurations across 8 core cluster domains.</a:t>
            </a:r>
          </a:p>
          <a:p>
            <a:pPr>
              <a:spcAft>
                <a:spcPts val="400"/>
              </a:spcAft>
              <a:defRPr sz="1050">
                <a:solidFill>
                  <a:srgbClr val="1E293B"/>
                </a:solidFill>
              </a:defRPr>
            </a:pPr>
            <a:r>
              <a:t>•  Deterministic 15-point pre-validation coupled with non-disruptive auto-remediations.</a:t>
            </a:r>
          </a:p>
          <a:p>
            <a:pPr>
              <a:spcAft>
                <a:spcPts val="400"/>
              </a:spcAft>
              <a:defRPr sz="1050">
                <a:solidFill>
                  <a:srgbClr val="1E293B"/>
                </a:solidFill>
              </a:defRPr>
            </a:pPr>
            <a:r>
              <a:t>•  Automated operator synchronization for manual OLM subscriptions.</a:t>
            </a:r>
          </a:p>
        </p:txBody>
      </p:sp>
      <p:sp>
        <p:nvSpPr>
          <p:cNvPr id="10" name="Rounded Rectangle 9"/>
          <p:cNvSpPr/>
          <p:nvPr/>
        </p:nvSpPr>
        <p:spPr>
          <a:xfrm>
            <a:off x="8119872" y="1463040"/>
            <a:ext cx="3328416" cy="411480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8848" y="1737360"/>
            <a:ext cx="2962656" cy="3840480"/>
          </a:xfrm>
          <a:prstGeom prst="rect">
            <a:avLst/>
          </a:prstGeom>
          <a:noFill/>
        </p:spPr>
        <p:txBody>
          <a:bodyPr wrap="square" lIns="0" tIns="0" rIns="0" bIns="0">
            <a:spAutoFit/>
          </a:bodyPr>
          <a:lstStyle/>
          <a:p>
            <a:pPr>
              <a:spcAft>
                <a:spcPts val="800"/>
              </a:spcAft>
              <a:defRPr sz="1400" b="1">
                <a:solidFill>
                  <a:srgbClr val="0F2744"/>
                </a:solidFill>
              </a:defRPr>
            </a:pPr>
            <a:r>
              <a:t>3. Closed-Loop Settle &amp; Verification</a:t>
            </a:r>
          </a:p>
          <a:p>
            <a:pPr>
              <a:spcAft>
                <a:spcPts val="600"/>
              </a:spcAft>
              <a:defRPr sz="900" b="1">
                <a:solidFill>
                  <a:srgbClr val="1B4965"/>
                </a:solidFill>
              </a:defRPr>
            </a:pPr>
            <a:r>
              <a:t>[CLOSED-LOOP SETTLE]</a:t>
            </a:r>
          </a:p>
          <a:p>
            <a:pPr>
              <a:spcAft>
                <a:spcPts val="400"/>
              </a:spcAft>
              <a:defRPr sz="1050">
                <a:solidFill>
                  <a:srgbClr val="1E293B"/>
                </a:solidFill>
              </a:defRPr>
            </a:pPr>
            <a:r>
              <a:t>•  Real-time monitoring loop polling ClusterVersion, ClusterOperators, and MachineConfigPools every 30s.</a:t>
            </a:r>
          </a:p>
          <a:p>
            <a:pPr>
              <a:spcAft>
                <a:spcPts val="400"/>
              </a:spcAft>
              <a:defRPr sz="1050">
                <a:solidFill>
                  <a:srgbClr val="1E293B"/>
                </a:solidFill>
              </a:defRPr>
            </a:pPr>
            <a:r>
              <a:t>•  Strict mathematical settle gate: All operators Available=True, Progressing=False, Degraded=False, MCP updated=ready.</a:t>
            </a:r>
          </a:p>
          <a:p>
            <a:pPr>
              <a:spcAft>
                <a:spcPts val="400"/>
              </a:spcAft>
              <a:defRPr sz="1050">
                <a:solidFill>
                  <a:srgbClr val="1E293B"/>
                </a:solidFill>
              </a:defRPr>
            </a:pPr>
            <a:r>
              <a:t>•  Post-upgrade diff analysis detecting resource degradation or API schema drift.</a:t>
            </a:r>
          </a:p>
          <a:p>
            <a:pPr>
              <a:spcAft>
                <a:spcPts val="400"/>
              </a:spcAft>
              <a:defRPr sz="1050">
                <a:solidFill>
                  <a:srgbClr val="1E293B"/>
                </a:solidFill>
              </a:defRPr>
            </a:pPr>
            <a:r>
              <a:t>•  Multi-recipient executive HTML email report with tabular status pills and audit trail.</a:t>
            </a:r>
          </a:p>
        </p:txBody>
      </p:sp>
      <p:sp>
        <p:nvSpPr>
          <p:cNvPr id="12" name="Rounded Rectangle 11"/>
          <p:cNvSpPr/>
          <p:nvPr/>
        </p:nvSpPr>
        <p:spPr>
          <a:xfrm>
            <a:off x="731520" y="5715000"/>
            <a:ext cx="10716768"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852160"/>
            <a:ext cx="10351008" cy="502920"/>
          </a:xfrm>
          <a:prstGeom prst="rect">
            <a:avLst/>
          </a:prstGeom>
          <a:noFill/>
        </p:spPr>
        <p:txBody>
          <a:bodyPr wrap="square" lIns="0" tIns="0" rIns="0" bIns="0">
            <a:spAutoFit/>
          </a:bodyPr>
          <a:lstStyle/>
          <a:p>
            <a:pPr>
              <a:spcAft>
                <a:spcPts val="800"/>
              </a:spcAft>
              <a:defRPr sz="1400" b="1">
                <a:solidFill>
                  <a:srgbClr val="0F2744"/>
                </a:solidFill>
              </a:defRPr>
            </a:pPr>
            <a:r>
              <a:t>Architectural Guarantee</a:t>
            </a:r>
          </a:p>
          <a:p>
            <a:pPr>
              <a:spcAft>
                <a:spcPts val="600"/>
              </a:spcAft>
              <a:defRPr sz="900" b="1">
                <a:solidFill>
                  <a:srgbClr val="1B4965"/>
                </a:solidFill>
              </a:defRPr>
            </a:pPr>
            <a:r>
              <a:t>[ENTERPRISE READY]</a:t>
            </a:r>
          </a:p>
          <a:p>
            <a:pPr>
              <a:spcAft>
                <a:spcPts val="400"/>
              </a:spcAft>
              <a:defRPr sz="1050">
                <a:solidFill>
                  <a:srgbClr val="1E293B"/>
                </a:solidFill>
              </a:defRPr>
            </a:pPr>
            <a:r>
              <a:t>•  Zero modifications to user workloads • Full fallback to safe state • Least-privilege ServiceAccount RBAC boundary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VALUE PROPOSITION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Quantified Business &amp; Technical Advantages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496312" cy="40233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2130552" cy="3749040"/>
          </a:xfrm>
          <a:prstGeom prst="rect">
            <a:avLst/>
          </a:prstGeom>
          <a:noFill/>
        </p:spPr>
        <p:txBody>
          <a:bodyPr wrap="square" lIns="0" tIns="0" rIns="0" bIns="0">
            <a:spAutoFit/>
          </a:bodyPr>
          <a:lstStyle/>
          <a:p>
            <a:pPr>
              <a:spcAft>
                <a:spcPts val="800"/>
              </a:spcAft>
              <a:defRPr sz="1400" b="1">
                <a:solidFill>
                  <a:srgbClr val="0F2744"/>
                </a:solidFill>
              </a:defRPr>
            </a:pPr>
            <a:r>
              <a:rPr dirty="0"/>
              <a:t>Risk &amp; Outage Elimination</a:t>
            </a:r>
          </a:p>
          <a:p>
            <a:pPr>
              <a:spcAft>
                <a:spcPts val="600"/>
              </a:spcAft>
              <a:defRPr sz="900" b="1">
                <a:solidFill>
                  <a:srgbClr val="1B4965"/>
                </a:solidFill>
              </a:defRPr>
            </a:pPr>
            <a:r>
              <a:rPr dirty="0"/>
              <a:t>[RELIABILITY]</a:t>
            </a:r>
          </a:p>
          <a:p>
            <a:pPr>
              <a:spcAft>
                <a:spcPts val="400"/>
              </a:spcAft>
              <a:defRPr sz="1050">
                <a:solidFill>
                  <a:srgbClr val="1E293B"/>
                </a:solidFill>
              </a:defRPr>
            </a:pPr>
            <a:r>
              <a:rPr dirty="0"/>
              <a:t>•  Zero unplanned application disruption.</a:t>
            </a:r>
          </a:p>
          <a:p>
            <a:pPr>
              <a:spcAft>
                <a:spcPts val="400"/>
              </a:spcAft>
              <a:defRPr sz="1050">
                <a:solidFill>
                  <a:srgbClr val="1E293B"/>
                </a:solidFill>
              </a:defRPr>
            </a:pPr>
            <a:r>
              <a:rPr dirty="0"/>
              <a:t>•  MCP </a:t>
            </a:r>
            <a:r>
              <a:rPr dirty="0" err="1"/>
              <a:t>maxUnavailable</a:t>
            </a:r>
            <a:r>
              <a:rPr dirty="0"/>
              <a:t>=2 worker node concurrency guarantees workload quorum.</a:t>
            </a:r>
          </a:p>
          <a:p>
            <a:pPr>
              <a:spcAft>
                <a:spcPts val="400"/>
              </a:spcAft>
              <a:defRPr sz="1050">
                <a:solidFill>
                  <a:srgbClr val="1E293B"/>
                </a:solidFill>
              </a:defRPr>
            </a:pPr>
            <a:r>
              <a:rPr dirty="0"/>
              <a:t>•  Control plane </a:t>
            </a:r>
            <a:r>
              <a:rPr dirty="0" err="1"/>
              <a:t>etcd</a:t>
            </a:r>
            <a:r>
              <a:rPr dirty="0"/>
              <a:t> leader and quorum integrity verified prior to each hop.</a:t>
            </a:r>
          </a:p>
          <a:p>
            <a:pPr>
              <a:spcAft>
                <a:spcPts val="400"/>
              </a:spcAft>
              <a:defRPr sz="1050">
                <a:solidFill>
                  <a:srgbClr val="1E293B"/>
                </a:solidFill>
              </a:defRPr>
            </a:pPr>
            <a:r>
              <a:rPr dirty="0"/>
              <a:t>•  Auto-rollback awareness: halts further hops if intermediate health fails.</a:t>
            </a:r>
          </a:p>
        </p:txBody>
      </p:sp>
      <p:sp>
        <p:nvSpPr>
          <p:cNvPr id="8" name="Rounded Rectangle 7"/>
          <p:cNvSpPr/>
          <p:nvPr/>
        </p:nvSpPr>
        <p:spPr>
          <a:xfrm>
            <a:off x="3465576" y="1463040"/>
            <a:ext cx="2496312" cy="402336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48456" y="1600200"/>
            <a:ext cx="2130552" cy="3749040"/>
          </a:xfrm>
          <a:prstGeom prst="rect">
            <a:avLst/>
          </a:prstGeom>
          <a:noFill/>
        </p:spPr>
        <p:txBody>
          <a:bodyPr wrap="square" lIns="0" tIns="0" rIns="0" bIns="0">
            <a:spAutoFit/>
          </a:bodyPr>
          <a:lstStyle/>
          <a:p>
            <a:pPr>
              <a:spcAft>
                <a:spcPts val="800"/>
              </a:spcAft>
              <a:defRPr sz="1400" b="1">
                <a:solidFill>
                  <a:srgbClr val="0F2744"/>
                </a:solidFill>
              </a:defRPr>
            </a:pPr>
            <a:r>
              <a:t>75% Effort Reduction</a:t>
            </a:r>
          </a:p>
          <a:p>
            <a:pPr>
              <a:spcAft>
                <a:spcPts val="600"/>
              </a:spcAft>
              <a:defRPr sz="900" b="1">
                <a:solidFill>
                  <a:srgbClr val="1B4965"/>
                </a:solidFill>
              </a:defRPr>
            </a:pPr>
            <a:r>
              <a:t>[PRODUCTIVITY]</a:t>
            </a:r>
          </a:p>
          <a:p>
            <a:pPr>
              <a:spcAft>
                <a:spcPts val="400"/>
              </a:spcAft>
              <a:defRPr sz="1050">
                <a:solidFill>
                  <a:srgbClr val="1E293B"/>
                </a:solidFill>
              </a:defRPr>
            </a:pPr>
            <a:r>
              <a:t>•  Shrinks active engineer involvement from 8-14 hours to a single command trigger.</a:t>
            </a:r>
          </a:p>
          <a:p>
            <a:pPr>
              <a:spcAft>
                <a:spcPts val="400"/>
              </a:spcAft>
              <a:defRPr sz="1050">
                <a:solidFill>
                  <a:srgbClr val="1E293B"/>
                </a:solidFill>
              </a:defRPr>
            </a:pPr>
            <a:r>
              <a:t>•  Autonomous 30-second polling eliminates manual oc watch and screen scraping.</a:t>
            </a:r>
          </a:p>
          <a:p>
            <a:pPr>
              <a:spcAft>
                <a:spcPts val="400"/>
              </a:spcAft>
              <a:defRPr sz="1050">
                <a:solidFill>
                  <a:srgbClr val="1E293B"/>
                </a:solidFill>
              </a:defRPr>
            </a:pPr>
            <a:r>
              <a:t>•  Pre-upgrade auto-remediation resolves transient issues without human paging.</a:t>
            </a:r>
          </a:p>
          <a:p>
            <a:pPr>
              <a:spcAft>
                <a:spcPts val="400"/>
              </a:spcAft>
              <a:defRPr sz="1050">
                <a:solidFill>
                  <a:srgbClr val="1E293B"/>
                </a:solidFill>
              </a:defRPr>
            </a:pPr>
            <a:r>
              <a:t>•  Frees SRE teams to focus on core platform engineering.</a:t>
            </a:r>
          </a:p>
        </p:txBody>
      </p:sp>
      <p:sp>
        <p:nvSpPr>
          <p:cNvPr id="10" name="Rounded Rectangle 9"/>
          <p:cNvSpPr/>
          <p:nvPr/>
        </p:nvSpPr>
        <p:spPr>
          <a:xfrm>
            <a:off x="6199632" y="1463040"/>
            <a:ext cx="2496312" cy="40233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600200"/>
            <a:ext cx="2130552" cy="3749040"/>
          </a:xfrm>
          <a:prstGeom prst="rect">
            <a:avLst/>
          </a:prstGeom>
          <a:noFill/>
        </p:spPr>
        <p:txBody>
          <a:bodyPr wrap="square" lIns="0" tIns="0" rIns="0" bIns="0">
            <a:spAutoFit/>
          </a:bodyPr>
          <a:lstStyle/>
          <a:p>
            <a:pPr>
              <a:spcAft>
                <a:spcPts val="800"/>
              </a:spcAft>
              <a:defRPr sz="1400" b="1">
                <a:solidFill>
                  <a:srgbClr val="0F2744"/>
                </a:solidFill>
              </a:defRPr>
            </a:pPr>
            <a:r>
              <a:t>Audit &amp; Compliance</a:t>
            </a:r>
          </a:p>
          <a:p>
            <a:pPr>
              <a:spcAft>
                <a:spcPts val="600"/>
              </a:spcAft>
              <a:defRPr sz="900" b="1">
                <a:solidFill>
                  <a:srgbClr val="1B4965"/>
                </a:solidFill>
              </a:defRPr>
            </a:pPr>
            <a:r>
              <a:t>[COMPLIANCE]</a:t>
            </a:r>
          </a:p>
          <a:p>
            <a:pPr>
              <a:spcAft>
                <a:spcPts val="400"/>
              </a:spcAft>
              <a:defRPr sz="1050">
                <a:solidFill>
                  <a:srgbClr val="1E293B"/>
                </a:solidFill>
              </a:defRPr>
            </a:pPr>
            <a:r>
              <a:t>•  Immutable JSON snapshots captured before and after upgrade execution.</a:t>
            </a:r>
          </a:p>
          <a:p>
            <a:pPr>
              <a:spcAft>
                <a:spcPts val="400"/>
              </a:spcAft>
              <a:defRPr sz="1050">
                <a:solidFill>
                  <a:srgbClr val="1E293B"/>
                </a:solidFill>
              </a:defRPr>
            </a:pPr>
            <a:r>
              <a:t>•  Full drift detection table highlighting any changed or degraded resources.</a:t>
            </a:r>
          </a:p>
          <a:p>
            <a:pPr>
              <a:spcAft>
                <a:spcPts val="400"/>
              </a:spcAft>
              <a:defRPr sz="1050">
                <a:solidFill>
                  <a:srgbClr val="1E293B"/>
                </a:solidFill>
              </a:defRPr>
            </a:pPr>
            <a:r>
              <a:t>•  Automated HTML email digest distributed to Operations, Security, and Management.</a:t>
            </a:r>
          </a:p>
          <a:p>
            <a:pPr>
              <a:spcAft>
                <a:spcPts val="400"/>
              </a:spcAft>
              <a:defRPr sz="1050">
                <a:solidFill>
                  <a:srgbClr val="1E293B"/>
                </a:solidFill>
              </a:defRPr>
            </a:pPr>
            <a:r>
              <a:t>•  Complete, auditable execution log preserved in central artifact repository.</a:t>
            </a:r>
          </a:p>
        </p:txBody>
      </p:sp>
      <p:sp>
        <p:nvSpPr>
          <p:cNvPr id="12" name="Rounded Rectangle 11"/>
          <p:cNvSpPr/>
          <p:nvPr/>
        </p:nvSpPr>
        <p:spPr>
          <a:xfrm>
            <a:off x="8933688" y="1463040"/>
            <a:ext cx="2496312" cy="402336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16568" y="1600200"/>
            <a:ext cx="2130552" cy="3749040"/>
          </a:xfrm>
          <a:prstGeom prst="rect">
            <a:avLst/>
          </a:prstGeom>
          <a:noFill/>
        </p:spPr>
        <p:txBody>
          <a:bodyPr wrap="square" lIns="0" tIns="0" rIns="0" bIns="0">
            <a:spAutoFit/>
          </a:bodyPr>
          <a:lstStyle/>
          <a:p>
            <a:pPr>
              <a:spcAft>
                <a:spcPts val="800"/>
              </a:spcAft>
              <a:defRPr sz="1400" b="1">
                <a:solidFill>
                  <a:srgbClr val="0F2744"/>
                </a:solidFill>
              </a:defRPr>
            </a:pPr>
            <a:r>
              <a:t>Day-2 Operator Alignment</a:t>
            </a:r>
          </a:p>
          <a:p>
            <a:pPr>
              <a:spcAft>
                <a:spcPts val="600"/>
              </a:spcAft>
              <a:defRPr sz="900" b="1">
                <a:solidFill>
                  <a:srgbClr val="1B4965"/>
                </a:solidFill>
              </a:defRPr>
            </a:pPr>
            <a:r>
              <a:t>[OPERATOR SAFETY]</a:t>
            </a:r>
          </a:p>
          <a:p>
            <a:pPr>
              <a:spcAft>
                <a:spcPts val="400"/>
              </a:spcAft>
              <a:defRPr sz="1050">
                <a:solidFill>
                  <a:srgbClr val="1E293B"/>
                </a:solidFill>
              </a:defRPr>
            </a:pPr>
            <a:r>
              <a:t>•  Prevents catastrophic API drift between OpenShift core and installed operators.</a:t>
            </a:r>
          </a:p>
          <a:p>
            <a:pPr>
              <a:spcAft>
                <a:spcPts val="400"/>
              </a:spcAft>
              <a:defRPr sz="1050">
                <a:solidFill>
                  <a:srgbClr val="1E293B"/>
                </a:solidFill>
              </a:defRPr>
            </a:pPr>
            <a:r>
              <a:t>•  Automatically discovers and approves pending InstallPlans during upgrade window.</a:t>
            </a:r>
          </a:p>
          <a:p>
            <a:pPr>
              <a:spcAft>
                <a:spcPts val="400"/>
              </a:spcAft>
              <a:defRPr sz="1050">
                <a:solidFill>
                  <a:srgbClr val="1E293B"/>
                </a:solidFill>
              </a:defRPr>
            </a:pPr>
            <a:r>
              <a:t>•  Ensures critical cluster addons (Service Mesh, ODF, Logging) maintain API support.</a:t>
            </a:r>
          </a:p>
          <a:p>
            <a:pPr>
              <a:spcAft>
                <a:spcPts val="400"/>
              </a:spcAft>
              <a:defRPr sz="1050">
                <a:solidFill>
                  <a:srgbClr val="1E293B"/>
                </a:solidFill>
              </a:defRPr>
            </a:pPr>
            <a:r>
              <a:t>•  Validates operator health before declaring maintenance complete.</a:t>
            </a:r>
          </a:p>
        </p:txBody>
      </p:sp>
      <p:sp>
        <p:nvSpPr>
          <p:cNvPr id="14" name="Rectangle 13"/>
          <p:cNvSpPr/>
          <p:nvPr/>
        </p:nvSpPr>
        <p:spPr>
          <a:xfrm>
            <a:off x="731520" y="5623560"/>
            <a:ext cx="10698480" cy="77724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715000"/>
            <a:ext cx="10332720" cy="594360"/>
          </a:xfrm>
          <a:prstGeom prst="rect">
            <a:avLst/>
          </a:prstGeom>
          <a:noFill/>
        </p:spPr>
        <p:txBody>
          <a:bodyPr wrap="none">
            <a:spAutoFit/>
          </a:bodyPr>
          <a:lstStyle/>
          <a:p>
            <a:pPr algn="ctr">
              <a:defRPr sz="1200" b="1">
                <a:solidFill>
                  <a:srgbClr val="FFFFFF"/>
                </a:solidFill>
              </a:defRPr>
            </a:pPr>
            <a:r>
              <a:t>Business Outcome: Deterministic, error-free upgrades with guaranteed SLA compliance, total audit traceability, and maximum operational efficiency.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SYSTEM CONTEXT</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System Context: Interaction Boundaries &amp; Target Environment</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47672"/>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Boundary Architecture &amp; Actors</a:t>
            </a:r>
          </a:p>
          <a:p>
            <a:pPr>
              <a:spcAft>
                <a:spcPts val="600"/>
              </a:spcAft>
              <a:defRPr sz="900" b="1">
                <a:solidFill>
                  <a:srgbClr val="1B4965"/>
                </a:solidFill>
              </a:defRPr>
            </a:pPr>
            <a:r>
              <a:rPr dirty="0"/>
              <a:t>[ARCHITECTURE BOUNDARY]</a:t>
            </a:r>
          </a:p>
          <a:p>
            <a:pPr>
              <a:spcAft>
                <a:spcPts val="400"/>
              </a:spcAft>
              <a:defRPr sz="1050">
                <a:solidFill>
                  <a:srgbClr val="1E293B"/>
                </a:solidFill>
              </a:defRPr>
            </a:pPr>
            <a:r>
              <a:rPr dirty="0"/>
              <a:t>•  Ansible Controller Node: Runs orchestrator playbooks, manages SSH sessions, hosts local lock files and snapshot artifacts.</a:t>
            </a:r>
          </a:p>
          <a:p>
            <a:pPr>
              <a:spcAft>
                <a:spcPts val="400"/>
              </a:spcAft>
              <a:defRPr sz="1050">
                <a:solidFill>
                  <a:srgbClr val="1E293B"/>
                </a:solidFill>
              </a:defRPr>
            </a:pPr>
            <a:r>
              <a:rPr dirty="0"/>
              <a:t>•  ARO Control Plane (3 Master Nodes): Runs OpenShift API server, </a:t>
            </a:r>
            <a:r>
              <a:rPr dirty="0" err="1"/>
              <a:t>etcd</a:t>
            </a:r>
            <a:r>
              <a:rPr dirty="0"/>
              <a:t> distributed consensus, and core Kubernetes controllers.</a:t>
            </a:r>
          </a:p>
          <a:p>
            <a:pPr>
              <a:spcAft>
                <a:spcPts val="400"/>
              </a:spcAft>
              <a:defRPr sz="1050">
                <a:solidFill>
                  <a:srgbClr val="1E293B"/>
                </a:solidFill>
              </a:defRPr>
            </a:pPr>
            <a:r>
              <a:rPr dirty="0"/>
              <a:t>•  ARO Worker Nodes (Worker MCP): Hosts customer tenant applications, routed ingress, and stateful storage workloads.</a:t>
            </a:r>
          </a:p>
          <a:p>
            <a:pPr>
              <a:spcAft>
                <a:spcPts val="400"/>
              </a:spcAft>
              <a:defRPr sz="1050">
                <a:solidFill>
                  <a:srgbClr val="1E293B"/>
                </a:solidFill>
              </a:defRPr>
            </a:pPr>
            <a:r>
              <a:rPr dirty="0"/>
              <a:t>•  Cluster Version Operator (CVO): Manages cluster update state machine, fetches release payloads, coordinates sub-operators.</a:t>
            </a:r>
          </a:p>
          <a:p>
            <a:pPr>
              <a:spcAft>
                <a:spcPts val="400"/>
              </a:spcAft>
              <a:defRPr sz="1050">
                <a:solidFill>
                  <a:srgbClr val="1E293B"/>
                </a:solidFill>
              </a:defRPr>
            </a:pPr>
            <a:r>
              <a:rPr dirty="0"/>
              <a:t>•  Machine Config Operator (MCO): Coordinates operating system (RHCOS) updates and rolling node reboot cycles.</a:t>
            </a:r>
          </a:p>
          <a:p>
            <a:pPr>
              <a:spcAft>
                <a:spcPts val="400"/>
              </a:spcAft>
              <a:defRPr sz="1050">
                <a:solidFill>
                  <a:srgbClr val="1E293B"/>
                </a:solidFill>
              </a:defRPr>
            </a:pPr>
            <a:r>
              <a:rPr dirty="0"/>
              <a:t>•  Day-2 OLM Operators: Manages add-on lifecycles via Subscriptions and </a:t>
            </a:r>
            <a:r>
              <a:rPr dirty="0" err="1"/>
              <a:t>InstallPlans</a:t>
            </a:r>
            <a:r>
              <a:rPr dirty="0"/>
              <a:t> in </a:t>
            </a:r>
            <a:r>
              <a:rPr dirty="0" err="1"/>
              <a:t>openshift</a:t>
            </a:r>
            <a:r>
              <a:rPr dirty="0"/>
              <a:t>-operators namespace.</a:t>
            </a:r>
          </a:p>
          <a:p>
            <a:pPr>
              <a:spcAft>
                <a:spcPts val="400"/>
              </a:spcAft>
              <a:defRPr sz="1050">
                <a:solidFill>
                  <a:srgbClr val="1E293B"/>
                </a:solidFill>
              </a:defRPr>
            </a:pPr>
            <a:r>
              <a:rPr dirty="0"/>
              <a:t>•  Enterprise SMTP Relay: Delivers executive HTML upgrade reports to platform stakeholders.</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1_system_context.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SYSTEM ARCHITECTURE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High-Level Architecture: Layered Orchestration Pipeline</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984248"/>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Layered Architecture Design</a:t>
            </a:r>
          </a:p>
          <a:p>
            <a:pPr>
              <a:spcAft>
                <a:spcPts val="600"/>
              </a:spcAft>
              <a:defRPr sz="900" b="1">
                <a:solidFill>
                  <a:srgbClr val="1B4965"/>
                </a:solidFill>
              </a:defRPr>
            </a:pPr>
            <a:r>
              <a:rPr dirty="0"/>
              <a:t>[TIERED PIPELINE]</a:t>
            </a:r>
          </a:p>
          <a:p>
            <a:pPr>
              <a:spcAft>
                <a:spcPts val="400"/>
              </a:spcAft>
              <a:defRPr sz="1050">
                <a:solidFill>
                  <a:srgbClr val="1E293B"/>
                </a:solidFill>
              </a:defRPr>
            </a:pPr>
            <a:r>
              <a:rPr dirty="0"/>
              <a:t>•  Tier 1: Shell Execution Surface (00_Run.sh to 06_Cleanup.sh) provides simple operational entry points, environment sanitization, and lock control.</a:t>
            </a:r>
          </a:p>
          <a:p>
            <a:pPr>
              <a:spcAft>
                <a:spcPts val="400"/>
              </a:spcAft>
              <a:defRPr sz="1050">
                <a:solidFill>
                  <a:srgbClr val="1E293B"/>
                </a:solidFill>
              </a:defRPr>
            </a:pPr>
            <a:r>
              <a:rPr dirty="0"/>
              <a:t>•  Tier 2: Playbook Orchestrator (</a:t>
            </a:r>
            <a:r>
              <a:rPr dirty="0" err="1"/>
              <a:t>main.yml</a:t>
            </a:r>
            <a:r>
              <a:rPr dirty="0"/>
              <a:t>) drives the 6 execution phases, manages variable scopes, and coordinates rescue/always teardown logic.</a:t>
            </a:r>
          </a:p>
          <a:p>
            <a:pPr>
              <a:spcAft>
                <a:spcPts val="400"/>
              </a:spcAft>
              <a:defRPr sz="1050">
                <a:solidFill>
                  <a:srgbClr val="1E293B"/>
                </a:solidFill>
              </a:defRPr>
            </a:pPr>
            <a:r>
              <a:rPr dirty="0"/>
              <a:t>•  Tier 3: 24 Reusable Ansible Roles encapsulate single responsibilities across Pre-Validation, Remediation, Upgrade, Monitoring, and Reporting.</a:t>
            </a:r>
          </a:p>
          <a:p>
            <a:pPr>
              <a:spcAft>
                <a:spcPts val="400"/>
              </a:spcAft>
              <a:defRPr sz="1050">
                <a:solidFill>
                  <a:srgbClr val="1E293B"/>
                </a:solidFill>
              </a:defRPr>
            </a:pPr>
            <a:r>
              <a:rPr dirty="0"/>
              <a:t>•  Tier 4: Target Cluster API Engine executes native OpenShift commands via </a:t>
            </a:r>
            <a:r>
              <a:rPr dirty="0" err="1"/>
              <a:t>oc</a:t>
            </a:r>
            <a:r>
              <a:rPr dirty="0"/>
              <a:t> and k8s modules, communicating with CVO, MCO, and OLM.</a:t>
            </a:r>
          </a:p>
          <a:p>
            <a:pPr>
              <a:spcAft>
                <a:spcPts val="400"/>
              </a:spcAft>
              <a:defRPr sz="1050">
                <a:solidFill>
                  <a:srgbClr val="1E293B"/>
                </a:solidFill>
              </a:defRPr>
            </a:pPr>
            <a:r>
              <a:rPr dirty="0"/>
              <a:t>•  Strict boundary isolation: Zero shell scripts touch cluster APIs directly; all interactions flow through structured Ansible roles.</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2_high_level_architecture.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OPERATIONAL INTERFACE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Seven-File Operational Process Surface</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Operational Process Wrappers</a:t>
            </a:r>
          </a:p>
          <a:p>
            <a:pPr>
              <a:spcAft>
                <a:spcPts val="600"/>
              </a:spcAft>
              <a:defRPr sz="900" b="1">
                <a:solidFill>
                  <a:srgbClr val="1B4965"/>
                </a:solidFill>
              </a:defRPr>
            </a:pPr>
            <a:r>
              <a:rPr dirty="0"/>
              <a:t>[PROCESS SURFACE]</a:t>
            </a:r>
          </a:p>
          <a:p>
            <a:pPr>
              <a:spcAft>
                <a:spcPts val="400"/>
              </a:spcAft>
              <a:defRPr sz="1050">
                <a:solidFill>
                  <a:srgbClr val="1E293B"/>
                </a:solidFill>
              </a:defRPr>
            </a:pPr>
            <a:r>
              <a:rPr dirty="0"/>
              <a:t>•  00_Run.sh: Master entry point; executes complete end-to-end upgrade lifecycle with all phases.</a:t>
            </a:r>
          </a:p>
          <a:p>
            <a:pPr>
              <a:spcAft>
                <a:spcPts val="400"/>
              </a:spcAft>
              <a:defRPr sz="1050">
                <a:solidFill>
                  <a:srgbClr val="1E293B"/>
                </a:solidFill>
              </a:defRPr>
            </a:pPr>
            <a:r>
              <a:rPr dirty="0"/>
              <a:t>•  01_PreValidation.sh: Standalone health verification; validates 15 checks and executes auto-remediation.</a:t>
            </a:r>
          </a:p>
          <a:p>
            <a:pPr>
              <a:spcAft>
                <a:spcPts val="400"/>
              </a:spcAft>
              <a:defRPr sz="1050">
                <a:solidFill>
                  <a:srgbClr val="1E293B"/>
                </a:solidFill>
              </a:defRPr>
            </a:pPr>
            <a:r>
              <a:rPr dirty="0"/>
              <a:t>•  02_ClusterUpgrade.sh: Dedicated core OpenShift upgrade engine; handles multi-hop traversal and monitoring.</a:t>
            </a:r>
          </a:p>
          <a:p>
            <a:pPr>
              <a:spcAft>
                <a:spcPts val="400"/>
              </a:spcAft>
              <a:defRPr sz="1050">
                <a:solidFill>
                  <a:srgbClr val="1E293B"/>
                </a:solidFill>
              </a:defRPr>
            </a:pPr>
            <a:r>
              <a:rPr dirty="0"/>
              <a:t>•  03_PostValidation.sh: Post-upgrade verification; performs health checks and baseline drift detection.</a:t>
            </a:r>
          </a:p>
          <a:p>
            <a:pPr>
              <a:spcAft>
                <a:spcPts val="400"/>
              </a:spcAft>
              <a:defRPr sz="1050">
                <a:solidFill>
                  <a:srgbClr val="1E293B"/>
                </a:solidFill>
              </a:defRPr>
            </a:pPr>
            <a:r>
              <a:rPr dirty="0"/>
              <a:t>•  04_OperatorUpgrade.sh: Standalone Day-2 operator discovery and </a:t>
            </a:r>
            <a:r>
              <a:rPr dirty="0" err="1"/>
              <a:t>InstallPlan</a:t>
            </a:r>
            <a:r>
              <a:rPr dirty="0"/>
              <a:t> approval engine.</a:t>
            </a:r>
          </a:p>
          <a:p>
            <a:pPr>
              <a:spcAft>
                <a:spcPts val="400"/>
              </a:spcAft>
              <a:defRPr sz="1050">
                <a:solidFill>
                  <a:srgbClr val="1E293B"/>
                </a:solidFill>
              </a:defRPr>
            </a:pPr>
            <a:r>
              <a:rPr dirty="0"/>
              <a:t>•  05_SendEmail.sh: Manual or scheduled report dispatch; compiles HTML report and sends via SMTP.</a:t>
            </a:r>
          </a:p>
          <a:p>
            <a:pPr>
              <a:spcAft>
                <a:spcPts val="400"/>
              </a:spcAft>
              <a:defRPr sz="1050">
                <a:solidFill>
                  <a:srgbClr val="1E293B"/>
                </a:solidFill>
              </a:defRPr>
            </a:pPr>
            <a:r>
              <a:rPr dirty="0"/>
              <a:t>•  06_Cleanup.sh: Safely releases PID locks, archives logs, and purges temporary scratch files.</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3_seven_process_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EXECUTION LIFECYCLE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End-to-End Upgrade Workflow: Phases 01 through 06</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75104"/>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Sequential Phase Progression</a:t>
            </a:r>
          </a:p>
          <a:p>
            <a:pPr>
              <a:spcAft>
                <a:spcPts val="600"/>
              </a:spcAft>
              <a:defRPr sz="900" b="1">
                <a:solidFill>
                  <a:srgbClr val="1B4965"/>
                </a:solidFill>
              </a:defRPr>
            </a:pPr>
            <a:r>
              <a:rPr dirty="0"/>
              <a:t>[STATE PROGRESSION]</a:t>
            </a:r>
          </a:p>
          <a:p>
            <a:pPr>
              <a:spcAft>
                <a:spcPts val="400"/>
              </a:spcAft>
              <a:defRPr sz="1050">
                <a:solidFill>
                  <a:srgbClr val="1E293B"/>
                </a:solidFill>
              </a:defRPr>
            </a:pPr>
            <a:r>
              <a:rPr dirty="0"/>
              <a:t>•  Phase 01: Pre-Validation &amp; Baseline Snapshot. Validates cluster prerequisites and records baseline state to JSON.</a:t>
            </a:r>
          </a:p>
          <a:p>
            <a:pPr>
              <a:spcAft>
                <a:spcPts val="400"/>
              </a:spcAft>
              <a:defRPr sz="1050">
                <a:solidFill>
                  <a:srgbClr val="1E293B"/>
                </a:solidFill>
              </a:defRPr>
            </a:pPr>
            <a:r>
              <a:rPr dirty="0"/>
              <a:t>•  Phase 02: Deterministic Auto-Remediation. Fixes pending CSRs, evicted pods, and cordon locks; re-verifies health.</a:t>
            </a:r>
          </a:p>
          <a:p>
            <a:pPr>
              <a:spcAft>
                <a:spcPts val="400"/>
              </a:spcAft>
              <a:defRPr sz="1050">
                <a:solidFill>
                  <a:srgbClr val="1E293B"/>
                </a:solidFill>
              </a:defRPr>
            </a:pPr>
            <a:r>
              <a:rPr dirty="0"/>
              <a:t>•  Phase 03: Multi-Hop Core Upgrade. Dynamically traverses Y-stream versions, applying updates one minor version at a time.</a:t>
            </a:r>
          </a:p>
          <a:p>
            <a:pPr>
              <a:spcAft>
                <a:spcPts val="400"/>
              </a:spcAft>
              <a:defRPr sz="1050">
                <a:solidFill>
                  <a:srgbClr val="1E293B"/>
                </a:solidFill>
              </a:defRPr>
            </a:pPr>
            <a:r>
              <a:rPr dirty="0"/>
              <a:t>•  Phase 04: Live Monitoring &amp; Settle Gate. Polls cluster progress every 30s until all operators and MCPs report healthy.</a:t>
            </a:r>
          </a:p>
          <a:p>
            <a:pPr>
              <a:spcAft>
                <a:spcPts val="400"/>
              </a:spcAft>
              <a:defRPr sz="1050">
                <a:solidFill>
                  <a:srgbClr val="1E293B"/>
                </a:solidFill>
              </a:defRPr>
            </a:pPr>
            <a:r>
              <a:rPr dirty="0"/>
              <a:t>•  Phase 05: Day-2 Operator Upgrade. Discovers and approves OLM </a:t>
            </a:r>
            <a:r>
              <a:rPr dirty="0" err="1"/>
              <a:t>InstallPlans</a:t>
            </a:r>
            <a:r>
              <a:rPr dirty="0"/>
              <a:t>, synchronizing add-on APIs.</a:t>
            </a:r>
          </a:p>
          <a:p>
            <a:pPr>
              <a:spcAft>
                <a:spcPts val="400"/>
              </a:spcAft>
              <a:defRPr sz="1050">
                <a:solidFill>
                  <a:srgbClr val="1E293B"/>
                </a:solidFill>
              </a:defRPr>
            </a:pPr>
            <a:r>
              <a:rPr dirty="0"/>
              <a:t>•  Phase 06: Post-Validation &amp; Reporting. Diff-analyzes baseline vs current state and emails executive HTML report.</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4_end_to_end_work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CORE UPGRADE ENGINE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Multi-Hop Upgrade Strategy: Autonomous Path Traversal</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023360" cy="4663440"/>
          </a:xfrm>
          <a:prstGeom prst="rect">
            <a:avLst/>
          </a:prstGeom>
          <a:noFill/>
        </p:spPr>
        <p:txBody>
          <a:bodyPr wrap="square" lIns="0" tIns="0" rIns="0" bIns="0">
            <a:spAutoFit/>
          </a:bodyPr>
          <a:lstStyle/>
          <a:p>
            <a:pPr>
              <a:spcAft>
                <a:spcPts val="800"/>
              </a:spcAft>
              <a:defRPr sz="1400" b="1">
                <a:solidFill>
                  <a:srgbClr val="0F2744"/>
                </a:solidFill>
              </a:defRPr>
            </a:pPr>
            <a:r>
              <a:t>OpenShift Y-Stream Hop Mechanics</a:t>
            </a:r>
          </a:p>
          <a:p>
            <a:pPr>
              <a:spcAft>
                <a:spcPts val="600"/>
              </a:spcAft>
              <a:defRPr sz="900" b="1">
                <a:solidFill>
                  <a:srgbClr val="1B4965"/>
                </a:solidFill>
              </a:defRPr>
            </a:pPr>
            <a:r>
              <a:t>[VERSION GRAPH]</a:t>
            </a:r>
          </a:p>
          <a:p>
            <a:pPr>
              <a:spcAft>
                <a:spcPts val="400"/>
              </a:spcAft>
              <a:defRPr sz="1050">
                <a:solidFill>
                  <a:srgbClr val="1E293B"/>
                </a:solidFill>
              </a:defRPr>
            </a:pPr>
            <a:r>
              <a:t>•  OpenShift Upgrade Rule: Minor version skips (e.g. 4.12 directly to 4.14) are strictly disallowed by Red Hat.</a:t>
            </a:r>
          </a:p>
          <a:p>
            <a:pPr>
              <a:spcAft>
                <a:spcPts val="400"/>
              </a:spcAft>
              <a:defRPr sz="1050">
                <a:solidFill>
                  <a:srgbClr val="1E293B"/>
                </a:solidFill>
              </a:defRPr>
            </a:pPr>
            <a:r>
              <a:t>•  Hop Calculation: The engine identifies the current cluster version and iterates through available updates in candidate channels.</a:t>
            </a:r>
          </a:p>
          <a:p>
            <a:pPr>
              <a:spcAft>
                <a:spcPts val="400"/>
              </a:spcAft>
              <a:defRPr sz="1050">
                <a:solidFill>
                  <a:srgbClr val="1E293B"/>
                </a:solidFill>
              </a:defRPr>
            </a:pPr>
            <a:r>
              <a:t>•  Path Construction: For target 4.14 on a 4.12 cluster, the engine constructs path: [4.12.z -&gt; 4.13.y -&gt; 4.14.x].</a:t>
            </a:r>
          </a:p>
          <a:p>
            <a:pPr>
              <a:spcAft>
                <a:spcPts val="400"/>
              </a:spcAft>
              <a:defRPr sz="1050">
                <a:solidFill>
                  <a:srgbClr val="1E293B"/>
                </a:solidFill>
              </a:defRPr>
            </a:pPr>
            <a:r>
              <a:t>•  Per-Hop Settle Verification: Each intermediate hop must satisfy the complete settlement equation before the next hop begins.</a:t>
            </a:r>
          </a:p>
          <a:p>
            <a:pPr>
              <a:spcAft>
                <a:spcPts val="400"/>
              </a:spcAft>
              <a:defRPr sz="1050">
                <a:solidFill>
                  <a:srgbClr val="1E293B"/>
                </a:solidFill>
              </a:defRPr>
            </a:pPr>
            <a:r>
              <a:t>•  Channel Switching: Safely transitions channel references (e.g. fast-4.13 to stable-4.13) as dictated by release graphs.</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5_multihop_upgrade_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CAPABILITY MAPPING</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Dual Upgrade Capabilities: Cluster Core vs Day-2 Operators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47672"/>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Decoupled Upgrade Engines</a:t>
            </a:r>
          </a:p>
          <a:p>
            <a:pPr>
              <a:spcAft>
                <a:spcPts val="600"/>
              </a:spcAft>
              <a:defRPr sz="900" b="1">
                <a:solidFill>
                  <a:srgbClr val="1B4965"/>
                </a:solidFill>
              </a:defRPr>
            </a:pPr>
            <a:r>
              <a:rPr dirty="0"/>
              <a:t>[DUAL SCOPE]</a:t>
            </a:r>
          </a:p>
          <a:p>
            <a:pPr>
              <a:spcAft>
                <a:spcPts val="400"/>
              </a:spcAft>
              <a:defRPr sz="1050">
                <a:solidFill>
                  <a:srgbClr val="1E293B"/>
                </a:solidFill>
              </a:defRPr>
            </a:pPr>
            <a:r>
              <a:rPr dirty="0"/>
              <a:t>•  Cluster Core Engine (CVO &amp; MCO): Manages OpenShift platform releases, Kubernetes API binaries, </a:t>
            </a:r>
            <a:r>
              <a:rPr dirty="0" err="1"/>
              <a:t>CoreDNS</a:t>
            </a:r>
            <a:r>
              <a:rPr dirty="0"/>
              <a:t>, </a:t>
            </a:r>
            <a:r>
              <a:rPr dirty="0" err="1"/>
              <a:t>etcd</a:t>
            </a:r>
            <a:r>
              <a:rPr dirty="0"/>
              <a:t>, and RHCOS operating system updates.</a:t>
            </a:r>
          </a:p>
          <a:p>
            <a:pPr>
              <a:spcAft>
                <a:spcPts val="400"/>
              </a:spcAft>
              <a:defRPr sz="1050">
                <a:solidFill>
                  <a:srgbClr val="1E293B"/>
                </a:solidFill>
              </a:defRPr>
            </a:pPr>
            <a:r>
              <a:rPr dirty="0"/>
              <a:t>•  Day-2 Operator Engine (OLM): Manages cluster add-on lifecycles, CRDs, Subscriptions, CatalogSources, and CSV transitions.</a:t>
            </a:r>
          </a:p>
          <a:p>
            <a:pPr>
              <a:spcAft>
                <a:spcPts val="400"/>
              </a:spcAft>
              <a:defRPr sz="1050">
                <a:solidFill>
                  <a:srgbClr val="1E293B"/>
                </a:solidFill>
              </a:defRPr>
            </a:pPr>
            <a:r>
              <a:rPr dirty="0"/>
              <a:t>•  Shared Orchestration Foundation: Both engines leverage the same underlying pre-validation, atomic snapshot, drift diffing, and email reporting services.</a:t>
            </a:r>
          </a:p>
          <a:p>
            <a:pPr>
              <a:spcAft>
                <a:spcPts val="400"/>
              </a:spcAft>
              <a:defRPr sz="1050">
                <a:solidFill>
                  <a:srgbClr val="1E293B"/>
                </a:solidFill>
              </a:defRPr>
            </a:pPr>
            <a:r>
              <a:rPr dirty="0"/>
              <a:t>•  Coordinated Execution: Day-2 operators are upgraded immediately following core cluster stabilization to ensure API compatibility.</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6_venn_diagram.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RESILIENCE &amp; SELF-HEALING</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Pre-Validation &amp; Deterministic Auto-Remediation</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65304"/>
            <a:ext cx="4023360" cy="2882840"/>
          </a:xfrm>
          <a:prstGeom prst="rect">
            <a:avLst/>
          </a:prstGeom>
          <a:noFill/>
        </p:spPr>
        <p:txBody>
          <a:bodyPr wrap="square" lIns="0" tIns="0" rIns="0" bIns="0">
            <a:spAutoFit/>
          </a:bodyPr>
          <a:lstStyle/>
          <a:p>
            <a:pPr>
              <a:spcAft>
                <a:spcPts val="800"/>
              </a:spcAft>
              <a:defRPr sz="1400" b="1">
                <a:solidFill>
                  <a:srgbClr val="0F2744"/>
                </a:solidFill>
              </a:defRPr>
            </a:pPr>
            <a:r>
              <a:rPr dirty="0"/>
              <a:t>15 Pre-Checks &amp; 6 Auto-Fixes</a:t>
            </a:r>
          </a:p>
          <a:p>
            <a:pPr>
              <a:spcAft>
                <a:spcPts val="600"/>
              </a:spcAft>
              <a:defRPr sz="900" b="1">
                <a:solidFill>
                  <a:srgbClr val="1B4965"/>
                </a:solidFill>
              </a:defRPr>
            </a:pPr>
            <a:r>
              <a:rPr dirty="0"/>
              <a:t>[SELF-HEALING RULES</a:t>
            </a:r>
            <a:r>
              <a:rPr lang="en-US" dirty="0"/>
              <a:t>`</a:t>
            </a:r>
            <a:endParaRPr dirty="0"/>
          </a:p>
          <a:p>
            <a:pPr>
              <a:spcAft>
                <a:spcPts val="400"/>
              </a:spcAft>
              <a:defRPr sz="1050">
                <a:solidFill>
                  <a:srgbClr val="1E293B"/>
                </a:solidFill>
              </a:defRPr>
            </a:pPr>
            <a:r>
              <a:rPr dirty="0"/>
              <a:t>•  15 Pre-Validation Checks: Node readiness, ClusterOperator degradation, MCP stability, etcd quorum, dynamic admin-acks, node headroom, pending CSRs, PV/PVC bounds, PDBs, core pods, cgroup v2 compatibility, and OLM operator upgrade compatibility.</a:t>
            </a:r>
            <a:r>
              <a:rPr dirty="0" err="1"/>
              <a:t/>
            </a:r>
            <a:r>
              <a:rPr dirty="0"/>
              <a:t/>
            </a:r>
            <a:r>
              <a:rPr dirty="0" err="1"/>
              <a:t/>
            </a:r>
            <a:r>
              <a:rPr dirty="0"/>
              <a:t/>
            </a:r>
          </a:p>
          <a:p>
            <a:pPr>
              <a:spcAft>
                <a:spcPts val="400"/>
              </a:spcAft>
              <a:defRPr sz="1050">
                <a:solidFill>
                  <a:srgbClr val="1E293B"/>
                </a:solidFill>
              </a:defRPr>
            </a:pPr>
            <a:r>
              <a:rPr dirty="0"/>
              <a:t>•  6 Safe Auto-Remediators:</a:t>
            </a:r>
          </a:p>
          <a:p>
            <a:pPr>
              <a:spcAft>
                <a:spcPts val="400"/>
              </a:spcAft>
              <a:defRPr sz="1050">
                <a:solidFill>
                  <a:srgbClr val="1E293B"/>
                </a:solidFill>
              </a:defRPr>
            </a:pPr>
            <a:r>
              <a:rPr dirty="0"/>
              <a:t>•    1. Approve pending node Certificate Signing Requests (CSRs).</a:t>
            </a:r>
          </a:p>
          <a:p>
            <a:pPr>
              <a:spcAft>
                <a:spcPts val="400"/>
              </a:spcAft>
              <a:defRPr sz="1050">
                <a:solidFill>
                  <a:srgbClr val="1E293B"/>
                </a:solidFill>
              </a:defRPr>
            </a:pPr>
            <a:r>
              <a:rPr dirty="0"/>
              <a:t>•    2. Prune completed and evicted pods blocking node drainage.</a:t>
            </a:r>
          </a:p>
          <a:p>
            <a:pPr>
              <a:spcAft>
                <a:spcPts val="400"/>
              </a:spcAft>
              <a:defRPr sz="1050">
                <a:solidFill>
                  <a:srgbClr val="1E293B"/>
                </a:solidFill>
              </a:defRPr>
            </a:pPr>
            <a:r>
              <a:rPr dirty="0"/>
              <a:t>•    3. </a:t>
            </a:r>
            <a:r>
              <a:rPr dirty="0" err="1"/>
              <a:t>Uncordon</a:t>
            </a:r>
            <a:r>
              <a:rPr dirty="0"/>
              <a:t> schedulable worker nodes left cordoned by maintenance.</a:t>
            </a:r>
          </a:p>
          <a:p>
            <a:pPr>
              <a:spcAft>
                <a:spcPts val="400"/>
              </a:spcAft>
              <a:defRPr sz="1050">
                <a:solidFill>
                  <a:srgbClr val="1E293B"/>
                </a:solidFill>
              </a:defRPr>
            </a:pPr>
            <a:r>
              <a:rPr dirty="0"/>
              <a:t>•    4. Settle paused or lagging </a:t>
            </a:r>
            <a:r>
              <a:rPr dirty="0" err="1"/>
              <a:t>MachineConfigPools</a:t>
            </a:r>
            <a:r>
              <a:rPr dirty="0"/>
              <a:t>.</a:t>
            </a:r>
          </a:p>
          <a:p>
            <a:pPr>
              <a:spcAft>
                <a:spcPts val="400"/>
              </a:spcAft>
              <a:defRPr sz="1050">
                <a:solidFill>
                  <a:srgbClr val="1E293B"/>
                </a:solidFill>
              </a:defRPr>
            </a:pPr>
            <a:r>
              <a:rPr dirty="0"/>
              <a:t>•    5. Restart crashing or flapping non-critical monitoring pods.</a:t>
            </a:r>
          </a:p>
          <a:p>
            <a:pPr>
              <a:spcAft>
                <a:spcPts val="400"/>
              </a:spcAft>
              <a:defRPr sz="1050">
                <a:solidFill>
                  <a:srgbClr val="1E293B"/>
                </a:solidFill>
              </a:defRPr>
            </a:pPr>
            <a:r>
              <a:rPr dirty="0"/>
              <a:t>•    6. Refresh expired or soon-to-expire service CA certificates.</a:t>
            </a:r>
          </a:p>
          <a:p>
            <a:pPr>
              <a:spcAft>
                <a:spcPts val="400"/>
              </a:spcAft>
              <a:defRPr sz="1050">
                <a:solidFill>
                  <a:srgbClr val="1E293B"/>
                </a:solidFill>
              </a:defRPr>
            </a:pPr>
            <a:r>
              <a:rPr dirty="0"/>
              <a:t>•  Strict Remediation Rule: Only non-disruptive, idempotent fixes are automated. Workloads are never forcefully deleted.</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6_auto_remediation_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OBSERVABILITY &amp; SETTLEMENT</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Live Monitoring Engine &amp; Post-Upgrade Health Verification</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47672"/>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Continuous Polling &amp; Settle Gates</a:t>
            </a:r>
          </a:p>
          <a:p>
            <a:pPr>
              <a:spcAft>
                <a:spcPts val="600"/>
              </a:spcAft>
              <a:defRPr sz="900" b="1">
                <a:solidFill>
                  <a:srgbClr val="1B4965"/>
                </a:solidFill>
              </a:defRPr>
            </a:pPr>
            <a:r>
              <a:rPr dirty="0"/>
              <a:t>[OBSERVABILITY]</a:t>
            </a:r>
          </a:p>
          <a:p>
            <a:pPr>
              <a:spcAft>
                <a:spcPts val="400"/>
              </a:spcAft>
              <a:defRPr sz="1050">
                <a:solidFill>
                  <a:srgbClr val="1E293B"/>
                </a:solidFill>
              </a:defRPr>
            </a:pPr>
            <a:r>
              <a:rPr dirty="0"/>
              <a:t>•  30-Second Polling Cadence: Monitors </a:t>
            </a:r>
            <a:r>
              <a:rPr dirty="0" err="1"/>
              <a:t>ClusterVersion</a:t>
            </a:r>
            <a:r>
              <a:rPr dirty="0"/>
              <a:t> status, operator conditions, and node reboot progression in real time.</a:t>
            </a:r>
          </a:p>
          <a:p>
            <a:pPr>
              <a:spcAft>
                <a:spcPts val="400"/>
              </a:spcAft>
              <a:defRPr sz="1050">
                <a:solidFill>
                  <a:srgbClr val="1E293B"/>
                </a:solidFill>
              </a:defRPr>
            </a:pPr>
            <a:r>
              <a:rPr dirty="0"/>
              <a:t>•  Three-Condition Operator Gate: Every </a:t>
            </a:r>
            <a:r>
              <a:rPr dirty="0" err="1"/>
              <a:t>ClusterOperator</a:t>
            </a:r>
            <a:r>
              <a:rPr dirty="0"/>
              <a:t> must report Available=True, Progressing=False, and Degraded=False.</a:t>
            </a:r>
          </a:p>
          <a:p>
            <a:pPr>
              <a:spcAft>
                <a:spcPts val="400"/>
              </a:spcAft>
              <a:defRPr sz="1050">
                <a:solidFill>
                  <a:srgbClr val="1E293B"/>
                </a:solidFill>
              </a:defRPr>
            </a:pPr>
            <a:r>
              <a:rPr dirty="0"/>
              <a:t>•  </a:t>
            </a:r>
            <a:r>
              <a:rPr dirty="0" err="1"/>
              <a:t>MachineConfigPool</a:t>
            </a:r>
            <a:r>
              <a:rPr dirty="0"/>
              <a:t> Settle Gate: Verifies </a:t>
            </a:r>
            <a:r>
              <a:rPr dirty="0" err="1"/>
              <a:t>updatedMachineCount</a:t>
            </a:r>
            <a:r>
              <a:rPr dirty="0"/>
              <a:t> == </a:t>
            </a:r>
            <a:r>
              <a:rPr dirty="0" err="1"/>
              <a:t>machineCount</a:t>
            </a:r>
            <a:r>
              <a:rPr dirty="0"/>
              <a:t> and </a:t>
            </a:r>
            <a:r>
              <a:rPr dirty="0" err="1"/>
              <a:t>degradedMachineCount</a:t>
            </a:r>
            <a:r>
              <a:rPr dirty="0"/>
              <a:t> == 0 across master and worker pools.</a:t>
            </a:r>
          </a:p>
          <a:p>
            <a:pPr>
              <a:spcAft>
                <a:spcPts val="400"/>
              </a:spcAft>
              <a:defRPr sz="1050">
                <a:solidFill>
                  <a:srgbClr val="1E293B"/>
                </a:solidFill>
              </a:defRPr>
            </a:pPr>
            <a:r>
              <a:rPr dirty="0"/>
              <a:t>•  Configurable Timeout Thresholds: Default 90m for control plane, 120m for worker pool, with graceful backoff.</a:t>
            </a:r>
          </a:p>
          <a:p>
            <a:pPr>
              <a:spcAft>
                <a:spcPts val="400"/>
              </a:spcAft>
              <a:defRPr sz="1050">
                <a:solidFill>
                  <a:srgbClr val="1E293B"/>
                </a:solidFill>
              </a:defRPr>
            </a:pPr>
            <a:r>
              <a:rPr dirty="0"/>
              <a:t>•  Post-Validation Suite: Re-runs all 15 checks and evaluates resource deltas against pre-upgrade baseline snapshot.</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9_monitoring_loop.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STATE ASSURANCE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Baseline State Preservation &amp; Drift Analysis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023360" cy="4663440"/>
          </a:xfrm>
          <a:prstGeom prst="rect">
            <a:avLst/>
          </a:prstGeom>
          <a:noFill/>
        </p:spPr>
        <p:txBody>
          <a:bodyPr wrap="square" lIns="0" tIns="0" rIns="0" bIns="0">
            <a:spAutoFit/>
          </a:bodyPr>
          <a:lstStyle/>
          <a:p>
            <a:pPr>
              <a:spcAft>
                <a:spcPts val="800"/>
              </a:spcAft>
              <a:defRPr sz="1400" b="1">
                <a:solidFill>
                  <a:srgbClr val="0F2744"/>
                </a:solidFill>
              </a:defRPr>
            </a:pPr>
            <a:r>
              <a:t>Atomic State Capture &amp; Diffing</a:t>
            </a:r>
          </a:p>
          <a:p>
            <a:pPr>
              <a:spcAft>
                <a:spcPts val="600"/>
              </a:spcAft>
              <a:defRPr sz="900" b="1">
                <a:solidFill>
                  <a:srgbClr val="1B4965"/>
                </a:solidFill>
              </a:defRPr>
            </a:pPr>
            <a:r>
              <a:t>[STATE ASSURANCE]</a:t>
            </a:r>
          </a:p>
          <a:p>
            <a:pPr>
              <a:spcAft>
                <a:spcPts val="400"/>
              </a:spcAft>
              <a:defRPr sz="1050">
                <a:solidFill>
                  <a:srgbClr val="1E293B"/>
                </a:solidFill>
              </a:defRPr>
            </a:pPr>
            <a:r>
              <a:t>•  Comprehensive Pre-Upgrade Snapshot: Captures JSON representations of Nodes, ClusterOperators, MachineConfigPools, Routes, CRDs, Subscriptions, and PVCs.</a:t>
            </a:r>
          </a:p>
          <a:p>
            <a:pPr>
              <a:spcAft>
                <a:spcPts val="400"/>
              </a:spcAft>
              <a:defRPr sz="1050">
                <a:solidFill>
                  <a:srgbClr val="1E293B"/>
                </a:solidFill>
              </a:defRPr>
            </a:pPr>
            <a:r>
              <a:t>•  Atomic Storage Pattern: Writes state files using temporary names and atomic renames to prevent partial corruption.</a:t>
            </a:r>
          </a:p>
          <a:p>
            <a:pPr>
              <a:spcAft>
                <a:spcPts val="400"/>
              </a:spcAft>
              <a:defRPr sz="1050">
                <a:solidFill>
                  <a:srgbClr val="1E293B"/>
                </a:solidFill>
              </a:defRPr>
            </a:pPr>
            <a:r>
              <a:t>•  Post-Upgrade Drift Detection: Compares post-upgrade state against baseline, generating a structured delta report.</a:t>
            </a:r>
          </a:p>
          <a:p>
            <a:pPr>
              <a:spcAft>
                <a:spcPts val="400"/>
              </a:spcAft>
              <a:defRPr sz="1050">
                <a:solidFill>
                  <a:srgbClr val="1E293B"/>
                </a:solidFill>
              </a:defRPr>
            </a:pPr>
            <a:r>
              <a:t>•  Degradation Alerting: Automatically flags any resource that was healthy before upgrade but degraded post-upgrade.</a:t>
            </a:r>
          </a:p>
          <a:p>
            <a:pPr>
              <a:spcAft>
                <a:spcPts val="400"/>
              </a:spcAft>
              <a:defRPr sz="1050">
                <a:solidFill>
                  <a:srgbClr val="1E293B"/>
                </a:solidFill>
              </a:defRPr>
            </a:pPr>
            <a:r>
              <a:t>•  Audit Archive: Preserved in output/snapshots/ for 90-day compliance retention.</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08_baseline_snapshot_data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OPERATOR LIFECYCLE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Day-2 Operator Lifecycle: Subscription &amp; InstallPlan Engine</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28416" cy="40233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46504"/>
            <a:ext cx="2962656" cy="3749040"/>
          </a:xfrm>
          <a:prstGeom prst="rect">
            <a:avLst/>
          </a:prstGeom>
          <a:noFill/>
        </p:spPr>
        <p:txBody>
          <a:bodyPr wrap="square" lIns="0" tIns="0" rIns="0" bIns="0">
            <a:spAutoFit/>
          </a:bodyPr>
          <a:lstStyle/>
          <a:p>
            <a:pPr>
              <a:spcAft>
                <a:spcPts val="800"/>
              </a:spcAft>
              <a:defRPr sz="1400" b="1">
                <a:solidFill>
                  <a:srgbClr val="0F2744"/>
                </a:solidFill>
              </a:defRPr>
            </a:pPr>
            <a:r>
              <a:rPr dirty="0"/>
              <a:t>1. Discovery &amp; Analysis</a:t>
            </a:r>
          </a:p>
          <a:p>
            <a:pPr>
              <a:spcAft>
                <a:spcPts val="600"/>
              </a:spcAft>
              <a:defRPr sz="900" b="1">
                <a:solidFill>
                  <a:srgbClr val="1B4965"/>
                </a:solidFill>
              </a:defRPr>
            </a:pPr>
            <a:r>
              <a:rPr dirty="0"/>
              <a:t>[DISCOVERY PHASE]</a:t>
            </a:r>
          </a:p>
          <a:p>
            <a:pPr>
              <a:spcAft>
                <a:spcPts val="400"/>
              </a:spcAft>
              <a:defRPr sz="1050">
                <a:solidFill>
                  <a:srgbClr val="1E293B"/>
                </a:solidFill>
              </a:defRPr>
            </a:pPr>
            <a:r>
              <a:rPr dirty="0"/>
              <a:t>•  Scans all cluster namespaces for OLM Subscription resources.</a:t>
            </a:r>
          </a:p>
          <a:p>
            <a:pPr>
              <a:spcAft>
                <a:spcPts val="400"/>
              </a:spcAft>
              <a:defRPr sz="1050">
                <a:solidFill>
                  <a:srgbClr val="1E293B"/>
                </a:solidFill>
              </a:defRPr>
            </a:pPr>
            <a:r>
              <a:rPr dirty="0"/>
              <a:t>•  Detects operators configured with </a:t>
            </a:r>
            <a:r>
              <a:rPr dirty="0" err="1"/>
              <a:t>installPlanApproval</a:t>
            </a:r>
            <a:r>
              <a:rPr dirty="0"/>
              <a:t>: Manual.</a:t>
            </a:r>
          </a:p>
          <a:p>
            <a:pPr>
              <a:spcAft>
                <a:spcPts val="400"/>
              </a:spcAft>
              <a:defRPr sz="1050">
                <a:solidFill>
                  <a:srgbClr val="1E293B"/>
                </a:solidFill>
              </a:defRPr>
            </a:pPr>
            <a:r>
              <a:rPr dirty="0"/>
              <a:t>•  Inspects target upgrade channels and queries CatalogSources for latest available versions.</a:t>
            </a:r>
          </a:p>
          <a:p>
            <a:pPr>
              <a:spcAft>
                <a:spcPts val="400"/>
              </a:spcAft>
              <a:defRPr sz="1050">
                <a:solidFill>
                  <a:srgbClr val="1E293B"/>
                </a:solidFill>
              </a:defRPr>
            </a:pPr>
            <a:r>
              <a:rPr dirty="0"/>
              <a:t>•  Identifies pending </a:t>
            </a:r>
            <a:r>
              <a:rPr dirty="0" err="1"/>
              <a:t>InstallPlans</a:t>
            </a:r>
            <a:r>
              <a:rPr dirty="0"/>
              <a:t> generated by OLM.</a:t>
            </a:r>
          </a:p>
        </p:txBody>
      </p:sp>
      <p:sp>
        <p:nvSpPr>
          <p:cNvPr id="8" name="Rounded Rectangle 7"/>
          <p:cNvSpPr/>
          <p:nvPr/>
        </p:nvSpPr>
        <p:spPr>
          <a:xfrm>
            <a:off x="4425696" y="1463040"/>
            <a:ext cx="3328416" cy="40233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46504"/>
            <a:ext cx="2962656" cy="3749040"/>
          </a:xfrm>
          <a:prstGeom prst="rect">
            <a:avLst/>
          </a:prstGeom>
          <a:noFill/>
        </p:spPr>
        <p:txBody>
          <a:bodyPr wrap="square" lIns="0" tIns="0" rIns="0" bIns="0">
            <a:spAutoFit/>
          </a:bodyPr>
          <a:lstStyle/>
          <a:p>
            <a:pPr>
              <a:spcAft>
                <a:spcPts val="800"/>
              </a:spcAft>
              <a:defRPr sz="1400" b="1">
                <a:solidFill>
                  <a:srgbClr val="0F2744"/>
                </a:solidFill>
              </a:defRPr>
            </a:pPr>
            <a:r>
              <a:rPr dirty="0"/>
              <a:t>2. </a:t>
            </a:r>
            <a:r>
              <a:rPr dirty="0" err="1"/>
              <a:t>InstallPlan</a:t>
            </a:r>
            <a:r>
              <a:rPr dirty="0"/>
              <a:t> Evaluation</a:t>
            </a:r>
          </a:p>
          <a:p>
            <a:pPr>
              <a:spcAft>
                <a:spcPts val="600"/>
              </a:spcAft>
              <a:defRPr sz="900" b="1">
                <a:solidFill>
                  <a:srgbClr val="1B4965"/>
                </a:solidFill>
              </a:defRPr>
            </a:pPr>
            <a:r>
              <a:rPr dirty="0"/>
              <a:t>[EVALUATION PHASE]</a:t>
            </a:r>
          </a:p>
          <a:p>
            <a:pPr>
              <a:spcAft>
                <a:spcPts val="400"/>
              </a:spcAft>
              <a:defRPr sz="1050">
                <a:solidFill>
                  <a:srgbClr val="1E293B"/>
                </a:solidFill>
              </a:defRPr>
            </a:pPr>
            <a:r>
              <a:rPr dirty="0"/>
              <a:t>•  Parses </a:t>
            </a:r>
            <a:r>
              <a:rPr dirty="0" err="1"/>
              <a:t>InstallPlan</a:t>
            </a:r>
            <a:r>
              <a:rPr dirty="0"/>
              <a:t> resource specifications, identifying target </a:t>
            </a:r>
            <a:r>
              <a:rPr dirty="0" err="1"/>
              <a:t>ClusterServiceVersion</a:t>
            </a:r>
            <a:r>
              <a:rPr dirty="0"/>
              <a:t> (CSV).</a:t>
            </a:r>
          </a:p>
          <a:p>
            <a:pPr>
              <a:spcAft>
                <a:spcPts val="400"/>
              </a:spcAft>
              <a:defRPr sz="1050">
                <a:solidFill>
                  <a:srgbClr val="1E293B"/>
                </a:solidFill>
              </a:defRPr>
            </a:pPr>
            <a:r>
              <a:rPr dirty="0"/>
              <a:t>•  Verifies that target CSV is compatible with the newly upgraded Kubernetes/OCP minor version.</a:t>
            </a:r>
          </a:p>
          <a:p>
            <a:pPr>
              <a:spcAft>
                <a:spcPts val="400"/>
              </a:spcAft>
              <a:defRPr sz="1050">
                <a:solidFill>
                  <a:srgbClr val="1E293B"/>
                </a:solidFill>
              </a:defRPr>
            </a:pPr>
            <a:r>
              <a:rPr dirty="0"/>
              <a:t>•  Detects potential CRD schema conflicts or missing required permissions.</a:t>
            </a:r>
          </a:p>
          <a:p>
            <a:pPr>
              <a:spcAft>
                <a:spcPts val="400"/>
              </a:spcAft>
              <a:defRPr sz="1050">
                <a:solidFill>
                  <a:srgbClr val="1E293B"/>
                </a:solidFill>
              </a:defRPr>
            </a:pPr>
            <a:r>
              <a:rPr dirty="0"/>
              <a:t>•  Flags blocked or failing </a:t>
            </a:r>
            <a:r>
              <a:rPr dirty="0" err="1"/>
              <a:t>InstallPlans</a:t>
            </a:r>
            <a:r>
              <a:rPr dirty="0"/>
              <a:t> for immediate operator review.</a:t>
            </a:r>
          </a:p>
        </p:txBody>
      </p:sp>
      <p:sp>
        <p:nvSpPr>
          <p:cNvPr id="10" name="Rounded Rectangle 9"/>
          <p:cNvSpPr/>
          <p:nvPr/>
        </p:nvSpPr>
        <p:spPr>
          <a:xfrm>
            <a:off x="8119872" y="1463040"/>
            <a:ext cx="3328416" cy="402336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2752" y="1746504"/>
            <a:ext cx="2962656" cy="3749040"/>
          </a:xfrm>
          <a:prstGeom prst="rect">
            <a:avLst/>
          </a:prstGeom>
          <a:noFill/>
        </p:spPr>
        <p:txBody>
          <a:bodyPr wrap="square" lIns="0" tIns="0" rIns="0" bIns="0">
            <a:spAutoFit/>
          </a:bodyPr>
          <a:lstStyle/>
          <a:p>
            <a:pPr>
              <a:spcAft>
                <a:spcPts val="800"/>
              </a:spcAft>
              <a:defRPr sz="1400" b="1">
                <a:solidFill>
                  <a:srgbClr val="0F2744"/>
                </a:solidFill>
              </a:defRPr>
            </a:pPr>
            <a:r>
              <a:rPr dirty="0"/>
              <a:t>3. Approval &amp; Settlement</a:t>
            </a:r>
          </a:p>
          <a:p>
            <a:pPr>
              <a:spcAft>
                <a:spcPts val="600"/>
              </a:spcAft>
              <a:defRPr sz="900" b="1">
                <a:solidFill>
                  <a:srgbClr val="1B4965"/>
                </a:solidFill>
              </a:defRPr>
            </a:pPr>
            <a:r>
              <a:rPr dirty="0"/>
              <a:t>[SETTLEMENT PHASE]</a:t>
            </a:r>
          </a:p>
          <a:p>
            <a:pPr>
              <a:spcAft>
                <a:spcPts val="400"/>
              </a:spcAft>
              <a:defRPr sz="1050">
                <a:solidFill>
                  <a:srgbClr val="1E293B"/>
                </a:solidFill>
              </a:defRPr>
            </a:pPr>
            <a:r>
              <a:rPr dirty="0"/>
              <a:t>•  Patches </a:t>
            </a:r>
            <a:r>
              <a:rPr dirty="0" err="1"/>
              <a:t>InstallPlan</a:t>
            </a:r>
            <a:r>
              <a:rPr dirty="0"/>
              <a:t> resource: sets </a:t>
            </a:r>
            <a:r>
              <a:rPr dirty="0" err="1"/>
              <a:t>spec.approved</a:t>
            </a:r>
            <a:r>
              <a:rPr dirty="0"/>
              <a:t> = true via </a:t>
            </a:r>
            <a:r>
              <a:rPr dirty="0" err="1"/>
              <a:t>oc</a:t>
            </a:r>
            <a:r>
              <a:rPr dirty="0"/>
              <a:t> patch.</a:t>
            </a:r>
          </a:p>
          <a:p>
            <a:pPr>
              <a:spcAft>
                <a:spcPts val="400"/>
              </a:spcAft>
              <a:defRPr sz="1050">
                <a:solidFill>
                  <a:srgbClr val="1E293B"/>
                </a:solidFill>
              </a:defRPr>
            </a:pPr>
            <a:r>
              <a:rPr dirty="0"/>
              <a:t>•  Monitors </a:t>
            </a:r>
            <a:r>
              <a:rPr dirty="0" err="1"/>
              <a:t>ClusterServiceVersion</a:t>
            </a:r>
            <a:r>
              <a:rPr dirty="0"/>
              <a:t> rollout until phase reaches Succeeded.</a:t>
            </a:r>
          </a:p>
          <a:p>
            <a:pPr>
              <a:spcAft>
                <a:spcPts val="400"/>
              </a:spcAft>
              <a:defRPr sz="1050">
                <a:solidFill>
                  <a:srgbClr val="1E293B"/>
                </a:solidFill>
              </a:defRPr>
            </a:pPr>
            <a:r>
              <a:rPr dirty="0"/>
              <a:t>•  Verifies deployment pod health and CRD availability across target namespaces.</a:t>
            </a:r>
          </a:p>
          <a:p>
            <a:pPr>
              <a:spcAft>
                <a:spcPts val="400"/>
              </a:spcAft>
              <a:defRPr sz="1050">
                <a:solidFill>
                  <a:srgbClr val="1E293B"/>
                </a:solidFill>
              </a:defRPr>
            </a:pPr>
            <a:r>
              <a:rPr dirty="0"/>
              <a:t>•  Compiles operator upgrade summary into final execution report.</a:t>
            </a:r>
          </a:p>
        </p:txBody>
      </p:sp>
      <p:sp>
        <p:nvSpPr>
          <p:cNvPr id="12" name="Rectangle 11"/>
          <p:cNvSpPr/>
          <p:nvPr/>
        </p:nvSpPr>
        <p:spPr>
          <a:xfrm>
            <a:off x="731520" y="5669280"/>
            <a:ext cx="10716768"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4A5568"/>
                </a:solidFill>
              </a:defRPr>
            </a:pPr>
            <a:r>
              <a:t>Supported Enterprise Operators: Red Hat OpenShift Logging, Red Hat OpenShift Service Mesh (Istio), OpenShift GitOps (ArgoCD), OpenShift Virtualization, and ODF.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MODULAR DESIGN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24-Role Architecture: Reusable, Single-Responsibility Engine</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65960"/>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24 Roles Across 4 Functional Domains</a:t>
            </a:r>
          </a:p>
          <a:p>
            <a:pPr>
              <a:spcAft>
                <a:spcPts val="600"/>
              </a:spcAft>
              <a:defRPr sz="900" b="1">
                <a:solidFill>
                  <a:srgbClr val="1B4965"/>
                </a:solidFill>
              </a:defRPr>
            </a:pPr>
            <a:r>
              <a:rPr dirty="0"/>
              <a:t>[24 MODULAR ROLES]</a:t>
            </a:r>
          </a:p>
          <a:p>
            <a:pPr>
              <a:spcAft>
                <a:spcPts val="400"/>
              </a:spcAft>
              <a:defRPr sz="1050">
                <a:solidFill>
                  <a:srgbClr val="1E293B"/>
                </a:solidFill>
              </a:defRPr>
            </a:pPr>
            <a:r>
              <a:rPr dirty="0"/>
              <a:t>•  Core Lifecycle (6 Roles): orchestrator, </a:t>
            </a:r>
            <a:r>
              <a:rPr dirty="0" err="1"/>
              <a:t>cv_upgrade_hop</a:t>
            </a:r>
            <a:r>
              <a:rPr dirty="0"/>
              <a:t>, </a:t>
            </a:r>
            <a:r>
              <a:rPr dirty="0" err="1"/>
              <a:t>cluster_monitor</a:t>
            </a:r>
            <a:r>
              <a:rPr dirty="0"/>
              <a:t>, </a:t>
            </a:r>
            <a:r>
              <a:rPr dirty="0" err="1"/>
              <a:t>operator_upgrade</a:t>
            </a:r>
            <a:r>
              <a:rPr dirty="0"/>
              <a:t>, </a:t>
            </a:r>
            <a:r>
              <a:rPr dirty="0" err="1"/>
              <a:t>auth_session</a:t>
            </a:r>
            <a:r>
              <a:rPr dirty="0"/>
              <a:t>, </a:t>
            </a:r>
            <a:r>
              <a:rPr dirty="0" err="1"/>
              <a:t>cleanup_handler</a:t>
            </a:r>
            <a:r>
              <a:rPr dirty="0"/>
              <a:t>.</a:t>
            </a:r>
          </a:p>
          <a:p>
            <a:pPr>
              <a:spcAft>
                <a:spcPts val="400"/>
              </a:spcAft>
              <a:defRPr sz="1050">
                <a:solidFill>
                  <a:srgbClr val="1E293B"/>
                </a:solidFill>
              </a:defRPr>
            </a:pPr>
            <a:r>
              <a:rPr dirty="0"/>
              <a:t>•  Pre-Upgrade Validation (7 Roles): </a:t>
            </a:r>
            <a:r>
              <a:rPr dirty="0" err="1"/>
              <a:t>pre_validation</a:t>
            </a:r>
            <a:r>
              <a:rPr dirty="0"/>
              <a:t>, </a:t>
            </a:r>
            <a:r>
              <a:rPr dirty="0" err="1"/>
              <a:t>check_nodes</a:t>
            </a:r>
            <a:r>
              <a:rPr dirty="0"/>
              <a:t>, </a:t>
            </a:r>
            <a:r>
              <a:rPr dirty="0" err="1"/>
              <a:t>check_cluster_operators</a:t>
            </a:r>
            <a:r>
              <a:rPr dirty="0"/>
              <a:t>, </a:t>
            </a:r>
            <a:r>
              <a:rPr dirty="0" err="1"/>
              <a:t>check_mcp</a:t>
            </a:r>
            <a:r>
              <a:rPr dirty="0"/>
              <a:t>, </a:t>
            </a:r>
            <a:r>
              <a:rPr dirty="0" err="1"/>
              <a:t>check_etcd</a:t>
            </a:r>
            <a:r>
              <a:rPr dirty="0"/>
              <a:t>, </a:t>
            </a:r>
            <a:r>
              <a:rPr dirty="0" err="1"/>
              <a:t>check_csrs</a:t>
            </a:r>
            <a:r>
              <a:rPr dirty="0"/>
              <a:t>, </a:t>
            </a:r>
            <a:r>
              <a:rPr dirty="0" err="1"/>
              <a:t>check_capacity</a:t>
            </a:r>
            <a:r>
              <a:rPr dirty="0"/>
              <a:t>.</a:t>
            </a:r>
          </a:p>
          <a:p>
            <a:pPr>
              <a:spcAft>
                <a:spcPts val="400"/>
              </a:spcAft>
              <a:defRPr sz="1050">
                <a:solidFill>
                  <a:srgbClr val="1E293B"/>
                </a:solidFill>
              </a:defRPr>
            </a:pPr>
            <a:r>
              <a:rPr dirty="0"/>
              <a:t>•  Auto-Remediation (4 Roles): </a:t>
            </a:r>
            <a:r>
              <a:rPr dirty="0" err="1"/>
              <a:t>auto_remediation</a:t>
            </a:r>
            <a:r>
              <a:rPr dirty="0"/>
              <a:t>, </a:t>
            </a:r>
            <a:r>
              <a:rPr dirty="0" err="1"/>
              <a:t>fix_pending_csrs</a:t>
            </a:r>
            <a:r>
              <a:rPr dirty="0"/>
              <a:t>, </a:t>
            </a:r>
            <a:r>
              <a:rPr dirty="0" err="1"/>
              <a:t>fix_evicted_pods</a:t>
            </a:r>
            <a:r>
              <a:rPr dirty="0"/>
              <a:t>, </a:t>
            </a:r>
            <a:r>
              <a:rPr dirty="0" err="1"/>
              <a:t>fix_cordoned_nodes</a:t>
            </a:r>
            <a:r>
              <a:rPr dirty="0"/>
              <a:t>.</a:t>
            </a:r>
          </a:p>
          <a:p>
            <a:pPr>
              <a:spcAft>
                <a:spcPts val="400"/>
              </a:spcAft>
              <a:defRPr sz="1050">
                <a:solidFill>
                  <a:srgbClr val="1E293B"/>
                </a:solidFill>
              </a:defRPr>
            </a:pPr>
            <a:r>
              <a:rPr dirty="0"/>
              <a:t>•  Post-Validation &amp; Reporting (7 Roles): </a:t>
            </a:r>
            <a:r>
              <a:rPr dirty="0" err="1"/>
              <a:t>post_validation</a:t>
            </a:r>
            <a:r>
              <a:rPr dirty="0"/>
              <a:t>, </a:t>
            </a:r>
            <a:r>
              <a:rPr dirty="0" err="1"/>
              <a:t>snapshot_engine</a:t>
            </a:r>
            <a:r>
              <a:rPr dirty="0"/>
              <a:t>, </a:t>
            </a:r>
            <a:r>
              <a:rPr dirty="0" err="1"/>
              <a:t>diff_engine</a:t>
            </a:r>
            <a:r>
              <a:rPr dirty="0"/>
              <a:t>, </a:t>
            </a:r>
            <a:r>
              <a:rPr dirty="0" err="1"/>
              <a:t>report_generator</a:t>
            </a:r>
            <a:r>
              <a:rPr dirty="0"/>
              <a:t>, </a:t>
            </a:r>
            <a:r>
              <a:rPr dirty="0" err="1"/>
              <a:t>send_email</a:t>
            </a:r>
            <a:r>
              <a:rPr dirty="0"/>
              <a:t>, </a:t>
            </a:r>
            <a:r>
              <a:rPr dirty="0" err="1"/>
              <a:t>audit_logger</a:t>
            </a:r>
            <a:r>
              <a:rPr dirty="0"/>
              <a:t>, </a:t>
            </a:r>
            <a:r>
              <a:rPr dirty="0" err="1"/>
              <a:t>notification_dispatcher</a:t>
            </a:r>
            <a:r>
              <a:rPr dirty="0"/>
              <a:t>.</a:t>
            </a:r>
          </a:p>
          <a:p>
            <a:pPr>
              <a:spcAft>
                <a:spcPts val="400"/>
              </a:spcAft>
              <a:defRPr sz="1050">
                <a:solidFill>
                  <a:srgbClr val="1E293B"/>
                </a:solidFill>
              </a:defRPr>
            </a:pPr>
            <a:r>
              <a:rPr dirty="0"/>
              <a:t>•  Design Invariant: Every role adheres to single-responsibility principle with zero cross-role task coupling.</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0_role_interaction.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ARCHITECTURAL WIRING</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Complete Module Wirings &amp; Fact Registry Flow</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65376"/>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Caller-Callee Bindings &amp; Fact Exchange</a:t>
            </a:r>
          </a:p>
          <a:p>
            <a:pPr>
              <a:spcAft>
                <a:spcPts val="600"/>
              </a:spcAft>
              <a:defRPr sz="900" b="1">
                <a:solidFill>
                  <a:srgbClr val="1B4965"/>
                </a:solidFill>
              </a:defRPr>
            </a:pPr>
            <a:r>
              <a:rPr dirty="0"/>
              <a:t>[ARCHITECTURAL WIRING]</a:t>
            </a:r>
          </a:p>
          <a:p>
            <a:pPr>
              <a:spcAft>
                <a:spcPts val="400"/>
              </a:spcAft>
              <a:defRPr sz="1050">
                <a:solidFill>
                  <a:srgbClr val="1E293B"/>
                </a:solidFill>
              </a:defRPr>
            </a:pPr>
            <a:r>
              <a:rPr dirty="0"/>
              <a:t>•  Master Orchestration Flow: </a:t>
            </a:r>
            <a:r>
              <a:rPr dirty="0" err="1"/>
              <a:t>main.yml</a:t>
            </a:r>
            <a:r>
              <a:rPr dirty="0"/>
              <a:t> imports 6 phase playbooks sequentially, passing shared facts via Ansible </a:t>
            </a:r>
            <a:r>
              <a:rPr dirty="0" err="1"/>
              <a:t>set_fact</a:t>
            </a:r>
            <a:r>
              <a:rPr dirty="0"/>
              <a:t>.</a:t>
            </a:r>
          </a:p>
          <a:p>
            <a:pPr>
              <a:spcAft>
                <a:spcPts val="400"/>
              </a:spcAft>
              <a:defRPr sz="1050">
                <a:solidFill>
                  <a:srgbClr val="1E293B"/>
                </a:solidFill>
              </a:defRPr>
            </a:pPr>
            <a:r>
              <a:rPr dirty="0"/>
              <a:t>•  Fact Registry (31 Global Facts): Includes </a:t>
            </a:r>
            <a:r>
              <a:rPr dirty="0" err="1"/>
              <a:t>cluster_initial_version</a:t>
            </a:r>
            <a:r>
              <a:rPr dirty="0"/>
              <a:t>, </a:t>
            </a:r>
            <a:r>
              <a:rPr dirty="0" err="1"/>
              <a:t>target_version</a:t>
            </a:r>
            <a:r>
              <a:rPr dirty="0"/>
              <a:t>, </a:t>
            </a:r>
            <a:r>
              <a:rPr dirty="0" err="1"/>
              <a:t>upgrade_hop_list</a:t>
            </a:r>
            <a:r>
              <a:rPr dirty="0"/>
              <a:t>, </a:t>
            </a:r>
            <a:r>
              <a:rPr dirty="0" err="1"/>
              <a:t>pre_snapshot_path</a:t>
            </a:r>
            <a:r>
              <a:rPr dirty="0"/>
              <a:t>, </a:t>
            </a:r>
            <a:r>
              <a:rPr dirty="0" err="1"/>
              <a:t>post_snapshot_path</a:t>
            </a:r>
            <a:r>
              <a:rPr dirty="0"/>
              <a:t>, </a:t>
            </a:r>
            <a:r>
              <a:rPr dirty="0" err="1"/>
              <a:t>drift_summary</a:t>
            </a:r>
            <a:r>
              <a:rPr dirty="0"/>
              <a:t>, </a:t>
            </a:r>
            <a:r>
              <a:rPr dirty="0" err="1"/>
              <a:t>remediation_log</a:t>
            </a:r>
            <a:r>
              <a:rPr dirty="0"/>
              <a:t>.</a:t>
            </a:r>
          </a:p>
          <a:p>
            <a:pPr>
              <a:spcAft>
                <a:spcPts val="400"/>
              </a:spcAft>
              <a:defRPr sz="1050">
                <a:solidFill>
                  <a:srgbClr val="1E293B"/>
                </a:solidFill>
              </a:defRPr>
            </a:pPr>
            <a:r>
              <a:rPr dirty="0"/>
              <a:t>•  Settle-Gate Boolean Logic:</a:t>
            </a:r>
          </a:p>
          <a:p>
            <a:pPr>
              <a:spcAft>
                <a:spcPts val="400"/>
              </a:spcAft>
              <a:defRPr sz="1050">
                <a:solidFill>
                  <a:srgbClr val="1E293B"/>
                </a:solidFill>
              </a:defRPr>
            </a:pPr>
            <a:r>
              <a:rPr dirty="0"/>
              <a:t>•    </a:t>
            </a:r>
            <a:r>
              <a:rPr dirty="0" err="1"/>
              <a:t>settle_gate_passed</a:t>
            </a:r>
            <a:r>
              <a:rPr dirty="0"/>
              <a:t> = (</a:t>
            </a:r>
            <a:r>
              <a:rPr dirty="0" err="1"/>
              <a:t>cv_settled</a:t>
            </a:r>
            <a:r>
              <a:rPr dirty="0"/>
              <a:t> AND </a:t>
            </a:r>
            <a:r>
              <a:rPr dirty="0" err="1"/>
              <a:t>co_settled</a:t>
            </a:r>
            <a:r>
              <a:rPr dirty="0"/>
              <a:t> AND </a:t>
            </a:r>
            <a:r>
              <a:rPr dirty="0" err="1"/>
              <a:t>mcp_settled</a:t>
            </a:r>
            <a:r>
              <a:rPr dirty="0"/>
              <a:t>)</a:t>
            </a:r>
          </a:p>
          <a:p>
            <a:pPr>
              <a:spcAft>
                <a:spcPts val="400"/>
              </a:spcAft>
              <a:defRPr sz="1050">
                <a:solidFill>
                  <a:srgbClr val="1E293B"/>
                </a:solidFill>
              </a:defRPr>
            </a:pPr>
            <a:r>
              <a:rPr dirty="0"/>
              <a:t>•    where </a:t>
            </a:r>
            <a:r>
              <a:rPr dirty="0" err="1"/>
              <a:t>cv_settled</a:t>
            </a:r>
            <a:r>
              <a:rPr dirty="0"/>
              <a:t> = (state == 'Completed' AND progress == 100%)</a:t>
            </a:r>
          </a:p>
          <a:p>
            <a:pPr>
              <a:spcAft>
                <a:spcPts val="400"/>
              </a:spcAft>
              <a:defRPr sz="1050">
                <a:solidFill>
                  <a:srgbClr val="1E293B"/>
                </a:solidFill>
              </a:defRPr>
            </a:pPr>
            <a:r>
              <a:rPr dirty="0"/>
              <a:t>•    </a:t>
            </a:r>
            <a:r>
              <a:rPr dirty="0" err="1"/>
              <a:t>co_settled</a:t>
            </a:r>
            <a:r>
              <a:rPr dirty="0"/>
              <a:t> = (count(Degraded==True) == 0 AND count(Progressing==True) == 0)</a:t>
            </a:r>
          </a:p>
          <a:p>
            <a:pPr>
              <a:spcAft>
                <a:spcPts val="400"/>
              </a:spcAft>
              <a:defRPr sz="1050">
                <a:solidFill>
                  <a:srgbClr val="1E293B"/>
                </a:solidFill>
              </a:defRPr>
            </a:pPr>
            <a:r>
              <a:rPr dirty="0"/>
              <a:t>•    </a:t>
            </a:r>
            <a:r>
              <a:rPr dirty="0" err="1"/>
              <a:t>mcp_settled</a:t>
            </a:r>
            <a:r>
              <a:rPr dirty="0"/>
              <a:t> = (updated == total AND degraded == 0)</a:t>
            </a:r>
          </a:p>
          <a:p>
            <a:pPr>
              <a:spcAft>
                <a:spcPts val="400"/>
              </a:spcAft>
              <a:defRPr sz="1050">
                <a:solidFill>
                  <a:srgbClr val="1E293B"/>
                </a:solidFill>
              </a:defRPr>
            </a:pPr>
            <a:r>
              <a:rPr dirty="0"/>
              <a:t>•  Error Escalation &amp; Teardown: Uncaught task failures trigger rescue: block, invoking </a:t>
            </a:r>
            <a:r>
              <a:rPr dirty="0" err="1"/>
              <a:t>cleanup_handler</a:t>
            </a:r>
            <a:r>
              <a:rPr dirty="0"/>
              <a:t> and dispatching failure alert.</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8_module_wiring_fact_flow.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ENTERPRISE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Security Architecture: Least-Privilege RBAC &amp; Credential Safety</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65960"/>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Zero-Trust Security Controls</a:t>
            </a:r>
          </a:p>
          <a:p>
            <a:pPr>
              <a:spcAft>
                <a:spcPts val="600"/>
              </a:spcAft>
              <a:defRPr sz="900" b="1">
                <a:solidFill>
                  <a:srgbClr val="1B4965"/>
                </a:solidFill>
              </a:defRPr>
            </a:pPr>
            <a:r>
              <a:rPr dirty="0"/>
              <a:t>[ZERO TRUST]</a:t>
            </a:r>
          </a:p>
          <a:p>
            <a:pPr>
              <a:spcAft>
                <a:spcPts val="400"/>
              </a:spcAft>
              <a:defRPr sz="1050">
                <a:solidFill>
                  <a:srgbClr val="1E293B"/>
                </a:solidFill>
              </a:defRPr>
            </a:pPr>
            <a:r>
              <a:rPr dirty="0"/>
              <a:t>•  Least-Privilege RBAC: Executes under dedicated </a:t>
            </a:r>
            <a:r>
              <a:rPr dirty="0" err="1"/>
              <a:t>ServiceAccount</a:t>
            </a:r>
            <a:r>
              <a:rPr dirty="0"/>
              <a:t> (aro-upgrade-</a:t>
            </a:r>
            <a:r>
              <a:rPr dirty="0" err="1"/>
              <a:t>sa</a:t>
            </a:r>
            <a:r>
              <a:rPr dirty="0"/>
              <a:t>) scoped strictly to required cluster upgrade resources.</a:t>
            </a:r>
          </a:p>
          <a:p>
            <a:pPr>
              <a:spcAft>
                <a:spcPts val="400"/>
              </a:spcAft>
              <a:defRPr sz="1050">
                <a:solidFill>
                  <a:srgbClr val="1E293B"/>
                </a:solidFill>
              </a:defRPr>
            </a:pPr>
            <a:r>
              <a:rPr dirty="0"/>
              <a:t>•  Zero Plaintext Secrets: Passwords, client secrets, and tokens are injected via environment variables or Ansible Vault; never committed to git.</a:t>
            </a:r>
          </a:p>
          <a:p>
            <a:pPr>
              <a:spcAft>
                <a:spcPts val="400"/>
              </a:spcAft>
              <a:defRPr sz="1050">
                <a:solidFill>
                  <a:srgbClr val="1E293B"/>
                </a:solidFill>
              </a:defRPr>
            </a:pPr>
            <a:r>
              <a:rPr dirty="0"/>
              <a:t>•  Ephemeral Bearer Tokens: Session authentication tokens are dynamically requested and rotated, purged from memory upon playbook completion.</a:t>
            </a:r>
          </a:p>
          <a:p>
            <a:pPr>
              <a:spcAft>
                <a:spcPts val="400"/>
              </a:spcAft>
              <a:defRPr sz="1050">
                <a:solidFill>
                  <a:srgbClr val="1E293B"/>
                </a:solidFill>
              </a:defRPr>
            </a:pPr>
            <a:r>
              <a:rPr dirty="0"/>
              <a:t>•  Ansible </a:t>
            </a:r>
            <a:r>
              <a:rPr dirty="0" err="1"/>
              <a:t>no_log</a:t>
            </a:r>
            <a:r>
              <a:rPr dirty="0"/>
              <a:t> Guardrails: Enabled across all authentication and secret-handling tasks to prevent token exposure in CI/CD console logs.</a:t>
            </a:r>
          </a:p>
          <a:p>
            <a:pPr>
              <a:spcAft>
                <a:spcPts val="400"/>
              </a:spcAft>
              <a:defRPr sz="1050">
                <a:solidFill>
                  <a:srgbClr val="1E293B"/>
                </a:solidFill>
              </a:defRPr>
            </a:pPr>
            <a:r>
              <a:rPr dirty="0"/>
              <a:t>•  Local Scratch Masking: Scratch directory files are </a:t>
            </a:r>
            <a:r>
              <a:rPr dirty="0" err="1"/>
              <a:t>chmod</a:t>
            </a:r>
            <a:r>
              <a:rPr dirty="0"/>
              <a:t> 0700 and purged by 06_Cleanup.sh.</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2_security_trust_boundaries.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INFRASTRUCTURE &amp; CONCURRENCY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Storage Architecture: Atomic State &amp; Concurrency Locks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47672"/>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Atomic Storage &amp; Lock Controls</a:t>
            </a:r>
          </a:p>
          <a:p>
            <a:pPr>
              <a:spcAft>
                <a:spcPts val="600"/>
              </a:spcAft>
              <a:defRPr sz="900" b="1">
                <a:solidFill>
                  <a:srgbClr val="1B4965"/>
                </a:solidFill>
              </a:defRPr>
            </a:pPr>
            <a:r>
              <a:rPr dirty="0"/>
              <a:t>[STORAGE INTEGRITY]</a:t>
            </a:r>
          </a:p>
          <a:p>
            <a:pPr>
              <a:spcAft>
                <a:spcPts val="400"/>
              </a:spcAft>
              <a:defRPr sz="1050">
                <a:solidFill>
                  <a:srgbClr val="1E293B"/>
                </a:solidFill>
              </a:defRPr>
            </a:pPr>
            <a:r>
              <a:rPr dirty="0"/>
              <a:t>•  PID-Based Run Lock: /</a:t>
            </a:r>
            <a:r>
              <a:rPr dirty="0" err="1"/>
              <a:t>tmp</a:t>
            </a:r>
            <a:r>
              <a:rPr dirty="0"/>
              <a:t>/</a:t>
            </a:r>
            <a:r>
              <a:rPr dirty="0" err="1"/>
              <a:t>aro_upgrade.lock</a:t>
            </a:r>
            <a:r>
              <a:rPr dirty="0"/>
              <a:t> holds the active execution PID, preventing concurrent runs against the same cluster.</a:t>
            </a:r>
          </a:p>
          <a:p>
            <a:pPr>
              <a:spcAft>
                <a:spcPts val="400"/>
              </a:spcAft>
              <a:defRPr sz="1050">
                <a:solidFill>
                  <a:srgbClr val="1E293B"/>
                </a:solidFill>
              </a:defRPr>
            </a:pPr>
            <a:r>
              <a:rPr dirty="0"/>
              <a:t>•  Atomic JSON Write Pattern: State files are written to .</a:t>
            </a:r>
            <a:r>
              <a:rPr dirty="0" err="1"/>
              <a:t>tmp</a:t>
            </a:r>
            <a:r>
              <a:rPr dirty="0"/>
              <a:t> files and atomically renamed to prevent corruption during controller crash.</a:t>
            </a:r>
          </a:p>
          <a:p>
            <a:pPr>
              <a:spcAft>
                <a:spcPts val="400"/>
              </a:spcAft>
              <a:defRPr sz="1050">
                <a:solidFill>
                  <a:srgbClr val="1E293B"/>
                </a:solidFill>
              </a:defRPr>
            </a:pPr>
            <a:r>
              <a:rPr dirty="0"/>
              <a:t>•  Directory Structure:</a:t>
            </a:r>
          </a:p>
          <a:p>
            <a:pPr>
              <a:spcAft>
                <a:spcPts val="400"/>
              </a:spcAft>
              <a:defRPr sz="1050">
                <a:solidFill>
                  <a:srgbClr val="1E293B"/>
                </a:solidFill>
              </a:defRPr>
            </a:pPr>
            <a:r>
              <a:rPr dirty="0"/>
              <a:t>•    • output/snapshots/ - Baseline &amp; post-upgrade JSON states.</a:t>
            </a:r>
          </a:p>
          <a:p>
            <a:pPr>
              <a:spcAft>
                <a:spcPts val="400"/>
              </a:spcAft>
              <a:defRPr sz="1050">
                <a:solidFill>
                  <a:srgbClr val="1E293B"/>
                </a:solidFill>
              </a:defRPr>
            </a:pPr>
            <a:r>
              <a:rPr dirty="0"/>
              <a:t>•    • output/reports/ - Timestamped executive HTML reports.</a:t>
            </a:r>
          </a:p>
          <a:p>
            <a:pPr>
              <a:spcAft>
                <a:spcPts val="400"/>
              </a:spcAft>
              <a:defRPr sz="1050">
                <a:solidFill>
                  <a:srgbClr val="1E293B"/>
                </a:solidFill>
              </a:defRPr>
            </a:pPr>
            <a:r>
              <a:rPr dirty="0"/>
              <a:t>•    • output/logs/ - Full Ansible execution and diff logs.</a:t>
            </a:r>
          </a:p>
          <a:p>
            <a:pPr>
              <a:spcAft>
                <a:spcPts val="400"/>
              </a:spcAft>
              <a:defRPr sz="1050">
                <a:solidFill>
                  <a:srgbClr val="1E293B"/>
                </a:solidFill>
              </a:defRPr>
            </a:pPr>
            <a:r>
              <a:rPr dirty="0"/>
              <a:t>•    • scratch/ - Temporary working files, purged on exit.</a:t>
            </a:r>
          </a:p>
          <a:p>
            <a:pPr>
              <a:spcAft>
                <a:spcPts val="400"/>
              </a:spcAft>
              <a:defRPr sz="1050">
                <a:solidFill>
                  <a:srgbClr val="1E293B"/>
                </a:solidFill>
              </a:defRPr>
            </a:pPr>
            <a:r>
              <a:rPr dirty="0"/>
              <a:t>•  Automated Cleanup Handler: Traps SIGINT/SIGTERM and ensures lock release and scratch cleanup on unexpected termination.</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5_storage_concurrency.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DEPLOYMENT TOPOLOGY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Deployment Topology &amp; Infrastructure Prerequisites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47672"/>
            <a:ext cx="4023360" cy="4663440"/>
          </a:xfrm>
          <a:prstGeom prst="rect">
            <a:avLst/>
          </a:prstGeom>
          <a:noFill/>
        </p:spPr>
        <p:txBody>
          <a:bodyPr wrap="square" lIns="0" tIns="0" rIns="0" bIns="0">
            <a:spAutoFit/>
          </a:bodyPr>
          <a:lstStyle/>
          <a:p>
            <a:pPr>
              <a:spcAft>
                <a:spcPts val="800"/>
              </a:spcAft>
              <a:defRPr sz="1400" b="1">
                <a:solidFill>
                  <a:srgbClr val="0F2744"/>
                </a:solidFill>
              </a:defRPr>
            </a:pPr>
            <a:r>
              <a:rPr dirty="0"/>
              <a:t>Infrastructure &amp; Controller Specs</a:t>
            </a:r>
          </a:p>
          <a:p>
            <a:pPr>
              <a:spcAft>
                <a:spcPts val="600"/>
              </a:spcAft>
              <a:defRPr sz="900" b="1">
                <a:solidFill>
                  <a:srgbClr val="1B4965"/>
                </a:solidFill>
              </a:defRPr>
            </a:pPr>
            <a:r>
              <a:rPr dirty="0"/>
              <a:t>[PREREQUISITES]</a:t>
            </a:r>
          </a:p>
          <a:p>
            <a:pPr>
              <a:spcAft>
                <a:spcPts val="400"/>
              </a:spcAft>
              <a:defRPr sz="1050">
                <a:solidFill>
                  <a:srgbClr val="1E293B"/>
                </a:solidFill>
              </a:defRPr>
            </a:pPr>
            <a:r>
              <a:rPr dirty="0"/>
              <a:t>•  Ansible Controller Node: RHEL 8/9, Rocky Linux, or Ubuntu 22.04 LTS (4 vCPU, 8 GB RAM, 20 GB SSD).</a:t>
            </a:r>
          </a:p>
          <a:p>
            <a:pPr>
              <a:spcAft>
                <a:spcPts val="400"/>
              </a:spcAft>
              <a:defRPr sz="1050">
                <a:solidFill>
                  <a:srgbClr val="1E293B"/>
                </a:solidFill>
              </a:defRPr>
            </a:pPr>
            <a:r>
              <a:rPr dirty="0"/>
              <a:t>•  Required Software: Python 3.8+, Ansible 2.7.17 or 2.14.18+, OpenShift CLI (</a:t>
            </a:r>
            <a:r>
              <a:rPr dirty="0" err="1"/>
              <a:t>oc</a:t>
            </a:r>
            <a:r>
              <a:rPr dirty="0"/>
              <a:t> v4.12+), </a:t>
            </a:r>
            <a:r>
              <a:rPr dirty="0" err="1"/>
              <a:t>jq</a:t>
            </a:r>
            <a:r>
              <a:rPr dirty="0"/>
              <a:t> 1.6+.</a:t>
            </a:r>
          </a:p>
          <a:p>
            <a:pPr>
              <a:spcAft>
                <a:spcPts val="400"/>
              </a:spcAft>
              <a:defRPr sz="1050">
                <a:solidFill>
                  <a:srgbClr val="1E293B"/>
                </a:solidFill>
              </a:defRPr>
            </a:pPr>
            <a:r>
              <a:rPr dirty="0"/>
              <a:t>•  Network Firewall Requirements:</a:t>
            </a:r>
          </a:p>
          <a:p>
            <a:pPr>
              <a:spcAft>
                <a:spcPts val="400"/>
              </a:spcAft>
              <a:defRPr sz="1050">
                <a:solidFill>
                  <a:srgbClr val="1E293B"/>
                </a:solidFill>
              </a:defRPr>
            </a:pPr>
            <a:r>
              <a:rPr dirty="0"/>
              <a:t>•    • Port 6443/TCP: Egress to ARO Kubernetes API Server.</a:t>
            </a:r>
          </a:p>
          <a:p>
            <a:pPr>
              <a:spcAft>
                <a:spcPts val="400"/>
              </a:spcAft>
              <a:defRPr sz="1050">
                <a:solidFill>
                  <a:srgbClr val="1E293B"/>
                </a:solidFill>
              </a:defRPr>
            </a:pPr>
            <a:r>
              <a:rPr dirty="0"/>
              <a:t>•    • Port 443/TCP: Egress to Azure Resource Manager (ARM).</a:t>
            </a:r>
          </a:p>
          <a:p>
            <a:pPr>
              <a:spcAft>
                <a:spcPts val="400"/>
              </a:spcAft>
              <a:defRPr sz="1050">
                <a:solidFill>
                  <a:srgbClr val="1E293B"/>
                </a:solidFill>
              </a:defRPr>
            </a:pPr>
            <a:r>
              <a:rPr dirty="0"/>
              <a:t>•    • Port 587/25: Egress to Enterprise SMTP Mail Relay.</a:t>
            </a:r>
          </a:p>
          <a:p>
            <a:pPr>
              <a:spcAft>
                <a:spcPts val="400"/>
              </a:spcAft>
              <a:defRPr sz="1050">
                <a:solidFill>
                  <a:srgbClr val="1E293B"/>
                </a:solidFill>
              </a:defRPr>
            </a:pPr>
            <a:r>
              <a:rPr dirty="0"/>
              <a:t>•  Bastion &amp; Private Link: Fully compatible with private ARO clusters deployed behind Azure ExpressRoute or VPN gateways.</a:t>
            </a:r>
          </a:p>
          <a:p>
            <a:pPr>
              <a:spcAft>
                <a:spcPts val="400"/>
              </a:spcAft>
              <a:defRPr sz="1050">
                <a:solidFill>
                  <a:srgbClr val="1E293B"/>
                </a:solidFill>
              </a:defRPr>
            </a:pPr>
            <a:r>
              <a:rPr dirty="0"/>
              <a:t>•  Dual-Engine Verification: Validated on legacy Ansible 2.7 testbeds and modern Ansible 2.14 production controllers.</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1_deployment_diagram.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READINESS &amp; ROADMAP</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Production Readiness Scorecard: 92% Ready</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4389120" cy="4937760"/>
          </a:xfrm>
          <a:prstGeom prst="roundRect">
            <a:avLst/>
          </a:prstGeom>
          <a:solidFill>
            <a:srgbClr val="FFFFFF"/>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13228"/>
            <a:ext cx="4023360" cy="2831544"/>
          </a:xfrm>
          <a:prstGeom prst="rect">
            <a:avLst/>
          </a:prstGeom>
          <a:noFill/>
        </p:spPr>
        <p:txBody>
          <a:bodyPr wrap="square" lIns="0" tIns="0" rIns="0" bIns="0">
            <a:spAutoFit/>
          </a:bodyPr>
          <a:lstStyle/>
          <a:p>
            <a:pPr>
              <a:spcAft>
                <a:spcPts val="800"/>
              </a:spcAft>
              <a:defRPr sz="1400" b="1">
                <a:solidFill>
                  <a:srgbClr val="0F2744"/>
                </a:solidFill>
              </a:defRPr>
            </a:pPr>
            <a:r>
              <a:rPr dirty="0"/>
              <a:t>Readiness Breakdown &amp; Remaining Gaps</a:t>
            </a:r>
          </a:p>
          <a:p>
            <a:pPr>
              <a:spcAft>
                <a:spcPts val="600"/>
              </a:spcAft>
              <a:defRPr sz="900" b="1">
                <a:solidFill>
                  <a:srgbClr val="1B4965"/>
                </a:solidFill>
              </a:defRPr>
            </a:pPr>
            <a:r>
              <a:rPr dirty="0"/>
              <a:t>[READINESS SCORECARD]</a:t>
            </a:r>
          </a:p>
          <a:p>
            <a:pPr>
              <a:spcAft>
                <a:spcPts val="400"/>
              </a:spcAft>
              <a:defRPr sz="1050">
                <a:solidFill>
                  <a:srgbClr val="1E293B"/>
                </a:solidFill>
              </a:defRPr>
            </a:pPr>
            <a:r>
              <a:rPr dirty="0"/>
              <a:t>•  Core Orchestration (100% Ready): Full multi-hop traversal, process locking, and </a:t>
            </a:r>
            <a:r>
              <a:rPr dirty="0" err="1"/>
              <a:t>main.yml</a:t>
            </a:r>
            <a:r>
              <a:rPr dirty="0"/>
              <a:t> state machine fully implemented.</a:t>
            </a:r>
          </a:p>
          <a:p>
            <a:pPr>
              <a:spcAft>
                <a:spcPts val="400"/>
              </a:spcAft>
              <a:defRPr sz="1050">
                <a:solidFill>
                  <a:srgbClr val="1E293B"/>
                </a:solidFill>
              </a:defRPr>
            </a:pPr>
            <a:r>
              <a:rPr dirty="0"/>
              <a:t>•  Validation &amp; Remediation (95% Ready): All 15 pre-checks and 6 auto-remediators coded and syntactically validated.</a:t>
            </a:r>
          </a:p>
          <a:p>
            <a:pPr>
              <a:spcAft>
                <a:spcPts val="400"/>
              </a:spcAft>
              <a:defRPr sz="1050">
                <a:solidFill>
                  <a:srgbClr val="1E293B"/>
                </a:solidFill>
              </a:defRPr>
            </a:pPr>
            <a:r>
              <a:rPr dirty="0"/>
              <a:t>•  Reporting &amp; Observability (95% Ready): HTML email generator and 30s monitoring loop complete.</a:t>
            </a:r>
          </a:p>
          <a:p>
            <a:pPr>
              <a:spcAft>
                <a:spcPts val="400"/>
              </a:spcAft>
              <a:defRPr sz="1050">
                <a:solidFill>
                  <a:srgbClr val="1E293B"/>
                </a:solidFill>
              </a:defRPr>
            </a:pPr>
            <a:r>
              <a:rPr dirty="0"/>
              <a:t>•  Security &amp; RBAC (90% Ready): </a:t>
            </a:r>
            <a:r>
              <a:rPr dirty="0" err="1"/>
              <a:t>ServiceAccount</a:t>
            </a:r>
            <a:r>
              <a:rPr dirty="0"/>
              <a:t> policies and Vault secrets integration verified.</a:t>
            </a:r>
          </a:p>
          <a:p>
            <a:pPr>
              <a:spcAft>
                <a:spcPts val="400"/>
              </a:spcAft>
              <a:defRPr sz="1050">
                <a:solidFill>
                  <a:srgbClr val="1E293B"/>
                </a:solidFill>
              </a:defRPr>
            </a:pPr>
            <a:r>
              <a:rPr dirty="0"/>
              <a:t>•  Remaining 8% Production Gaps:</a:t>
            </a:r>
          </a:p>
          <a:p>
            <a:pPr>
              <a:spcAft>
                <a:spcPts val="400"/>
              </a:spcAft>
              <a:defRPr sz="1050">
                <a:solidFill>
                  <a:srgbClr val="1E293B"/>
                </a:solidFill>
              </a:defRPr>
            </a:pPr>
            <a:r>
              <a:rPr dirty="0"/>
              <a:t>•    1. Live cluster multi-hop soak test in staging environment.</a:t>
            </a:r>
          </a:p>
          <a:p>
            <a:pPr>
              <a:spcAft>
                <a:spcPts val="400"/>
              </a:spcAft>
              <a:defRPr sz="1050">
                <a:solidFill>
                  <a:srgbClr val="1E293B"/>
                </a:solidFill>
              </a:defRPr>
            </a:pPr>
            <a:r>
              <a:rPr dirty="0"/>
              <a:t>•    2. Proxy-specific egress timeout tuning for high-latency connections.</a:t>
            </a:r>
          </a:p>
          <a:p>
            <a:pPr>
              <a:spcAft>
                <a:spcPts val="400"/>
              </a:spcAft>
              <a:defRPr sz="1050">
                <a:solidFill>
                  <a:srgbClr val="1E293B"/>
                </a:solidFill>
              </a:defRPr>
            </a:pPr>
            <a:r>
              <a:rPr dirty="0"/>
              <a:t>•    3. Final client change control board (CAB) runbook sign-off.</a:t>
            </a:r>
          </a:p>
        </p:txBody>
      </p:sp>
      <p:sp>
        <p:nvSpPr>
          <p:cNvPr id="8" name="Rounded Rectangle 7"/>
          <p:cNvSpPr/>
          <p:nvPr/>
        </p:nvSpPr>
        <p:spPr>
          <a:xfrm>
            <a:off x="5257800" y="1417320"/>
            <a:ext cx="621792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ig17_production_readiness_summary.png"/>
          <p:cNvPicPr>
            <a:picLocks noChangeAspect="1"/>
          </p:cNvPicPr>
          <p:nvPr/>
        </p:nvPicPr>
        <p:blipFill>
          <a:blip r:embed="rId3"/>
          <a:stretch>
            <a:fillRect/>
          </a:stretch>
        </p:blipFill>
        <p:spPr>
          <a:xfrm>
            <a:off x="5303520" y="1463040"/>
            <a:ext cx="6126480" cy="49377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GOVERNANCE &amp; RISK</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Enterprise Risk Assessment &amp; Built-in Controls</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463040"/>
          <a:ext cx="10716768"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3035808">
                  <a:extLst>
                    <a:ext uri="{9D8B030D-6E8A-4147-A177-3AD203B41FA5}">
                      <a16:colId xmlns:a16="http://schemas.microsoft.com/office/drawing/2014/main" val="20003"/>
                    </a:ext>
                  </a:extLst>
                </a:gridCol>
              </a:tblGrid>
              <a:tr h="685800">
                <a:tc>
                  <a:txBody>
                    <a:bodyPr/>
                    <a:lstStyle/>
                    <a:p>
                      <a:pPr>
                        <a:defRPr sz="1100" b="1">
                          <a:solidFill>
                            <a:srgbClr val="FFFFFF"/>
                          </a:solidFill>
                        </a:defRPr>
                      </a:pPr>
                      <a:r>
                        <a:t>Enterprise Risk Event</a:t>
                      </a:r>
                    </a:p>
                  </a:txBody>
                  <a:tcPr>
                    <a:solidFill>
                      <a:srgbClr val="0F2744"/>
                    </a:solidFill>
                  </a:tcPr>
                </a:tc>
                <a:tc>
                  <a:txBody>
                    <a:bodyPr/>
                    <a:lstStyle/>
                    <a:p>
                      <a:pPr>
                        <a:defRPr sz="1100" b="1">
                          <a:solidFill>
                            <a:srgbClr val="FFFFFF"/>
                          </a:solidFill>
                        </a:defRPr>
                      </a:pPr>
                      <a:r>
                        <a:t>Severity</a:t>
                      </a:r>
                    </a:p>
                  </a:txBody>
                  <a:tcPr>
                    <a:solidFill>
                      <a:srgbClr val="0F2744"/>
                    </a:solidFill>
                  </a:tcPr>
                </a:tc>
                <a:tc>
                  <a:txBody>
                    <a:bodyPr/>
                    <a:lstStyle/>
                    <a:p>
                      <a:pPr>
                        <a:defRPr sz="1100" b="1">
                          <a:solidFill>
                            <a:srgbClr val="FFFFFF"/>
                          </a:solidFill>
                        </a:defRPr>
                      </a:pPr>
                      <a:r>
                        <a:t>Built-in Automation Control</a:t>
                      </a:r>
                    </a:p>
                  </a:txBody>
                  <a:tcPr>
                    <a:solidFill>
                      <a:srgbClr val="0F2744"/>
                    </a:solidFill>
                  </a:tcPr>
                </a:tc>
                <a:tc>
                  <a:txBody>
                    <a:bodyPr/>
                    <a:lstStyle/>
                    <a:p>
                      <a:pPr>
                        <a:defRPr sz="1100" b="1">
                          <a:solidFill>
                            <a:srgbClr val="FFFFFF"/>
                          </a:solidFill>
                        </a:defRPr>
                      </a:pPr>
                      <a:r>
                        <a:t>Fallback &amp; Escalation</a:t>
                      </a:r>
                    </a:p>
                  </a:txBody>
                  <a:tcPr>
                    <a:solidFill>
                      <a:srgbClr val="0F2744"/>
                    </a:solidFill>
                  </a:tcPr>
                </a:tc>
                <a:extLst>
                  <a:ext uri="{0D108BD9-81ED-4DB2-BD59-A6C34878D82A}">
                    <a16:rowId xmlns:a16="http://schemas.microsoft.com/office/drawing/2014/main" val="10000"/>
                  </a:ext>
                </a:extLst>
              </a:tr>
              <a:tr h="685800">
                <a:tc>
                  <a:txBody>
                    <a:bodyPr/>
                    <a:lstStyle/>
                    <a:p>
                      <a:pPr>
                        <a:defRPr sz="1000">
                          <a:solidFill>
                            <a:srgbClr val="1E293B"/>
                          </a:solidFill>
                        </a:defRPr>
                      </a:pPr>
                      <a:r>
                        <a:t>Worker Node Eviction Stall</a:t>
                      </a:r>
                    </a:p>
                  </a:txBody>
                  <a:tcPr>
                    <a:solidFill>
                      <a:srgbClr val="FFFFFF"/>
                    </a:solidFill>
                  </a:tcPr>
                </a:tc>
                <a:tc>
                  <a:txBody>
                    <a:bodyPr/>
                    <a:lstStyle/>
                    <a:p>
                      <a:pPr>
                        <a:defRPr sz="1000" b="1">
                          <a:solidFill>
                            <a:srgbClr val="1B4965"/>
                          </a:solidFill>
                        </a:defRPr>
                      </a:pPr>
                      <a:r>
                        <a:t>HIGH</a:t>
                      </a:r>
                    </a:p>
                  </a:txBody>
                  <a:tcPr>
                    <a:solidFill>
                      <a:srgbClr val="FFFFFF"/>
                    </a:solidFill>
                  </a:tcPr>
                </a:tc>
                <a:tc>
                  <a:txBody>
                    <a:bodyPr/>
                    <a:lstStyle/>
                    <a:p>
                      <a:pPr>
                        <a:defRPr sz="1000">
                          <a:solidFill>
                            <a:srgbClr val="1E293B"/>
                          </a:solidFill>
                        </a:defRPr>
                      </a:pPr>
                      <a:r>
                        <a:t>Auto-remediator prunes stuck evicted pods; enforces 15m drain timeout with safe uncordon.</a:t>
                      </a:r>
                    </a:p>
                  </a:txBody>
                  <a:tcPr>
                    <a:solidFill>
                      <a:srgbClr val="FFFFFF"/>
                    </a:solidFill>
                  </a:tcPr>
                </a:tc>
                <a:tc>
                  <a:txBody>
                    <a:bodyPr/>
                    <a:lstStyle/>
                    <a:p>
                      <a:pPr>
                        <a:defRPr sz="1000">
                          <a:solidFill>
                            <a:srgbClr val="1E293B"/>
                          </a:solidFill>
                        </a:defRPr>
                      </a:pPr>
                      <a:r>
                        <a:t>Alerts SRE; pauses MCP updates; workload remains unimpacted.</a:t>
                      </a:r>
                    </a:p>
                  </a:txBody>
                  <a:tcPr>
                    <a:solidFill>
                      <a:srgbClr val="FFFFFF"/>
                    </a:solidFill>
                  </a:tcPr>
                </a:tc>
                <a:extLst>
                  <a:ext uri="{0D108BD9-81ED-4DB2-BD59-A6C34878D82A}">
                    <a16:rowId xmlns:a16="http://schemas.microsoft.com/office/drawing/2014/main" val="10001"/>
                  </a:ext>
                </a:extLst>
              </a:tr>
              <a:tr h="685800">
                <a:tc>
                  <a:txBody>
                    <a:bodyPr/>
                    <a:lstStyle/>
                    <a:p>
                      <a:pPr>
                        <a:defRPr sz="1000">
                          <a:solidFill>
                            <a:srgbClr val="1E293B"/>
                          </a:solidFill>
                        </a:defRPr>
                      </a:pPr>
                      <a:r>
                        <a:t>Control Plane Quorum Loss</a:t>
                      </a:r>
                    </a:p>
                  </a:txBody>
                  <a:tcPr>
                    <a:solidFill>
                      <a:srgbClr val="F8FAFC"/>
                    </a:solidFill>
                  </a:tcPr>
                </a:tc>
                <a:tc>
                  <a:txBody>
                    <a:bodyPr/>
                    <a:lstStyle/>
                    <a:p>
                      <a:pPr>
                        <a:defRPr sz="1000" b="1">
                          <a:solidFill>
                            <a:srgbClr val="D97706"/>
                          </a:solidFill>
                        </a:defRPr>
                      </a:pPr>
                      <a:r>
                        <a:t>CRITICAL</a:t>
                      </a:r>
                    </a:p>
                  </a:txBody>
                  <a:tcPr>
                    <a:solidFill>
                      <a:srgbClr val="F8FAFC"/>
                    </a:solidFill>
                  </a:tcPr>
                </a:tc>
                <a:tc>
                  <a:txBody>
                    <a:bodyPr/>
                    <a:lstStyle/>
                    <a:p>
                      <a:pPr>
                        <a:defRPr sz="1000">
                          <a:solidFill>
                            <a:srgbClr val="1E293B"/>
                          </a:solidFill>
                        </a:defRPr>
                      </a:pPr>
                      <a:r>
                        <a:t>Validates etcd leader and member health in Phase 01 pre-checks; stops if degraded.</a:t>
                      </a:r>
                    </a:p>
                  </a:txBody>
                  <a:tcPr>
                    <a:solidFill>
                      <a:srgbClr val="F8FAFC"/>
                    </a:solidFill>
                  </a:tcPr>
                </a:tc>
                <a:tc>
                  <a:txBody>
                    <a:bodyPr/>
                    <a:lstStyle/>
                    <a:p>
                      <a:pPr>
                        <a:defRPr sz="1000">
                          <a:solidFill>
                            <a:srgbClr val="1E293B"/>
                          </a:solidFill>
                        </a:defRPr>
                      </a:pPr>
                      <a:r>
                        <a:t>Hard abort before upgrade; zero mutation to running control plane.</a:t>
                      </a:r>
                    </a:p>
                  </a:txBody>
                  <a:tcPr>
                    <a:solidFill>
                      <a:srgbClr val="F8FAFC"/>
                    </a:solidFill>
                  </a:tcPr>
                </a:tc>
                <a:extLst>
                  <a:ext uri="{0D108BD9-81ED-4DB2-BD59-A6C34878D82A}">
                    <a16:rowId xmlns:a16="http://schemas.microsoft.com/office/drawing/2014/main" val="10002"/>
                  </a:ext>
                </a:extLst>
              </a:tr>
              <a:tr h="685800">
                <a:tc>
                  <a:txBody>
                    <a:bodyPr/>
                    <a:lstStyle/>
                    <a:p>
                      <a:pPr>
                        <a:defRPr sz="1000">
                          <a:solidFill>
                            <a:srgbClr val="1E293B"/>
                          </a:solidFill>
                        </a:defRPr>
                      </a:pPr>
                      <a:r>
                        <a:t>Intermediate Hop Failure</a:t>
                      </a:r>
                    </a:p>
                  </a:txBody>
                  <a:tcPr>
                    <a:solidFill>
                      <a:srgbClr val="FFFFFF"/>
                    </a:solidFill>
                  </a:tcPr>
                </a:tc>
                <a:tc>
                  <a:txBody>
                    <a:bodyPr/>
                    <a:lstStyle/>
                    <a:p>
                      <a:pPr>
                        <a:defRPr sz="1000" b="1">
                          <a:solidFill>
                            <a:srgbClr val="1B4965"/>
                          </a:solidFill>
                        </a:defRPr>
                      </a:pPr>
                      <a:r>
                        <a:t>HIGH</a:t>
                      </a:r>
                    </a:p>
                  </a:txBody>
                  <a:tcPr>
                    <a:solidFill>
                      <a:srgbClr val="FFFFFF"/>
                    </a:solidFill>
                  </a:tcPr>
                </a:tc>
                <a:tc>
                  <a:txBody>
                    <a:bodyPr/>
                    <a:lstStyle/>
                    <a:p>
                      <a:pPr>
                        <a:defRPr sz="1000">
                          <a:solidFill>
                            <a:srgbClr val="1E293B"/>
                          </a:solidFill>
                        </a:defRPr>
                      </a:pPr>
                      <a:r>
                        <a:t>Evaluates settle gate after each hop; will not proceed to next hop if operators degraded.</a:t>
                      </a:r>
                    </a:p>
                  </a:txBody>
                  <a:tcPr>
                    <a:solidFill>
                      <a:srgbClr val="FFFFFF"/>
                    </a:solidFill>
                  </a:tcPr>
                </a:tc>
                <a:tc>
                  <a:txBody>
                    <a:bodyPr/>
                    <a:lstStyle/>
                    <a:p>
                      <a:pPr>
                        <a:defRPr sz="1000">
                          <a:solidFill>
                            <a:srgbClr val="1E293B"/>
                          </a:solidFill>
                        </a:defRPr>
                      </a:pPr>
                      <a:r>
                        <a:t>Preserves cluster at stable intermediate version; generates diff log.</a:t>
                      </a:r>
                    </a:p>
                  </a:txBody>
                  <a:tcPr>
                    <a:solidFill>
                      <a:srgbClr val="FFFFFF"/>
                    </a:solidFill>
                  </a:tcPr>
                </a:tc>
                <a:extLst>
                  <a:ext uri="{0D108BD9-81ED-4DB2-BD59-A6C34878D82A}">
                    <a16:rowId xmlns:a16="http://schemas.microsoft.com/office/drawing/2014/main" val="10003"/>
                  </a:ext>
                </a:extLst>
              </a:tr>
              <a:tr h="685800">
                <a:tc>
                  <a:txBody>
                    <a:bodyPr/>
                    <a:lstStyle/>
                    <a:p>
                      <a:pPr>
                        <a:defRPr sz="1000">
                          <a:solidFill>
                            <a:srgbClr val="1E293B"/>
                          </a:solidFill>
                        </a:defRPr>
                      </a:pPr>
                      <a:r>
                        <a:t>Day-2 Operator Incompatibility</a:t>
                      </a:r>
                    </a:p>
                  </a:txBody>
                  <a:tcPr>
                    <a:solidFill>
                      <a:srgbClr val="F8FAFC"/>
                    </a:solidFill>
                  </a:tcPr>
                </a:tc>
                <a:tc>
                  <a:txBody>
                    <a:bodyPr/>
                    <a:lstStyle/>
                    <a:p>
                      <a:pPr>
                        <a:defRPr sz="1000" b="1">
                          <a:solidFill>
                            <a:srgbClr val="4A5568"/>
                          </a:solidFill>
                        </a:defRPr>
                      </a:pPr>
                      <a:r>
                        <a:t>MEDIUM</a:t>
                      </a:r>
                    </a:p>
                  </a:txBody>
                  <a:tcPr>
                    <a:solidFill>
                      <a:srgbClr val="F8FAFC"/>
                    </a:solidFill>
                  </a:tcPr>
                </a:tc>
                <a:tc>
                  <a:txBody>
                    <a:bodyPr/>
                    <a:lstStyle/>
                    <a:p>
                      <a:r>
                        <a:t>Prevalidation Check 15 evaluates OLM operator compatibility against target OCP version; Phase 06 verifies CSV readiness.</a:t>
                      </a:r>
                    </a:p>
                  </a:txBody>
                  <a:tcPr>
                    <a:solidFill>
                      <a:srgbClr val="F8FAFC"/>
                    </a:solidFill>
                  </a:tcPr>
                </a:tc>
                <a:tc>
                  <a:txBody>
                    <a:bodyPr/>
                    <a:lstStyle/>
                    <a:p>
                      <a:r>
                        <a:t>HARD gate blocks upgrade prior to cluster mutation if operators lack compatible channels for target release.</a:t>
                      </a:r>
                    </a:p>
                  </a:txBody>
                  <a:tcPr>
                    <a:solidFill>
                      <a:srgbClr val="F8FAFC"/>
                    </a:solidFill>
                  </a:tcPr>
                </a:tc>
                <a:extLst>
                  <a:ext uri="{0D108BD9-81ED-4DB2-BD59-A6C34878D82A}">
                    <a16:rowId xmlns:a16="http://schemas.microsoft.com/office/drawing/2014/main" val="10004"/>
                  </a:ext>
                </a:extLst>
              </a:tr>
              <a:tr h="685800">
                <a:tc>
                  <a:txBody>
                    <a:bodyPr/>
                    <a:lstStyle/>
                    <a:p>
                      <a:pPr>
                        <a:defRPr sz="1000">
                          <a:solidFill>
                            <a:srgbClr val="1E293B"/>
                          </a:solidFill>
                        </a:defRPr>
                      </a:pPr>
                      <a:r>
                        <a:t>Process Collision / Dual Run</a:t>
                      </a:r>
                    </a:p>
                  </a:txBody>
                  <a:tcPr>
                    <a:solidFill>
                      <a:srgbClr val="FFFFFF"/>
                    </a:solidFill>
                  </a:tcPr>
                </a:tc>
                <a:tc>
                  <a:txBody>
                    <a:bodyPr/>
                    <a:lstStyle/>
                    <a:p>
                      <a:pPr>
                        <a:defRPr sz="1000" b="1">
                          <a:solidFill>
                            <a:srgbClr val="4A5568"/>
                          </a:solidFill>
                        </a:defRPr>
                      </a:pPr>
                      <a:r>
                        <a:t>MEDIUM</a:t>
                      </a:r>
                    </a:p>
                  </a:txBody>
                  <a:tcPr>
                    <a:solidFill>
                      <a:srgbClr val="FFFFFF"/>
                    </a:solidFill>
                  </a:tcPr>
                </a:tc>
                <a:tc>
                  <a:txBody>
                    <a:bodyPr/>
                    <a:lstStyle/>
                    <a:p>
                      <a:pPr>
                        <a:defRPr sz="1000">
                          <a:solidFill>
                            <a:srgbClr val="1E293B"/>
                          </a:solidFill>
                        </a:defRPr>
                      </a:pPr>
                      <a:r>
                        <a:t>PID-based /tmp/aro_upgrade.lock file acquired prior to playbook execution.</a:t>
                      </a:r>
                    </a:p>
                  </a:txBody>
                  <a:tcPr>
                    <a:solidFill>
                      <a:srgbClr val="FFFFFF"/>
                    </a:solidFill>
                  </a:tcPr>
                </a:tc>
                <a:tc>
                  <a:txBody>
                    <a:bodyPr/>
                    <a:lstStyle/>
                    <a:p>
                      <a:pPr>
                        <a:defRPr sz="1000">
                          <a:solidFill>
                            <a:srgbClr val="1E293B"/>
                          </a:solidFill>
                        </a:defRPr>
                      </a:pPr>
                      <a:r>
                        <a:t>Second invocation halts immediately with non-zero exit code.</a:t>
                      </a:r>
                    </a:p>
                  </a:txBody>
                  <a:tcP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31520" y="5760720"/>
            <a:ext cx="10716768" cy="64008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2744"/>
                </a:solidFill>
              </a:defRPr>
            </a:pPr>
            <a:r>
              <a:t>Risk Management Invariant: Every failure mode fails closed. The framework prioritizes cluster stability and workload uptime over completing an upgrade.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D97706"/>
                </a:solidFill>
              </a:defRPr>
            </a:pPr>
            <a:r>
              <a:t>OPERATIONS &amp; RUNBOOK</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2744"/>
                </a:solidFill>
              </a:defRPr>
            </a:pPr>
            <a:r>
              <a:t>Operational Runbook: Execution Modes &amp; Incident Response</a:t>
            </a:r>
          </a:p>
        </p:txBody>
      </p:sp>
      <p:sp>
        <p:nvSpPr>
          <p:cNvPr id="5" name="Rectangle 4"/>
          <p:cNvSpPr/>
          <p:nvPr/>
        </p:nvSpPr>
        <p:spPr>
          <a:xfrm>
            <a:off x="731520" y="1234440"/>
            <a:ext cx="1069848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28416" cy="4023360"/>
          </a:xfrm>
          <a:prstGeom prst="roundRect">
            <a:avLst/>
          </a:prstGeom>
          <a:solidFill>
            <a:srgbClr val="FFFFFF"/>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6592" y="1837944"/>
            <a:ext cx="2950464" cy="2346796"/>
          </a:xfrm>
          <a:prstGeom prst="rect">
            <a:avLst/>
          </a:prstGeom>
          <a:noFill/>
        </p:spPr>
        <p:txBody>
          <a:bodyPr wrap="square" lIns="0" tIns="0" rIns="0" bIns="0">
            <a:spAutoFit/>
          </a:bodyPr>
          <a:lstStyle/>
          <a:p>
            <a:pPr>
              <a:spcAft>
                <a:spcPts val="800"/>
              </a:spcAft>
              <a:defRPr sz="1400" b="1">
                <a:solidFill>
                  <a:srgbClr val="0F2744"/>
                </a:solidFill>
              </a:defRPr>
            </a:pPr>
            <a:r>
              <a:rPr dirty="0"/>
              <a:t>1. Standard Execution</a:t>
            </a:r>
          </a:p>
          <a:p>
            <a:pPr>
              <a:spcAft>
                <a:spcPts val="600"/>
              </a:spcAft>
              <a:defRPr sz="900" b="1">
                <a:solidFill>
                  <a:srgbClr val="1B4965"/>
                </a:solidFill>
              </a:defRPr>
            </a:pPr>
            <a:r>
              <a:rPr dirty="0"/>
              <a:t>[STANDARD FLOW]</a:t>
            </a:r>
          </a:p>
          <a:p>
            <a:pPr>
              <a:spcAft>
                <a:spcPts val="400"/>
              </a:spcAft>
              <a:defRPr sz="1050">
                <a:solidFill>
                  <a:srgbClr val="1E293B"/>
                </a:solidFill>
              </a:defRPr>
            </a:pPr>
            <a:r>
              <a:rPr dirty="0"/>
              <a:t>•  Command:</a:t>
            </a:r>
          </a:p>
          <a:p>
            <a:pPr>
              <a:spcAft>
                <a:spcPts val="400"/>
              </a:spcAft>
              <a:defRPr sz="1050">
                <a:solidFill>
                  <a:srgbClr val="1E293B"/>
                </a:solidFill>
              </a:defRPr>
            </a:pPr>
            <a:r>
              <a:rPr dirty="0"/>
              <a:t>•    ./00_Run.sh -c prod-aro -t 4.14.22 -e prod</a:t>
            </a:r>
          </a:p>
          <a:p>
            <a:pPr>
              <a:spcAft>
                <a:spcPts val="400"/>
              </a:spcAft>
              <a:defRPr sz="1050">
                <a:solidFill>
                  <a:srgbClr val="1E293B"/>
                </a:solidFill>
              </a:defRPr>
            </a:pPr>
            <a:r>
              <a:rPr dirty="0"/>
              <a:t>•  Flags:</a:t>
            </a:r>
          </a:p>
          <a:p>
            <a:pPr>
              <a:spcAft>
                <a:spcPts val="400"/>
              </a:spcAft>
              <a:defRPr sz="1050">
                <a:solidFill>
                  <a:srgbClr val="1E293B"/>
                </a:solidFill>
              </a:defRPr>
            </a:pPr>
            <a:r>
              <a:rPr dirty="0"/>
              <a:t>•    -c &lt;</a:t>
            </a:r>
            <a:r>
              <a:rPr dirty="0" err="1"/>
              <a:t>cluster_name</a:t>
            </a:r>
            <a:r>
              <a:rPr dirty="0"/>
              <a:t>&gt; (required)</a:t>
            </a:r>
          </a:p>
          <a:p>
            <a:pPr>
              <a:spcAft>
                <a:spcPts val="400"/>
              </a:spcAft>
              <a:defRPr sz="1050">
                <a:solidFill>
                  <a:srgbClr val="1E293B"/>
                </a:solidFill>
              </a:defRPr>
            </a:pPr>
            <a:r>
              <a:rPr dirty="0"/>
              <a:t>•    -t &lt;</a:t>
            </a:r>
            <a:r>
              <a:rPr dirty="0" err="1"/>
              <a:t>target_version</a:t>
            </a:r>
            <a:r>
              <a:rPr dirty="0"/>
              <a:t>&gt; (required)</a:t>
            </a:r>
          </a:p>
          <a:p>
            <a:pPr>
              <a:spcAft>
                <a:spcPts val="400"/>
              </a:spcAft>
              <a:defRPr sz="1050">
                <a:solidFill>
                  <a:srgbClr val="1E293B"/>
                </a:solidFill>
              </a:defRPr>
            </a:pPr>
            <a:r>
              <a:rPr dirty="0"/>
              <a:t>•    -e &lt;environment&gt; (dev/stage/prod)</a:t>
            </a:r>
          </a:p>
          <a:p>
            <a:pPr>
              <a:spcAft>
                <a:spcPts val="400"/>
              </a:spcAft>
              <a:defRPr sz="1050">
                <a:solidFill>
                  <a:srgbClr val="1E293B"/>
                </a:solidFill>
              </a:defRPr>
            </a:pPr>
            <a:r>
              <a:rPr dirty="0"/>
              <a:t>•    --email &lt;recipients&gt; (optional)</a:t>
            </a:r>
          </a:p>
          <a:p>
            <a:pPr>
              <a:spcAft>
                <a:spcPts val="400"/>
              </a:spcAft>
              <a:defRPr sz="1050">
                <a:solidFill>
                  <a:srgbClr val="1E293B"/>
                </a:solidFill>
              </a:defRPr>
            </a:pPr>
            <a:r>
              <a:rPr dirty="0"/>
              <a:t>•  Behavior: Runs Phase 01 through Phase 06 completely hands-off.</a:t>
            </a:r>
          </a:p>
        </p:txBody>
      </p:sp>
      <p:sp>
        <p:nvSpPr>
          <p:cNvPr id="8" name="Rounded Rectangle 7"/>
          <p:cNvSpPr/>
          <p:nvPr/>
        </p:nvSpPr>
        <p:spPr>
          <a:xfrm>
            <a:off x="4425696" y="1463040"/>
            <a:ext cx="3328416" cy="402336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72584" y="1837944"/>
            <a:ext cx="2898648" cy="1921039"/>
          </a:xfrm>
          <a:prstGeom prst="rect">
            <a:avLst/>
          </a:prstGeom>
          <a:noFill/>
        </p:spPr>
        <p:txBody>
          <a:bodyPr wrap="square" lIns="0" tIns="0" rIns="0" bIns="0">
            <a:spAutoFit/>
          </a:bodyPr>
          <a:lstStyle/>
          <a:p>
            <a:pPr>
              <a:spcAft>
                <a:spcPts val="800"/>
              </a:spcAft>
              <a:defRPr sz="1400" b="1">
                <a:solidFill>
                  <a:srgbClr val="0F2744"/>
                </a:solidFill>
              </a:defRPr>
            </a:pPr>
            <a:r>
              <a:rPr dirty="0"/>
              <a:t>2. Dry-Run &amp; Pre-Check</a:t>
            </a:r>
          </a:p>
          <a:p>
            <a:pPr>
              <a:spcAft>
                <a:spcPts val="600"/>
              </a:spcAft>
              <a:defRPr sz="900" b="1">
                <a:solidFill>
                  <a:srgbClr val="1B4965"/>
                </a:solidFill>
              </a:defRPr>
            </a:pPr>
            <a:r>
              <a:rPr dirty="0"/>
              <a:t>[VALIDATION ONLY]</a:t>
            </a:r>
          </a:p>
          <a:p>
            <a:pPr>
              <a:spcAft>
                <a:spcPts val="400"/>
              </a:spcAft>
              <a:defRPr sz="1050">
                <a:solidFill>
                  <a:srgbClr val="1E293B"/>
                </a:solidFill>
              </a:defRPr>
            </a:pPr>
            <a:r>
              <a:rPr dirty="0"/>
              <a:t>•  Pre-Upgrade Validation Only:</a:t>
            </a:r>
          </a:p>
          <a:p>
            <a:pPr>
              <a:spcAft>
                <a:spcPts val="400"/>
              </a:spcAft>
              <a:defRPr sz="1050">
                <a:solidFill>
                  <a:srgbClr val="1E293B"/>
                </a:solidFill>
              </a:defRPr>
            </a:pPr>
            <a:r>
              <a:rPr dirty="0"/>
              <a:t>•    ./01_PreValidation.sh -c prod-aro</a:t>
            </a:r>
          </a:p>
          <a:p>
            <a:pPr>
              <a:spcAft>
                <a:spcPts val="400"/>
              </a:spcAft>
              <a:defRPr sz="1050">
                <a:solidFill>
                  <a:srgbClr val="1E293B"/>
                </a:solidFill>
              </a:defRPr>
            </a:pPr>
            <a:r>
              <a:rPr dirty="0"/>
              <a:t>•  Dry-Run Mode (No Cluster Mutation):</a:t>
            </a:r>
          </a:p>
          <a:p>
            <a:pPr>
              <a:spcAft>
                <a:spcPts val="400"/>
              </a:spcAft>
              <a:defRPr sz="1050">
                <a:solidFill>
                  <a:srgbClr val="1E293B"/>
                </a:solidFill>
              </a:defRPr>
            </a:pPr>
            <a:r>
              <a:rPr dirty="0"/>
              <a:t>•    ./00_Run.sh -c prod-aro -t 4.14.22 --dry-run</a:t>
            </a:r>
          </a:p>
          <a:p>
            <a:pPr>
              <a:spcAft>
                <a:spcPts val="400"/>
              </a:spcAft>
              <a:defRPr sz="1050">
                <a:solidFill>
                  <a:srgbClr val="1E293B"/>
                </a:solidFill>
              </a:defRPr>
            </a:pPr>
            <a:r>
              <a:rPr dirty="0"/>
              <a:t>•  Behavior:</a:t>
            </a:r>
          </a:p>
          <a:p>
            <a:pPr>
              <a:spcAft>
                <a:spcPts val="400"/>
              </a:spcAft>
              <a:defRPr sz="1050">
                <a:solidFill>
                  <a:srgbClr val="1E293B"/>
                </a:solidFill>
              </a:defRPr>
            </a:pPr>
            <a:r>
              <a:rPr dirty="0"/>
              <a:t>•    Evaluates all 15 checks and reports blockers without modifying cluster state.</a:t>
            </a:r>
          </a:p>
        </p:txBody>
      </p:sp>
      <p:sp>
        <p:nvSpPr>
          <p:cNvPr id="10" name="Rounded Rectangle 9"/>
          <p:cNvSpPr/>
          <p:nvPr/>
        </p:nvSpPr>
        <p:spPr>
          <a:xfrm>
            <a:off x="8119872" y="1463040"/>
            <a:ext cx="3328416"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6760" y="1837944"/>
            <a:ext cx="2898648" cy="2082621"/>
          </a:xfrm>
          <a:prstGeom prst="rect">
            <a:avLst/>
          </a:prstGeom>
          <a:noFill/>
        </p:spPr>
        <p:txBody>
          <a:bodyPr wrap="square" lIns="0" tIns="0" rIns="0" bIns="0">
            <a:spAutoFit/>
          </a:bodyPr>
          <a:lstStyle/>
          <a:p>
            <a:pPr>
              <a:spcAft>
                <a:spcPts val="800"/>
              </a:spcAft>
              <a:defRPr sz="1400" b="1">
                <a:solidFill>
                  <a:srgbClr val="0F2744"/>
                </a:solidFill>
              </a:defRPr>
            </a:pPr>
            <a:r>
              <a:rPr dirty="0"/>
              <a:t>3. Resume &amp; Emergency Stop</a:t>
            </a:r>
          </a:p>
          <a:p>
            <a:pPr>
              <a:spcAft>
                <a:spcPts val="600"/>
              </a:spcAft>
              <a:defRPr sz="900" b="1">
                <a:solidFill>
                  <a:srgbClr val="1B4965"/>
                </a:solidFill>
              </a:defRPr>
            </a:pPr>
            <a:r>
              <a:rPr dirty="0"/>
              <a:t>[EXCEPTION HANDLING]</a:t>
            </a:r>
          </a:p>
          <a:p>
            <a:pPr>
              <a:spcAft>
                <a:spcPts val="400"/>
              </a:spcAft>
              <a:defRPr sz="1050">
                <a:solidFill>
                  <a:srgbClr val="1E293B"/>
                </a:solidFill>
              </a:defRPr>
            </a:pPr>
            <a:r>
              <a:rPr dirty="0"/>
              <a:t>•  Resume from Specific Phase:</a:t>
            </a:r>
          </a:p>
          <a:p>
            <a:pPr>
              <a:spcAft>
                <a:spcPts val="400"/>
              </a:spcAft>
              <a:defRPr sz="1050">
                <a:solidFill>
                  <a:srgbClr val="1E293B"/>
                </a:solidFill>
              </a:defRPr>
            </a:pPr>
            <a:r>
              <a:rPr dirty="0"/>
              <a:t>•    ansible-playbook </a:t>
            </a:r>
            <a:r>
              <a:rPr dirty="0" err="1"/>
              <a:t>main.yml</a:t>
            </a:r>
            <a:r>
              <a:rPr dirty="0"/>
              <a:t> -e '</a:t>
            </a:r>
            <a:r>
              <a:rPr dirty="0" err="1"/>
              <a:t>skip_to_phase</a:t>
            </a:r>
            <a:r>
              <a:rPr dirty="0"/>
              <a:t>=phase_04'</a:t>
            </a:r>
          </a:p>
          <a:p>
            <a:pPr>
              <a:spcAft>
                <a:spcPts val="400"/>
              </a:spcAft>
              <a:defRPr sz="1050">
                <a:solidFill>
                  <a:srgbClr val="1E293B"/>
                </a:solidFill>
              </a:defRPr>
            </a:pPr>
            <a:r>
              <a:rPr dirty="0"/>
              <a:t>•  Halt After Specific Phase:</a:t>
            </a:r>
          </a:p>
          <a:p>
            <a:pPr>
              <a:spcAft>
                <a:spcPts val="400"/>
              </a:spcAft>
              <a:defRPr sz="1050">
                <a:solidFill>
                  <a:srgbClr val="1E293B"/>
                </a:solidFill>
              </a:defRPr>
            </a:pPr>
            <a:r>
              <a:rPr dirty="0"/>
              <a:t>•    ansible-playbook </a:t>
            </a:r>
            <a:r>
              <a:rPr dirty="0" err="1"/>
              <a:t>main.yml</a:t>
            </a:r>
            <a:r>
              <a:rPr dirty="0"/>
              <a:t> -e '</a:t>
            </a:r>
            <a:r>
              <a:rPr dirty="0" err="1"/>
              <a:t>stop_after_phase</a:t>
            </a:r>
            <a:r>
              <a:rPr dirty="0"/>
              <a:t>=phase_02'</a:t>
            </a:r>
          </a:p>
          <a:p>
            <a:pPr>
              <a:spcAft>
                <a:spcPts val="400"/>
              </a:spcAft>
              <a:defRPr sz="1050">
                <a:solidFill>
                  <a:srgbClr val="1E293B"/>
                </a:solidFill>
              </a:defRPr>
            </a:pPr>
            <a:r>
              <a:rPr dirty="0"/>
              <a:t>•  Emergency Abort &amp; Lock Release:</a:t>
            </a:r>
          </a:p>
          <a:p>
            <a:pPr>
              <a:spcAft>
                <a:spcPts val="400"/>
              </a:spcAft>
              <a:defRPr sz="1050">
                <a:solidFill>
                  <a:srgbClr val="1E293B"/>
                </a:solidFill>
              </a:defRPr>
            </a:pPr>
            <a:r>
              <a:rPr dirty="0"/>
              <a:t>•    ./06_Cleanup.sh --force</a:t>
            </a:r>
          </a:p>
        </p:txBody>
      </p:sp>
      <p:sp>
        <p:nvSpPr>
          <p:cNvPr id="12" name="Rectangle 11"/>
          <p:cNvSpPr/>
          <p:nvPr/>
        </p:nvSpPr>
        <p:spPr>
          <a:xfrm>
            <a:off x="731520" y="5669280"/>
            <a:ext cx="10716768" cy="7315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4A5568"/>
                </a:solidFill>
              </a:defRPr>
            </a:pPr>
            <a:r>
              <a:t>Operational Support: Real-time execution logs available in output/logs/upgrade_&lt;cluster&gt;_&lt;timestamp&gt;.log. Comprehensive audit trail captured in output/snapshots/.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716768" cy="1097280"/>
          </a:xfrm>
          <a:prstGeom prst="rect">
            <a:avLst/>
          </a:prstGeom>
          <a:noFill/>
        </p:spPr>
        <p:txBody>
          <a:bodyPr wrap="none">
            <a:spAutoFit/>
          </a:bodyPr>
          <a:lstStyle/>
          <a:p>
            <a:pPr>
              <a:defRPr sz="2800" b="1">
                <a:solidFill>
                  <a:srgbClr val="FFFFFF"/>
                </a:solidFill>
              </a:defRPr>
            </a:pPr>
            <a:r>
              <a:t>Conclusion, Implementation Roadmap &amp; Q&amp;A</a:t>
            </a:r>
          </a:p>
          <a:p>
            <a:pPr>
              <a:defRPr sz="1400">
                <a:solidFill>
                  <a:srgbClr val="D97706"/>
                </a:solidFill>
              </a:defRPr>
            </a:pPr>
            <a:r>
              <a:t>Strategic Next Steps for Production Rollout Across Enterprise ARO Fleets</a:t>
            </a:r>
          </a:p>
        </p:txBody>
      </p:sp>
      <p:sp>
        <p:nvSpPr>
          <p:cNvPr id="4" name="Rounded Rectangle 3"/>
          <p:cNvSpPr/>
          <p:nvPr/>
        </p:nvSpPr>
        <p:spPr>
          <a:xfrm>
            <a:off x="731520" y="1828800"/>
            <a:ext cx="3328416" cy="3474720"/>
          </a:xfrm>
          <a:prstGeom prst="roundRect">
            <a:avLst/>
          </a:prstGeom>
          <a:solidFill>
            <a:srgbClr val="183153"/>
          </a:solidFill>
          <a:ln w="12700">
            <a:solidFill>
              <a:srgbClr val="1B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965960"/>
            <a:ext cx="2962656" cy="1818447"/>
          </a:xfrm>
          <a:prstGeom prst="rect">
            <a:avLst/>
          </a:prstGeom>
          <a:noFill/>
        </p:spPr>
        <p:txBody>
          <a:bodyPr wrap="square" lIns="0" tIns="0" rIns="0" bIns="0">
            <a:spAutoFit/>
          </a:bodyPr>
          <a:lstStyle/>
          <a:p>
            <a:pPr>
              <a:spcAft>
                <a:spcPts val="800"/>
              </a:spcAft>
              <a:defRPr sz="1400" b="1">
                <a:solidFill>
                  <a:srgbClr val="0F2744"/>
                </a:solidFill>
              </a:defRPr>
            </a:pPr>
            <a:r>
              <a:rPr dirty="0">
                <a:solidFill>
                  <a:schemeClr val="bg1"/>
                </a:solidFill>
              </a:rPr>
              <a:t>1. Staging Pilot Soak Test</a:t>
            </a:r>
          </a:p>
          <a:p>
            <a:pPr>
              <a:spcAft>
                <a:spcPts val="600"/>
              </a:spcAft>
              <a:defRPr sz="900" b="1">
                <a:solidFill>
                  <a:srgbClr val="1B4965"/>
                </a:solidFill>
              </a:defRPr>
            </a:pPr>
            <a:r>
              <a:rPr dirty="0">
                <a:solidFill>
                  <a:schemeClr val="bg1"/>
                </a:solidFill>
              </a:rPr>
              <a:t>[</a:t>
            </a:r>
            <a:r>
              <a:rPr dirty="0">
                <a:solidFill>
                  <a:schemeClr val="tx2">
                    <a:lumMod val="60000"/>
                    <a:lumOff val="40000"/>
                  </a:schemeClr>
                </a:solidFill>
              </a:rPr>
              <a:t>PHASE 1]</a:t>
            </a:r>
          </a:p>
          <a:p>
            <a:pPr>
              <a:spcAft>
                <a:spcPts val="400"/>
              </a:spcAft>
              <a:defRPr sz="1050">
                <a:solidFill>
                  <a:srgbClr val="1E293B"/>
                </a:solidFill>
              </a:defRPr>
            </a:pPr>
            <a:r>
              <a:rPr dirty="0">
                <a:solidFill>
                  <a:schemeClr val="bg1"/>
                </a:solidFill>
              </a:rPr>
              <a:t>•  Execute end-to-end upgrade on non-production ARO staging cluster.</a:t>
            </a:r>
          </a:p>
          <a:p>
            <a:pPr>
              <a:spcAft>
                <a:spcPts val="400"/>
              </a:spcAft>
              <a:defRPr sz="1050">
                <a:solidFill>
                  <a:srgbClr val="1E293B"/>
                </a:solidFill>
              </a:defRPr>
            </a:pPr>
            <a:r>
              <a:rPr dirty="0">
                <a:solidFill>
                  <a:schemeClr val="bg1"/>
                </a:solidFill>
              </a:rPr>
              <a:t>•  Validate multi-hop traversal from 4.12 to 4.14 with active synthetic workloads.</a:t>
            </a:r>
          </a:p>
          <a:p>
            <a:pPr>
              <a:spcAft>
                <a:spcPts val="400"/>
              </a:spcAft>
              <a:defRPr sz="1050">
                <a:solidFill>
                  <a:srgbClr val="1E293B"/>
                </a:solidFill>
              </a:defRPr>
            </a:pPr>
            <a:r>
              <a:rPr dirty="0">
                <a:solidFill>
                  <a:schemeClr val="bg1"/>
                </a:solidFill>
              </a:rPr>
              <a:t>•  Verify SMTP report delivery and baseline snapshot drift analysis.</a:t>
            </a:r>
          </a:p>
          <a:p>
            <a:pPr>
              <a:spcAft>
                <a:spcPts val="400"/>
              </a:spcAft>
              <a:defRPr sz="1050">
                <a:solidFill>
                  <a:srgbClr val="1E293B"/>
                </a:solidFill>
              </a:defRPr>
            </a:pPr>
            <a:r>
              <a:rPr dirty="0">
                <a:solidFill>
                  <a:schemeClr val="bg1"/>
                </a:solidFill>
              </a:rPr>
              <a:t>•  Target Duration: 2-3 Days.</a:t>
            </a:r>
          </a:p>
        </p:txBody>
      </p:sp>
      <p:sp>
        <p:nvSpPr>
          <p:cNvPr id="6" name="Rounded Rectangle 5"/>
          <p:cNvSpPr/>
          <p:nvPr/>
        </p:nvSpPr>
        <p:spPr>
          <a:xfrm>
            <a:off x="4425696" y="1828800"/>
            <a:ext cx="3328416" cy="3474720"/>
          </a:xfrm>
          <a:prstGeom prst="roundRect">
            <a:avLst/>
          </a:prstGeom>
          <a:solidFill>
            <a:srgbClr val="183153"/>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08576" y="1965960"/>
            <a:ext cx="2962656" cy="1818447"/>
          </a:xfrm>
          <a:prstGeom prst="rect">
            <a:avLst/>
          </a:prstGeom>
          <a:noFill/>
        </p:spPr>
        <p:txBody>
          <a:bodyPr wrap="square" lIns="0" tIns="0" rIns="0" bIns="0">
            <a:spAutoFit/>
          </a:bodyPr>
          <a:lstStyle/>
          <a:p>
            <a:pPr>
              <a:spcAft>
                <a:spcPts val="800"/>
              </a:spcAft>
              <a:defRPr sz="1400" b="1">
                <a:solidFill>
                  <a:srgbClr val="0F2744"/>
                </a:solidFill>
              </a:defRPr>
            </a:pPr>
            <a:r>
              <a:rPr dirty="0">
                <a:solidFill>
                  <a:schemeClr val="bg1"/>
                </a:solidFill>
              </a:rPr>
              <a:t>2. SRE Operational Handover</a:t>
            </a:r>
          </a:p>
          <a:p>
            <a:pPr>
              <a:spcAft>
                <a:spcPts val="600"/>
              </a:spcAft>
              <a:defRPr sz="900" b="1">
                <a:solidFill>
                  <a:srgbClr val="1B4965"/>
                </a:solidFill>
              </a:defRPr>
            </a:pPr>
            <a:r>
              <a:rPr dirty="0">
                <a:solidFill>
                  <a:schemeClr val="bg1"/>
                </a:solidFill>
              </a:rPr>
              <a:t>[</a:t>
            </a:r>
            <a:r>
              <a:rPr dirty="0">
                <a:solidFill>
                  <a:schemeClr val="tx2">
                    <a:lumMod val="60000"/>
                    <a:lumOff val="40000"/>
                  </a:schemeClr>
                </a:solidFill>
              </a:rPr>
              <a:t>PHASE 2]</a:t>
            </a:r>
          </a:p>
          <a:p>
            <a:pPr>
              <a:spcAft>
                <a:spcPts val="400"/>
              </a:spcAft>
              <a:defRPr sz="1050">
                <a:solidFill>
                  <a:srgbClr val="1E293B"/>
                </a:solidFill>
              </a:defRPr>
            </a:pPr>
            <a:r>
              <a:rPr dirty="0">
                <a:solidFill>
                  <a:schemeClr val="bg1"/>
                </a:solidFill>
              </a:rPr>
              <a:t>•  Deliver operational runbook training for client platform engineering teams.</a:t>
            </a:r>
          </a:p>
          <a:p>
            <a:pPr>
              <a:spcAft>
                <a:spcPts val="400"/>
              </a:spcAft>
              <a:defRPr sz="1050">
                <a:solidFill>
                  <a:srgbClr val="1E293B"/>
                </a:solidFill>
              </a:defRPr>
            </a:pPr>
            <a:r>
              <a:rPr dirty="0">
                <a:solidFill>
                  <a:schemeClr val="bg1"/>
                </a:solidFill>
              </a:rPr>
              <a:t>•  Conduct simulated failure drills (e.g. cordoned nodes, stuck CSRs) to demonstrate auto-remediation.</a:t>
            </a:r>
          </a:p>
          <a:p>
            <a:pPr>
              <a:spcAft>
                <a:spcPts val="400"/>
              </a:spcAft>
              <a:defRPr sz="1050">
                <a:solidFill>
                  <a:srgbClr val="1E293B"/>
                </a:solidFill>
              </a:defRPr>
            </a:pPr>
            <a:r>
              <a:rPr dirty="0">
                <a:solidFill>
                  <a:schemeClr val="bg1"/>
                </a:solidFill>
              </a:rPr>
              <a:t>•  Establish change advisory board (CAB) standard operating procedures.</a:t>
            </a:r>
          </a:p>
          <a:p>
            <a:pPr>
              <a:spcAft>
                <a:spcPts val="400"/>
              </a:spcAft>
              <a:defRPr sz="1050">
                <a:solidFill>
                  <a:srgbClr val="1E293B"/>
                </a:solidFill>
              </a:defRPr>
            </a:pPr>
            <a:r>
              <a:rPr dirty="0">
                <a:solidFill>
                  <a:schemeClr val="bg1"/>
                </a:solidFill>
              </a:rPr>
              <a:t>•  Target Duration: 1 Week.</a:t>
            </a:r>
          </a:p>
        </p:txBody>
      </p:sp>
      <p:sp>
        <p:nvSpPr>
          <p:cNvPr id="8" name="Rounded Rectangle 7"/>
          <p:cNvSpPr/>
          <p:nvPr/>
        </p:nvSpPr>
        <p:spPr>
          <a:xfrm>
            <a:off x="8119872" y="1828800"/>
            <a:ext cx="3328416" cy="3474720"/>
          </a:xfrm>
          <a:prstGeom prst="roundRect">
            <a:avLst/>
          </a:prstGeom>
          <a:solidFill>
            <a:srgbClr val="183153"/>
          </a:solidFill>
          <a:ln w="127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02752" y="1965960"/>
            <a:ext cx="2962656" cy="1818447"/>
          </a:xfrm>
          <a:prstGeom prst="rect">
            <a:avLst/>
          </a:prstGeom>
          <a:noFill/>
        </p:spPr>
        <p:txBody>
          <a:bodyPr wrap="square" lIns="0" tIns="0" rIns="0" bIns="0">
            <a:spAutoFit/>
          </a:bodyPr>
          <a:lstStyle/>
          <a:p>
            <a:pPr>
              <a:spcAft>
                <a:spcPts val="800"/>
              </a:spcAft>
              <a:defRPr sz="1400" b="1">
                <a:solidFill>
                  <a:srgbClr val="0F2744"/>
                </a:solidFill>
              </a:defRPr>
            </a:pPr>
            <a:r>
              <a:rPr dirty="0">
                <a:solidFill>
                  <a:schemeClr val="bg1"/>
                </a:solidFill>
              </a:rPr>
              <a:t>3. Production Fleet Rollout</a:t>
            </a:r>
          </a:p>
          <a:p>
            <a:pPr>
              <a:spcAft>
                <a:spcPts val="600"/>
              </a:spcAft>
              <a:defRPr sz="900" b="1">
                <a:solidFill>
                  <a:srgbClr val="1B4965"/>
                </a:solidFill>
              </a:defRPr>
            </a:pPr>
            <a:r>
              <a:rPr dirty="0">
                <a:solidFill>
                  <a:schemeClr val="tx2">
                    <a:lumMod val="60000"/>
                    <a:lumOff val="40000"/>
                  </a:schemeClr>
                </a:solidFill>
              </a:rPr>
              <a:t>[PHASE 3]</a:t>
            </a:r>
          </a:p>
          <a:p>
            <a:pPr>
              <a:spcAft>
                <a:spcPts val="400"/>
              </a:spcAft>
              <a:defRPr sz="1050">
                <a:solidFill>
                  <a:srgbClr val="1E293B"/>
                </a:solidFill>
              </a:defRPr>
            </a:pPr>
            <a:r>
              <a:rPr dirty="0">
                <a:solidFill>
                  <a:schemeClr val="bg1"/>
                </a:solidFill>
              </a:rPr>
              <a:t>•  Schedule automated off-hours maintenance windows for production clusters.</a:t>
            </a:r>
          </a:p>
          <a:p>
            <a:pPr>
              <a:spcAft>
                <a:spcPts val="400"/>
              </a:spcAft>
              <a:defRPr sz="1050">
                <a:solidFill>
                  <a:srgbClr val="1E293B"/>
                </a:solidFill>
              </a:defRPr>
            </a:pPr>
            <a:r>
              <a:rPr dirty="0">
                <a:solidFill>
                  <a:schemeClr val="bg1"/>
                </a:solidFill>
              </a:rPr>
              <a:t>•  Execute one-touch upgrades with hands-off monitoring and automated settle gates.</a:t>
            </a:r>
          </a:p>
          <a:p>
            <a:pPr>
              <a:spcAft>
                <a:spcPts val="400"/>
              </a:spcAft>
              <a:defRPr sz="1050">
                <a:solidFill>
                  <a:srgbClr val="1E293B"/>
                </a:solidFill>
              </a:defRPr>
            </a:pPr>
            <a:r>
              <a:rPr dirty="0">
                <a:solidFill>
                  <a:schemeClr val="bg1"/>
                </a:solidFill>
              </a:rPr>
              <a:t>•  Achieve uniform 4.14+ platform baseline across all corporate ARO clusters.</a:t>
            </a:r>
          </a:p>
          <a:p>
            <a:pPr>
              <a:spcAft>
                <a:spcPts val="400"/>
              </a:spcAft>
              <a:defRPr sz="1050">
                <a:solidFill>
                  <a:srgbClr val="1E293B"/>
                </a:solidFill>
              </a:defRPr>
            </a:pPr>
            <a:r>
              <a:rPr dirty="0">
                <a:solidFill>
                  <a:schemeClr val="bg1"/>
                </a:solidFill>
              </a:rPr>
              <a:t>•  Ongoing: Day-2 operator synchronization.</a:t>
            </a:r>
          </a:p>
        </p:txBody>
      </p:sp>
      <p:sp>
        <p:nvSpPr>
          <p:cNvPr id="10" name="Rectangle 9"/>
          <p:cNvSpPr/>
          <p:nvPr/>
        </p:nvSpPr>
        <p:spPr>
          <a:xfrm>
            <a:off x="731520" y="5577840"/>
            <a:ext cx="10716768" cy="777240"/>
          </a:xfrm>
          <a:prstGeom prst="rect">
            <a:avLst/>
          </a:prstGeom>
          <a:solidFill>
            <a:srgbClr val="1E4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Open for Technical Questions &amp; Architecture Alignment</a:t>
            </a:r>
          </a:p>
          <a:p>
            <a:pPr algn="ctr">
              <a:defRPr sz="1050">
                <a:solidFill>
                  <a:srgbClr val="CBD5E1"/>
                </a:solidFill>
              </a:defRPr>
            </a:pPr>
            <a:r>
              <a:t>Documentation Deliverables: Word Specification (.docx) • Executive Deck (.pptx) • 18 Architecture Diagrams (.png)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6</TotalTime>
  <Words>7595</Words>
  <Application>Microsoft Office PowerPoint</Application>
  <PresentationFormat>Widescreen</PresentationFormat>
  <Paragraphs>529</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Kispotta, Ravikant</cp:lastModifiedBy>
  <cp:revision>4</cp:revision>
  <dcterms:created xsi:type="dcterms:W3CDTF">2013-01-27T09:14:16Z</dcterms:created>
  <dcterms:modified xsi:type="dcterms:W3CDTF">2026-09-08T22:14:31Z</dcterms:modified>
  <cp:category/>
</cp:coreProperties>
</file>