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5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Documentation.md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Documentation.md, sections 1, 3, 4.14 and 5.1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Documentation.md, sections 1, 2 and 4.14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workflow image: cluster_upgrade_phases_minimal.jpg
User-provided Documentation.md, phase descriptions 01 through 06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Documentation.md, Units 06, 07, 08a, 09 and section 5.1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Documentation.md, Units 10 and 11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Documentation.md, Units 12 and 13, sections 4.8 through 4.11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Documentation.md, Verification &amp; Testing, Unit 17 and section 5 Next Steps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2316-773B-1C72-4E0A-C5ADDB796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D85D0-8476-9AA9-8500-89608EF8F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AF388-2C98-6169-BC2B-73678AC7A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User-provided Documentation.md, Verification &amp; Testing, Unit 17 and section 5 Next Steps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92D07-4F44-3D8D-2007-BB05F9C5C0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2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288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ARO Cluster Upgrade Automation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875520" y="652881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274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OVERVIEW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109728"/>
            <a:ext cx="4069080" cy="6382512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ARO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CLUSTER UPGRADE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AUTOMATION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21792" y="297180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8E6"/>
                </a:solidFill>
              </a:rPr>
              <a:t>Deterministic, guarded and auditable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9D8E6"/>
                </a:solidFill>
              </a:rPr>
              <a:t>OpenShift upgrade orchestration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" y="4069080"/>
            <a:ext cx="1572768" cy="320040"/>
          </a:xfrm>
          <a:prstGeom prst="roundRect">
            <a:avLst>
              <a:gd name="adj" fmla="val 2285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94944" y="4133088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ANSIBLE AUTOMATED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" y="4507992"/>
            <a:ext cx="1572768" cy="320040"/>
          </a:xfrm>
          <a:prstGeom prst="roundRect">
            <a:avLst>
              <a:gd name="adj" fmla="val 22857"/>
            </a:avLst>
          </a:prstGeom>
          <a:solidFill>
            <a:srgbClr val="1379B8"/>
          </a:solidFill>
          <a:ln w="12700">
            <a:solidFill>
              <a:srgbClr val="137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94944" y="4572000"/>
            <a:ext cx="14264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ONE-TOUCH FLOW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17720" y="10972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033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45152" y="1755648"/>
            <a:ext cx="6355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2748A"/>
                </a:solidFill>
              </a:rPr>
              <a:t>Sequential Y-stream upgrades with policy gates, live monitoring, validation, reporting and guaranteed session teardown.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645152" y="3017520"/>
            <a:ext cx="6217920" cy="1"/>
          </a:xfrm>
          <a:prstGeom prst="line">
            <a:avLst/>
          </a:prstGeom>
          <a:noFill/>
          <a:ln w="25400">
            <a:solidFill>
              <a:srgbClr val="137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45152" y="3364992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9050" dist="762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45152" y="3364992"/>
            <a:ext cx="73152" cy="1115568"/>
          </a:xfrm>
          <a:prstGeom prst="rect">
            <a:avLst/>
          </a:prstGeom>
          <a:solidFill>
            <a:srgbClr val="1379B8"/>
          </a:solidFill>
          <a:ln w="12700">
            <a:solidFill>
              <a:srgbClr val="137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5295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79B8"/>
                </a:solidFill>
              </a:rPr>
              <a:t>6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4846320" y="4023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Lifecycle phases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20840" y="3364992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9050" dist="762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720840" y="3364992"/>
            <a:ext cx="73152" cy="11155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22008" y="35295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A9D8F"/>
                </a:solidFill>
              </a:rPr>
              <a:t>15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6922008" y="4023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Pre-upgrade checks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96528" y="3364992"/>
            <a:ext cx="18745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9050" dist="762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796528" y="3364992"/>
            <a:ext cx="73152" cy="1115568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97696" y="35295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A23B"/>
                </a:solidFill>
              </a:rPr>
              <a:t>10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8997696" y="4023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Post-upgrade checks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63440" y="50292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4A"/>
                </a:solidFill>
              </a:rPr>
              <a:t>Designed for Ansible 2.7.17 and 2.14.18</a:t>
            </a:r>
            <a:endParaRPr lang="en-US" sz="13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9E073BE4-4AB4-CB71-4599-F1A2E601E9AE}"/>
              </a:ext>
            </a:extLst>
          </p:cNvPr>
          <p:cNvSpPr/>
          <p:nvPr/>
        </p:nvSpPr>
        <p:spPr>
          <a:xfrm>
            <a:off x="5733288" y="6216193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 err="1">
                <a:solidFill>
                  <a:srgbClr val="0B2A4A"/>
                </a:solidFill>
              </a:rPr>
              <a:t>Msp-Openshit_Ops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What the automation delivers and why it matters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206654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9050" dist="762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73152" cy="1115568"/>
          </a:xfrm>
          <a:prstGeom prst="rect">
            <a:avLst/>
          </a:prstGeom>
          <a:solidFill>
            <a:srgbClr val="1379B8"/>
          </a:solidFill>
          <a:ln w="12700">
            <a:solidFill>
              <a:srgbClr val="137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8096" y="146304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79B8"/>
                </a:solidFill>
              </a:rPr>
              <a:t>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68096" y="1956816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Authenticated session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0" y="1298448"/>
            <a:ext cx="206654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9050" dist="762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0" y="1298448"/>
            <a:ext cx="73152" cy="11155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44368" y="146304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A9D8F"/>
                </a:solidFill>
              </a:rPr>
              <a:t>3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2944368" y="1956816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Auto-remediation tiers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19472" y="1298448"/>
            <a:ext cx="206654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9050" dist="762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919472" y="1298448"/>
            <a:ext cx="73152" cy="1115568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146304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9A23B"/>
                </a:solidFill>
              </a:rPr>
              <a:t>24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5120640" y="1956816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Single-purpose roles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95744" y="1298448"/>
            <a:ext cx="206654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9050" dist="762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95744" y="1298448"/>
            <a:ext cx="73152" cy="1115568"/>
          </a:xfrm>
          <a:prstGeom prst="rect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96912" y="146304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B2A4A"/>
                </a:solidFill>
              </a:rPr>
              <a:t>31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7296912" y="1956816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Cross-phase facts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72016" y="1298448"/>
            <a:ext cx="2066544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9050" dist="7620" dir="27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272016" y="1298448"/>
            <a:ext cx="73152" cy="1115568"/>
          </a:xfrm>
          <a:prstGeom prst="rect">
            <a:avLst/>
          </a:prstGeom>
          <a:solidFill>
            <a:srgbClr val="267A57"/>
          </a:solidFill>
          <a:ln w="12700">
            <a:solidFill>
              <a:srgbClr val="267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73184" y="1463040"/>
            <a:ext cx="1746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67A57"/>
                </a:solidFill>
              </a:rPr>
              <a:t>4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473184" y="1956816"/>
            <a:ext cx="1746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2748A"/>
                </a:solidFill>
              </a:rPr>
              <a:t>Final audit artifacts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033"/>
                </a:solidFill>
              </a:rPr>
              <a:t>Business outcome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21792" y="3310128"/>
            <a:ext cx="484632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033"/>
                </a:solidFill>
              </a:rPr>
              <a:t>Reduces manual handoffs across the upgrade lifecycle</a:t>
            </a:r>
            <a:br>
              <a:rPr lang="en-US" sz="1600" dirty="0">
                <a:solidFill>
                  <a:srgbClr val="142033"/>
                </a:solidFill>
              </a:rPr>
            </a:b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033"/>
                </a:solidFill>
              </a:rPr>
              <a:t>Blocks unsafe mutations before upgrade initiation</a:t>
            </a:r>
            <a:br>
              <a:rPr lang="en-US" sz="1600" dirty="0">
                <a:solidFill>
                  <a:srgbClr val="142033"/>
                </a:solidFill>
              </a:rPr>
            </a:b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033"/>
                </a:solidFill>
              </a:rPr>
              <a:t>Provides traceable evidence for governance and handover</a:t>
            </a:r>
            <a:br>
              <a:rPr lang="en-US" sz="1600" dirty="0">
                <a:solidFill>
                  <a:srgbClr val="142033"/>
                </a:solidFill>
              </a:rPr>
            </a:br>
            <a:endParaRPr lang="en-US" sz="1600" dirty="0">
              <a:solidFill>
                <a:srgbClr val="142033"/>
              </a:solidFill>
            </a:endParaRPr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033"/>
                </a:solidFill>
              </a:rPr>
              <a:t>Reduces Human Intervention/ Errors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80760" y="2880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033"/>
                </a:solidFill>
              </a:rPr>
              <a:t>Engineering outcome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108192" y="3310128"/>
            <a:ext cx="4983480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033"/>
                </a:solidFill>
              </a:rPr>
              <a:t>Explicit Ansible conditions and oc CLI verification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033"/>
                </a:solidFill>
              </a:rPr>
              <a:t>Dual-version codebase with isolated kubeconfig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42033"/>
                </a:solidFill>
              </a:rPr>
              <a:t>Structured logs, snapshots, HTML reports and email alerts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and control boundaries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A four-tier model keeps orchestration deterministic and responsibilities separated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261872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408176"/>
            <a:ext cx="530352" cy="530352"/>
          </a:xfrm>
          <a:prstGeom prst="ellipse">
            <a:avLst/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545336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645920" y="140817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033"/>
                </a:solidFill>
              </a:rPr>
              <a:t>Operational entry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931920" y="141732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748A"/>
                </a:solidFill>
              </a:rPr>
              <a:t>00_Run.sh validates inputs, dependencies, locks and run mode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rot="5400000">
            <a:off x="5715000" y="2130552"/>
            <a:ext cx="502920" cy="228600"/>
          </a:xfrm>
          <a:prstGeom prst="chevron">
            <a:avLst/>
          </a:prstGeom>
          <a:solidFill>
            <a:srgbClr val="ABC0D2"/>
          </a:solidFill>
          <a:ln w="12700">
            <a:solidFill>
              <a:srgbClr val="ABC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5800" y="2432304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96112" y="2578608"/>
            <a:ext cx="530352" cy="530352"/>
          </a:xfrm>
          <a:prstGeom prst="ellipse">
            <a:avLst/>
          </a:prstGeom>
          <a:solidFill>
            <a:srgbClr val="1379B8"/>
          </a:solidFill>
          <a:ln w="12700">
            <a:solidFill>
              <a:srgbClr val="137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7157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5786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033"/>
                </a:solidFill>
              </a:rPr>
              <a:t>Phase orchestration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31920" y="2587752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748A"/>
                </a:solidFill>
              </a:rPr>
              <a:t>main.yml coordinates policy, validation, hops, post-checks and OLM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715000" y="3300984"/>
            <a:ext cx="502920" cy="228600"/>
          </a:xfrm>
          <a:prstGeom prst="chevron">
            <a:avLst/>
          </a:prstGeom>
          <a:solidFill>
            <a:srgbClr val="ABC0D2"/>
          </a:solidFill>
          <a:ln w="12700">
            <a:solidFill>
              <a:srgbClr val="ABC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602736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96112" y="3749040"/>
            <a:ext cx="530352" cy="53035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388620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5920" y="37490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033"/>
                </a:solidFill>
              </a:rPr>
              <a:t>Reusable automation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931920" y="3758184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748A"/>
                </a:solidFill>
              </a:rPr>
              <a:t>24 roles isolate health, remediation, upgrade, monitoring and reporting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 rot="5400000">
            <a:off x="5715000" y="4471416"/>
            <a:ext cx="502920" cy="228600"/>
          </a:xfrm>
          <a:prstGeom prst="chevron">
            <a:avLst/>
          </a:prstGeom>
          <a:solidFill>
            <a:srgbClr val="ABC0D2"/>
          </a:solidFill>
          <a:ln w="12700">
            <a:solidFill>
              <a:srgbClr val="ABC0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5800" y="4773168"/>
            <a:ext cx="107442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96112" y="4919472"/>
            <a:ext cx="530352" cy="53035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60120" y="5056632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0" y="49194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033"/>
                </a:solidFill>
              </a:rPr>
              <a:t>Cluster APIs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931920" y="4928616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2748A"/>
                </a:solidFill>
              </a:rPr>
              <a:t>CVO, MCO, OLM and Kubernetes APIs expose verifiable state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606247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B4B"/>
                </a:solidFill>
              </a:rPr>
              <a:t>Control boundary: cluster mutations are permitted only after policy and prevalidation gates pass.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4EF7AA-8F02-C69D-C081-03561AF6E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9687"/>
            <a:ext cx="12192000" cy="6385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gates before cluster mutation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Policy validation, 15 health checks and bounded remediation protect the change window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364992" cy="4434840"/>
          </a:xfrm>
          <a:prstGeom prst="roundRect">
            <a:avLst>
              <a:gd name="adj" fmla="val 163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536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A4A"/>
                </a:solidFill>
              </a:rPr>
              <a:t>POLICY CHECK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96112" y="2057400"/>
            <a:ext cx="2697480" cy="2331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42033"/>
                </a:solidFill>
              </a:rPr>
              <a:t>Authenticate once using an isolated kubeconfig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42033"/>
                </a:solidFill>
              </a:rPr>
              <a:t>Capture baseline nodes, operators and routes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42033"/>
                </a:solidFill>
              </a:rPr>
              <a:t>Verify the next update edge before writes</a:t>
            </a:r>
            <a:endParaRPr lang="en-US" sz="1450" dirty="0"/>
          </a:p>
          <a:p>
            <a:pPr marL="203200" indent="-203200">
              <a:buSzPct val="100000"/>
              <a:buChar char="•"/>
            </a:pPr>
            <a:r>
              <a:rPr lang="en-US" sz="1450" dirty="0">
                <a:solidFill>
                  <a:srgbClr val="142033"/>
                </a:solidFill>
              </a:rPr>
              <a:t>Reject malformed inputs and wrong API context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187952" y="1234440"/>
            <a:ext cx="3749040" cy="443484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80560" y="15361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379B8"/>
                </a:solidFill>
              </a:rPr>
              <a:t>15-CHECK PREVALIDATION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480560" y="2057400"/>
            <a:ext cx="3108960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142033"/>
                </a:solidFill>
              </a:rPr>
              <a:t>8 core HARD gates: API, etcd, CO, MCP, node, capacity, admin-acks and OLM compatibility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142033"/>
                </a:solidFill>
              </a:rPr>
              <a:t>WARN advisories for CSR, storage, PDB and critical pods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142033"/>
                </a:solidFill>
              </a:rPr>
              <a:t>CGroup compatibility assessed by target version and policy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8165592" y="1234440"/>
            <a:ext cx="3429000" cy="443484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58200" y="1536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9D8F"/>
                </a:solidFill>
              </a:rPr>
              <a:t>AUTO-REMEDIATION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458200" y="2057400"/>
            <a:ext cx="2743200" cy="2880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142033"/>
                </a:solidFill>
              </a:rPr>
              <a:t>Detect, authorize, apply, re-query and record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142033"/>
                </a:solidFill>
              </a:rPr>
              <a:t>Tier 1: admin-acks, MCP unpause and cgroup controls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142033"/>
                </a:solidFill>
              </a:rPr>
              <a:t>Tier 2: operator restart and stalled-node recovery require opt-in</a:t>
            </a:r>
            <a:endParaRPr lang="en-US" sz="1420" dirty="0"/>
          </a:p>
          <a:p>
            <a:pPr marL="203200" indent="-203200">
              <a:buSzPct val="100000"/>
              <a:buChar char="•"/>
            </a:pPr>
            <a:r>
              <a:rPr lang="en-US" sz="1420" dirty="0">
                <a:solidFill>
                  <a:srgbClr val="142033"/>
                </a:solidFill>
              </a:rPr>
              <a:t>Residual HARD failures stop the workflow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4526280" y="5074920"/>
            <a:ext cx="3063240" cy="320040"/>
          </a:xfrm>
          <a:prstGeom prst="roundRect">
            <a:avLst>
              <a:gd name="adj" fmla="val 22857"/>
            </a:avLst>
          </a:prstGeom>
          <a:solidFill>
            <a:srgbClr val="267A57"/>
          </a:solidFill>
          <a:ln w="12700">
            <a:solidFill>
              <a:srgbClr val="267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99432" y="5138928"/>
            <a:ext cx="2916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 RESIDUAL HARD FAILURE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Sequential upgrade hops and live monitoring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Each target version is triggered, observed and settled before the next hop begins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1243584" y="1325880"/>
            <a:ext cx="676656" cy="676656"/>
          </a:xfrm>
          <a:prstGeom prst="ellipse">
            <a:avLst/>
          </a:prstGeom>
          <a:solidFill>
            <a:srgbClr val="1379B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444752" y="1527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20240" y="1664208"/>
            <a:ext cx="932688" cy="1"/>
          </a:xfrm>
          <a:prstGeom prst="line">
            <a:avLst/>
          </a:prstGeom>
          <a:noFill/>
          <a:ln w="25400">
            <a:solidFill>
              <a:srgbClr val="9CB1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226771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033"/>
                </a:solidFill>
              </a:rPr>
              <a:t>Pre-hop settle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901952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2748A"/>
                </a:solidFill>
              </a:rPr>
              <a:t>No active progression, degraded MCP or degraded operator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529584" y="1325880"/>
            <a:ext cx="676656" cy="676656"/>
          </a:xfrm>
          <a:prstGeom prst="ellipse">
            <a:avLst/>
          </a:prstGeom>
          <a:solidFill>
            <a:srgbClr val="1379B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30752" y="1527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1664208"/>
            <a:ext cx="932688" cy="1"/>
          </a:xfrm>
          <a:prstGeom prst="line">
            <a:avLst/>
          </a:prstGeom>
          <a:noFill/>
          <a:ln w="25400">
            <a:solidFill>
              <a:srgbClr val="9CB1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52928" y="226771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033"/>
                </a:solidFill>
              </a:rPr>
              <a:t>Guarded trigger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2788920"/>
            <a:ext cx="1901952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2748A"/>
                </a:solidFill>
              </a:rPr>
              <a:t>Channel and update edge re-verified; force path disabled by default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5815584" y="1325880"/>
            <a:ext cx="676656" cy="676656"/>
          </a:xfrm>
          <a:prstGeom prst="ellipse">
            <a:avLst/>
          </a:prstGeom>
          <a:solidFill>
            <a:srgbClr val="2A9D8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6752" y="1527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1664208"/>
            <a:ext cx="932688" cy="1"/>
          </a:xfrm>
          <a:prstGeom prst="line">
            <a:avLst/>
          </a:prstGeom>
          <a:noFill/>
          <a:ln w="25400">
            <a:solidFill>
              <a:srgbClr val="9CB1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38928" y="226771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033"/>
                </a:solidFill>
              </a:rPr>
              <a:t>2-minute polling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2788920"/>
            <a:ext cx="1901952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2748A"/>
                </a:solidFill>
              </a:rPr>
              <a:t>ClusterVersion, MCPs, nodes and operators tracked inline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8101584" y="1325880"/>
            <a:ext cx="676656" cy="676656"/>
          </a:xfrm>
          <a:prstGeom prst="ellipse">
            <a:avLst/>
          </a:prstGeom>
          <a:solidFill>
            <a:srgbClr val="1379B8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02752" y="1527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778240" y="1664208"/>
            <a:ext cx="932688" cy="1"/>
          </a:xfrm>
          <a:prstGeom prst="line">
            <a:avLst/>
          </a:prstGeom>
          <a:noFill/>
          <a:ln w="25400">
            <a:solidFill>
              <a:srgbClr val="9CB1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24928" y="226771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033"/>
                </a:solidFill>
              </a:rPr>
              <a:t>Event notification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0" y="2788920"/>
            <a:ext cx="1901952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2748A"/>
                </a:solidFill>
              </a:rPr>
              <a:t>State changes send immediate updates; heartbeat every 20 minutes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10387584" y="1325880"/>
            <a:ext cx="676656" cy="676656"/>
          </a:xfrm>
          <a:prstGeom prst="ellipse">
            <a:avLst/>
          </a:prstGeom>
          <a:solidFill>
            <a:srgbClr val="267A5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588752" y="15270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710928" y="2267712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033"/>
                </a:solidFill>
              </a:rPr>
              <a:t>Settle gate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784080" y="2788920"/>
            <a:ext cx="1901952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30" dirty="0">
                <a:solidFill>
                  <a:srgbClr val="62748A"/>
                </a:solidFill>
              </a:rPr>
              <a:t>CV complete, CO healthy and every MCP fully updated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960120" y="4343400"/>
            <a:ext cx="10241280" cy="1188720"/>
          </a:xfrm>
          <a:prstGeom prst="roundRect">
            <a:avLst>
              <a:gd name="adj" fmla="val 6154"/>
            </a:avLst>
          </a:prstGeom>
          <a:solidFill>
            <a:srgbClr val="E9F3F1"/>
          </a:solidFill>
          <a:ln w="12700">
            <a:solidFill>
              <a:srgbClr val="B7D8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280160" y="46177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8F"/>
                </a:solidFill>
              </a:rPr>
              <a:t>Hop settlement equation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337560" y="459943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033"/>
                </a:solidFill>
              </a:rPr>
              <a:t>ClusterVersion settled  AND  all ClusterOperators healthy  AND  all MachineConfigPools updated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Validation, operator lifecycle and closeout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The workflow verifies technical health, configuration parity and OLM readiness before teardown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3401568" cy="388620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353312"/>
            <a:ext cx="3401568" cy="137160"/>
          </a:xfrm>
          <a:prstGeom prst="rect">
            <a:avLst/>
          </a:prstGeom>
          <a:solidFill>
            <a:srgbClr val="1379B8"/>
          </a:solidFill>
          <a:ln w="12700">
            <a:solidFill>
              <a:srgbClr val="137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78408" y="1719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79B8"/>
                </a:solidFill>
              </a:rPr>
              <a:t>POST-UPGRADE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78408" y="21762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2033"/>
                </a:solidFill>
              </a:rPr>
              <a:t>10 checks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1161288" y="2788920"/>
            <a:ext cx="2377440" cy="1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2416" y="3090672"/>
            <a:ext cx="263347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748A"/>
                </a:solidFill>
              </a:rPr>
              <a:t>Final version, operators, MCPs, nodes, etcd, storage, core pods, alerts and baseline diff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62272" y="1353312"/>
            <a:ext cx="3401568" cy="388620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62272" y="1353312"/>
            <a:ext cx="3401568" cy="13716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82312" y="1719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A23B"/>
                </a:solidFill>
              </a:rPr>
              <a:t>OLM OPERATORS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82312" y="21762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2033"/>
                </a:solidFill>
              </a:rPr>
              <a:t>Compatibility + validation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4965192" y="2788920"/>
            <a:ext cx="2377440" cy="1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090672"/>
            <a:ext cx="263347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748A"/>
                </a:solidFill>
              </a:rPr>
              <a:t>Subscription channels, InstallPlan approvals, CSV rollout and validation-only bypass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66176" y="1353312"/>
            <a:ext cx="3401568" cy="388620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D7E1EA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66176" y="1353312"/>
            <a:ext cx="3401568" cy="137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86216" y="17190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A9D8F"/>
                </a:solidFill>
              </a:rPr>
              <a:t>AUDIT CLOSEOUT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86216" y="217627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42033"/>
                </a:solidFill>
              </a:rPr>
              <a:t>4 attachments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8769096" y="2788920"/>
            <a:ext cx="2377440" cy="1"/>
          </a:xfrm>
          <a:prstGeom prst="line">
            <a:avLst/>
          </a:prstGeom>
          <a:noFill/>
          <a:ln w="1270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50224" y="3090672"/>
            <a:ext cx="263347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2748A"/>
                </a:solidFill>
              </a:rPr>
              <a:t>Prevalidation, postvalidation, operator health report and complete run log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43400" y="5559552"/>
            <a:ext cx="3529584" cy="320040"/>
          </a:xfrm>
          <a:prstGeom prst="roundRect">
            <a:avLst>
              <a:gd name="adj" fmla="val 22857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16552" y="5623560"/>
            <a:ext cx="3383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LOGOUT + TOKEN REVOCATION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assurance and 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3210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48A"/>
                </a:solidFill>
              </a:rPr>
              <a:t>Production readiness is supported by compatibility, observability and governance controls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1280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033"/>
                </a:solidFill>
              </a:rPr>
              <a:t>Assurance already built in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4663440" cy="3337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42033"/>
                </a:solidFill>
              </a:rPr>
              <a:t>Dual-version Ansible compatibility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42033"/>
                </a:solidFill>
              </a:rPr>
              <a:t>jq 1.5-safe parsing and boolean normalization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42033"/>
                </a:solidFill>
              </a:rPr>
              <a:t>Concurrency lock and deterministic exit codes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42033"/>
                </a:solidFill>
              </a:rPr>
              <a:t>Block/rescue/always error handling</a:t>
            </a:r>
            <a:endParaRPr lang="en-US" sz="1550" dirty="0"/>
          </a:p>
          <a:p>
            <a:pPr marL="203200" indent="-203200">
              <a:buSzPct val="100000"/>
              <a:buChar char="•"/>
            </a:pPr>
            <a:r>
              <a:rPr lang="en-US" sz="1550" dirty="0">
                <a:solidFill>
                  <a:srgbClr val="142033"/>
                </a:solidFill>
              </a:rPr>
              <a:t>HTML reports, dual logs and email routing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852160" y="1353312"/>
            <a:ext cx="1" cy="4251960"/>
          </a:xfrm>
          <a:prstGeom prst="line">
            <a:avLst/>
          </a:prstGeom>
          <a:noFill/>
          <a:ln w="19050">
            <a:solidFill>
              <a:srgbClr val="D7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42033"/>
                </a:solidFill>
              </a:rPr>
              <a:t>Recommended production path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1379B8"/>
          </a:solidFill>
          <a:ln w="12700">
            <a:solidFill>
              <a:srgbClr val="137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19672" y="2039112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59752" y="196596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42033"/>
                </a:solidFill>
              </a:rPr>
              <a:t>Non-production soak testing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46520" y="2715768"/>
            <a:ext cx="502920" cy="502920"/>
          </a:xfrm>
          <a:prstGeom prst="ellipse">
            <a:avLst/>
          </a:prstGeom>
          <a:solidFill>
            <a:srgbClr val="1379B8"/>
          </a:solidFill>
          <a:ln w="12700">
            <a:solidFill>
              <a:srgbClr val="137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19672" y="2880360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59752" y="280720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42033"/>
                </a:solidFill>
              </a:rPr>
              <a:t>SRE walkthrough and failure drills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46520" y="3557016"/>
            <a:ext cx="502920" cy="502920"/>
          </a:xfrm>
          <a:prstGeom prst="ellipse">
            <a:avLst/>
          </a:prstGeom>
          <a:solidFill>
            <a:srgbClr val="1379B8"/>
          </a:solidFill>
          <a:ln w="12700">
            <a:solidFill>
              <a:srgbClr val="137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19672" y="3721608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159752" y="3648456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142033"/>
                </a:solidFill>
              </a:rPr>
              <a:t>CAB evidence review and sign-off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46520" y="4398264"/>
            <a:ext cx="502920" cy="502920"/>
          </a:xfrm>
          <a:prstGeom prst="ellipse">
            <a:avLst/>
          </a:prstGeom>
          <a:solidFill>
            <a:srgbClr val="267A57"/>
          </a:solidFill>
          <a:ln w="12700">
            <a:solidFill>
              <a:srgbClr val="267A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19672" y="456285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59752" y="448970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42033"/>
                </a:solidFill>
              </a:rPr>
              <a:t>Controlled production change window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85800" y="5376672"/>
            <a:ext cx="10469880" cy="658368"/>
          </a:xfrm>
          <a:prstGeom prst="roundRect">
            <a:avLst>
              <a:gd name="adj" fmla="val 8333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7552" y="5577840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Decision point: approve staged execution after soak-test evidence and operational handover are complete.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D0610-6F63-AFE5-4479-065D736C72B4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0" name="Shape 18">
            <a:extLst>
              <a:ext uri="{FF2B5EF4-FFF2-40B4-BE49-F238E27FC236}">
                <a16:creationId xmlns:a16="http://schemas.microsoft.com/office/drawing/2014/main" id="{F6A2FCFF-D8B2-936D-9E88-5EE14AE8A35E}"/>
              </a:ext>
            </a:extLst>
          </p:cNvPr>
          <p:cNvSpPr/>
          <p:nvPr/>
        </p:nvSpPr>
        <p:spPr>
          <a:xfrm>
            <a:off x="690372" y="1602339"/>
            <a:ext cx="10788266" cy="3271217"/>
          </a:xfrm>
          <a:prstGeom prst="roundRect">
            <a:avLst>
              <a:gd name="adj" fmla="val 8333"/>
            </a:avLst>
          </a:prstGeom>
          <a:solidFill>
            <a:srgbClr val="0B2A4A"/>
          </a:solidFill>
          <a:ln w="12700">
            <a:solidFill>
              <a:srgbClr val="0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14C7794-F395-BF32-E289-56EB598BEEA8}"/>
              </a:ext>
            </a:extLst>
          </p:cNvPr>
          <p:cNvSpPr/>
          <p:nvPr/>
        </p:nvSpPr>
        <p:spPr>
          <a:xfrm>
            <a:off x="617900" y="2163432"/>
            <a:ext cx="10883727" cy="1834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THANK YOU</a:t>
            </a:r>
            <a:br>
              <a:rPr lang="en-US" sz="3200" b="1" dirty="0">
                <a:solidFill>
                  <a:srgbClr val="FFFFFF"/>
                </a:solidFill>
              </a:rPr>
            </a:br>
            <a:br>
              <a:rPr lang="en-US" sz="1450" b="1" dirty="0">
                <a:solidFill>
                  <a:srgbClr val="FFFFFF"/>
                </a:solidFill>
              </a:rPr>
            </a:br>
            <a:r>
              <a:rPr lang="en-US" sz="1450" b="1" dirty="0">
                <a:solidFill>
                  <a:srgbClr val="FFFFFF"/>
                </a:solidFill>
              </a:rPr>
              <a:t>Any Questions ?</a:t>
            </a:r>
            <a:endParaRPr lang="en-US" sz="145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54F0309-86B8-98A9-6236-E1B543BC69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2748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610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836</Words>
  <Application>Microsoft Office PowerPoint</Application>
  <PresentationFormat>Widescreen</PresentationFormat>
  <Paragraphs>147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Client 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ARO Cluster Upgrade Automation</dc:title>
  <dc:subject>ARO Cluster Upgrade Automation</dc:subject>
  <dc:creator>Kispotta, Ravikant</dc:creator>
  <cp:lastModifiedBy>Kispotta, Ravikant</cp:lastModifiedBy>
  <cp:revision>4</cp:revision>
  <dcterms:created xsi:type="dcterms:W3CDTF">2026-09-11T13:48:16Z</dcterms:created>
  <dcterms:modified xsi:type="dcterms:W3CDTF">2026-09-11T13:57:06Z</dcterms:modified>
</cp:coreProperties>
</file>